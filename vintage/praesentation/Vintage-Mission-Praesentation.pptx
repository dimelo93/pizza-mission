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Deckungsbeitrag je beschafftem Stück</c:v>
                </c:pt>
              </c:strCache>
            </c:strRef>
          </c:tx>
          <c:spPr>
            <a:solidFill>
              <a:srgbClr val="A33D2E"/>
            </a:solidFill>
            <a:effectLst/>
          </c:spPr>
          <c:invertIfNegative val="0"/>
          <c:dLbls>
            <c:numFmt formatCode="#,##0&quot; CHF&quot;" sourceLinked="0"/>
            <c:txPr>
              <a:bodyPr/>
              <a:lstStyle/>
              <a:p>
                <a:pPr>
                  <a:defRPr b="0" i="0" strike="noStrike" sz="1200" u="none">
                    <a:solidFill>
                      <a:srgbClr val="6B655C"/>
                    </a:solidFill>
                    <a:latin typeface="Calibri"/>
                  </a:defRPr>
                </a:pPr>
              </a:p>
            </c:txPr>
            <c:showLegendKey val="0"/>
            <c:showVal val="1"/>
            <c:showCatName val="0"/>
            <c:showSerName val="0"/>
            <c:showPercent val="0"/>
            <c:showBubbleSize val="0"/>
            <c:showLeaderLines val="0"/>
          </c:dLbls>
          <c:dPt>
            <c:idx val="0"/>
            <c:invertIfNegative val="0"/>
            <c:bubble3D val="0"/>
            <c:spPr>
              <a:solidFill>
                <a:srgbClr val="A33D2E"/>
              </a:solidFill>
              <a:effectLst/>
            </c:spPr>
          </c:dPt>
          <c:dPt>
            <c:idx val="1"/>
            <c:invertIfNegative val="0"/>
            <c:bubble3D val="0"/>
            <c:spPr>
              <a:solidFill>
                <a:srgbClr val="A8761E"/>
              </a:solidFill>
              <a:effectLst/>
            </c:spPr>
          </c:dPt>
          <c:dPt>
            <c:idx val="2"/>
            <c:invertIfNegative val="0"/>
            <c:bubble3D val="0"/>
            <c:spPr>
              <a:solidFill>
                <a:srgbClr val="3F6B4A"/>
              </a:solidFill>
              <a:effectLst/>
            </c:spPr>
          </c:dPt>
          <c:dPt>
            <c:idx val="3"/>
            <c:invertIfNegative val="0"/>
            <c:bubble3D val="0"/>
            <c:spPr>
              <a:solidFill>
                <a:srgbClr val="3F6B4A"/>
              </a:solidFill>
              <a:effectLst/>
            </c:spPr>
          </c:dPt>
          <c:dPt>
            <c:idx val="4"/>
            <c:invertIfNegative val="0"/>
            <c:bubble3D val="0"/>
            <c:spPr>
              <a:solidFill>
                <a:srgbClr val="3F6B4A"/>
              </a:solidFill>
              <a:effectLst/>
            </c:spPr>
          </c:dPt>
          <c:dPt>
            <c:idx val="5"/>
            <c:invertIfNegative val="0"/>
            <c:bubble3D val="0"/>
            <c:spPr>
              <a:solidFill>
                <a:srgbClr val="3F6B4A"/>
              </a:solidFill>
              <a:effectLst/>
            </c:spPr>
          </c:dPt>
          <c:cat>
            <c:multiLvlStrRef>
              <c:f>Sheet1!$A$2:$A$7</c:f>
              <c:multiLvlStrCache>
                <c:ptCount val="6"/>
                <c:lvl>
                  <c:pt idx="0">
                    <c:v>30 %</c:v>
                  </c:pt>
                  <c:pt idx="1">
                    <c:v>40 %</c:v>
                  </c:pt>
                  <c:pt idx="2">
                    <c:v>50 %</c:v>
                  </c:pt>
                  <c:pt idx="3">
                    <c:v>60 %</c:v>
                  </c:pt>
                  <c:pt idx="4">
                    <c:v>70 %</c:v>
                  </c:pt>
                  <c:pt idx="5">
                    <c:v>80 %</c:v>
                  </c:pt>
                </c:lvl>
              </c:multiLvlStrCache>
            </c:multiLvlStrRef>
          </c:cat>
          <c:val>
            <c:numRef>
              <c:f>Sheet1!$B$2:$B$7</c:f>
              <c:numCache>
                <c:formatCode>General</c:formatCode>
                <c:ptCount val="6"/>
                <c:pt idx="0">
                  <c:v>-12</c:v>
                </c:pt>
                <c:pt idx="1">
                  <c:v>14</c:v>
                </c:pt>
                <c:pt idx="2">
                  <c:v>40</c:v>
                </c:pt>
                <c:pt idx="3">
                  <c:v>66</c:v>
                </c:pt>
                <c:pt idx="4">
                  <c:v>92</c:v>
                </c:pt>
                <c:pt idx="5">
                  <c:v>118</c:v>
                </c:pt>
              </c:numCache>
            </c:numRef>
          </c:val>
        </c:ser>
        <c:dLbls>
          <c:numFmt formatCode="#,##0&quot; CHF&quot;" sourceLinked="0"/>
          <c:txPr>
            <a:bodyPr/>
            <a:lstStyle/>
            <a:p>
              <a:pPr>
                <a:defRPr b="0" i="0" strike="noStrike" sz="1200" u="none">
                  <a:solidFill>
                    <a:srgbClr val="6B655C"/>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6B655C"/>
                </a:solidFill>
                <a:latin typeface="Calibri"/>
              </a:defRPr>
            </a:pPr>
            <a:endParaRPr lang="en-US"/>
          </a:p>
        </c:txPr>
        <c:crossAx val="2094734552"/>
        <c:crosses val="autoZero"/>
        <c:auto val="1"/>
        <c:lblAlgn val="ctr"/>
        <c:noMultiLvlLbl val="1"/>
      </c:catAx>
      <c:valAx>
        <c:axId val="2094734552"/>
        <c:scaling>
          <c:orientation val="minMax"/>
          <c:max val="140"/>
          <c:min val="-40"/>
        </c:scaling>
        <c:delete val="0"/>
        <c:axPos val="l"/>
        <c:majorGridlines>
          <c:spPr>
            <a:ln w="9525" cap="flat">
              <a:solidFill>
                <a:srgbClr val="E4DED3"/>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9A938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Rahmen setzen: Das ist kein Vorschlag zum Abnicken, sondern eine Rechnung und ein Terminplan. Am Ende brauche ich drei Zusagen. Dauer rund 25 Minuten.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Wichtig für die zwei: Die Reihenfolge ist kein Geschmack, sondern Kapital- und Risikologik. Kleider binden Geld, Uhren binden Haftung, Bänder binden am meisten Geld. Deshalb genau diese Reihenfolge.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nicht beschönigen. Die 900 sind echtes Geld, das weg sein kann. Aber es ist gedeckelt und befristet — das ist der Punkt, den beide hören müssen.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entscheidende Zeile ist «pro beschafftem Stück». Wer pro verkauftem Stück rechnet, kommt auf 170 Franken Marge und fühlt sich reich — die 15 unverkauften Stücke im Keller tauchen in der Rechnung nicht auf.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die wichtigste Folie. Die 50 Prozent sind kein komfortabler Plan, sondern knapp. Wer das versteht, versteht auch, warum die Einkaufskriterien so streng sind.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Folie ist die wichtigste für die Beziehung. Wenn ich sie weglasse und im Januar kommen 400 Franken raus, fühlen sich beide betrogen. Sage ich sie heute, ist das Ergebnis erwartungsgemäss.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Falls jemand fragt, warum wir überhaupt auf eine Plattform gehen, wenn wir doch eine eigene Seite bauen: weil zehn Stück auf Ricardo der Preis dafür sind, dass wir im Januar eine belastbare Antwort haben statt einer Vermutung.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Mattia direkt ansprechen: Deine drei Stunden sind so geschnitten, dass sie um zwei Uhr nachts am Handy erledigt werden können. Kein Termin, keine Übergabe, keine Blockade für die anderen.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Punkt, der Streit vermeidet: Arbeit und Kapital werden getrennt abgegolten. Niemand muss sich schlecht fühlen, weil er weniger Zeit hat, und niemand arbeitet für die anderen gratis.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Nicht Zeile für Zeile vorlesen. Nur zwei Dinge betonen: in Phase 0 und 1 wird kein Geld ausgegeben, und in Phase 4 wird nicht nachgekauft, egal wie gut es läuft.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Zustimmung hier aktiv einholen. Wenn beide die Regel heute mittragen, wird die Januarsitzung eine Ablesung statt einer Diskussion.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die unbequeme Folie. Kurz halten, aber die Solidarhaftung ausdrücklich sagen: Wenn ich einen Fehler mache, haftet ihr mit eurem Privatvermögen. Deshalb der Vertrag, und deshalb bei den Uhren Vorsicht.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Luan führt das Gespräch mit dem Händler. Die eine Frage, die er mitnimmt: Wer steht auf der Rechnung? Alles andere im Vertrag ist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Nur kurz. Der Punkt ist, dass Bänder nicht das kleine Nebenprojekt sind, für das man sie hält. Entscheiden wir erst nach dem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zeigen und beide einladen, es einmal zu öffnen. Wichtig: Daten liegen lokal auf dem Gerät, Austausch über die Backup-Datei — nicht gleichzeitig an denselben Zahlen arbeiten.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Nicht mit einer Frage enden, sondern mit den drei Zusagen und den Daten. Wenn heute jemand zögert, lieber jetzt klären als im Oktober.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917"/>
        </a:solidFill>
      </p:bgPr>
    </p:bg>
    <p:spTree>
      <p:nvGrpSpPr>
        <p:cNvPr id="1" name=""/>
        <p:cNvGrpSpPr/>
        <p:nvPr/>
      </p:nvGrpSpPr>
      <p:grpSpPr>
        <a:xfrm>
          <a:off x="0" y="0"/>
          <a:ext cx="0" cy="0"/>
          <a:chOff x="0" y="0"/>
          <a:chExt cx="0" cy="0"/>
        </a:xfrm>
      </p:grpSpPr>
      <p:sp>
        <p:nvSpPr>
          <p:cNvPr id="2" name="Shape 0"/>
          <p:cNvSpPr/>
          <p:nvPr/>
        </p:nvSpPr>
        <p:spPr>
          <a:xfrm>
            <a:off x="658368" y="923544"/>
            <a:ext cx="566928" cy="538582"/>
          </a:xfrm>
          <a:prstGeom prst="rect">
            <a:avLst/>
          </a:prstGeom>
          <a:solidFill>
            <a:srgbClr val="C2AD8C"/>
          </a:solidFill>
          <a:ln/>
        </p:spPr>
      </p:sp>
      <p:sp>
        <p:nvSpPr>
          <p:cNvPr id="3" name="Shape 1"/>
          <p:cNvSpPr/>
          <p:nvPr/>
        </p:nvSpPr>
        <p:spPr>
          <a:xfrm>
            <a:off x="658368" y="640080"/>
            <a:ext cx="566928" cy="566928"/>
          </a:xfrm>
          <a:prstGeom prst="ellipse">
            <a:avLst/>
          </a:prstGeom>
          <a:solidFill>
            <a:srgbClr val="C2AD8C"/>
          </a:solidFill>
          <a:ln/>
        </p:spPr>
      </p:sp>
      <p:sp>
        <p:nvSpPr>
          <p:cNvPr id="4" name="Text 2"/>
          <p:cNvSpPr/>
          <p:nvPr/>
        </p:nvSpPr>
        <p:spPr>
          <a:xfrm>
            <a:off x="640080" y="2286000"/>
            <a:ext cx="9144000" cy="274320"/>
          </a:xfrm>
          <a:prstGeom prst="rect">
            <a:avLst/>
          </a:prstGeom>
          <a:noFill/>
          <a:ln/>
        </p:spPr>
        <p:txBody>
          <a:bodyPr wrap="square" lIns="0" tIns="0" rIns="0" bIns="0" rtlCol="0" anchor="ctr"/>
          <a:lstStyle/>
          <a:p>
            <a:pPr indent="0" marL="0">
              <a:buNone/>
            </a:pPr>
            <a:r>
              <a:rPr lang="en-US" sz="1200" spc="300" kern="0" dirty="0">
                <a:solidFill>
                  <a:srgbClr val="A9A196"/>
                </a:solidFill>
                <a:latin typeface="Calibri" pitchFamily="34" charset="0"/>
                <a:ea typeface="Calibri" pitchFamily="34" charset="-122"/>
                <a:cs typeface="Calibri" pitchFamily="34" charset="-120"/>
              </a:rPr>
              <a:t>Für Luan und Mattia · 10. August 2026</a:t>
            </a:r>
            <a:endParaRPr lang="en-US" sz="1200" dirty="0"/>
          </a:p>
        </p:txBody>
      </p:sp>
      <p:sp>
        <p:nvSpPr>
          <p:cNvPr id="5" name="Text 3"/>
          <p:cNvSpPr/>
          <p:nvPr/>
        </p:nvSpPr>
        <p:spPr>
          <a:xfrm>
            <a:off x="603504" y="2697480"/>
            <a:ext cx="10058400" cy="1188720"/>
          </a:xfrm>
          <a:prstGeom prst="rect">
            <a:avLst/>
          </a:prstGeom>
          <a:noFill/>
          <a:ln/>
        </p:spPr>
        <p:txBody>
          <a:bodyPr wrap="square" lIns="0" tIns="0" rIns="0" bIns="0" rtlCol="0" anchor="ctr"/>
          <a:lstStyle/>
          <a:p>
            <a:pPr indent="0" marL="0">
              <a:buNone/>
            </a:pPr>
            <a:r>
              <a:rPr lang="en-US" sz="6600" dirty="0">
                <a:solidFill>
                  <a:srgbClr val="F0EBE2"/>
                </a:solidFill>
                <a:latin typeface="Cambria" pitchFamily="34" charset="0"/>
                <a:ea typeface="Cambria" pitchFamily="34" charset="-122"/>
                <a:cs typeface="Cambria" pitchFamily="34" charset="-120"/>
              </a:rPr>
              <a:t>Vintage Mission</a:t>
            </a:r>
            <a:endParaRPr lang="en-US" sz="6600" dirty="0"/>
          </a:p>
        </p:txBody>
      </p:sp>
      <p:sp>
        <p:nvSpPr>
          <p:cNvPr id="6" name="Text 4"/>
          <p:cNvSpPr/>
          <p:nvPr/>
        </p:nvSpPr>
        <p:spPr>
          <a:xfrm>
            <a:off x="640080" y="3977640"/>
            <a:ext cx="7863840" cy="457200"/>
          </a:xfrm>
          <a:prstGeom prst="rect">
            <a:avLst/>
          </a:prstGeom>
          <a:noFill/>
          <a:ln/>
        </p:spPr>
        <p:txBody>
          <a:bodyPr wrap="square" lIns="0" tIns="0" rIns="0" bIns="0" rtlCol="0" anchor="ctr"/>
          <a:lstStyle/>
          <a:p>
            <a:pPr indent="0" marL="0">
              <a:buNone/>
            </a:pPr>
            <a:r>
              <a:rPr lang="en-US" sz="1900" dirty="0">
                <a:solidFill>
                  <a:srgbClr val="A9A196"/>
                </a:solidFill>
                <a:latin typeface="Calibri" pitchFamily="34" charset="0"/>
                <a:ea typeface="Calibri" pitchFamily="34" charset="-122"/>
                <a:cs typeface="Calibri" pitchFamily="34" charset="-120"/>
              </a:rPr>
              <a:t>Was wir vorhaben, was es kostet und was ich von euch brauche.</a:t>
            </a:r>
            <a:endParaRPr lang="en-US" sz="1900" dirty="0"/>
          </a:p>
        </p:txBody>
      </p:sp>
      <p:sp>
        <p:nvSpPr>
          <p:cNvPr id="7" name="Shape 5"/>
          <p:cNvSpPr/>
          <p:nvPr/>
        </p:nvSpPr>
        <p:spPr>
          <a:xfrm>
            <a:off x="640080" y="4892040"/>
            <a:ext cx="3840480" cy="0"/>
          </a:xfrm>
          <a:prstGeom prst="line">
            <a:avLst/>
          </a:prstGeom>
          <a:noFill/>
          <a:ln w="12700">
            <a:solidFill>
              <a:srgbClr val="3A342C"/>
            </a:solidFill>
            <a:prstDash val="solid"/>
          </a:ln>
        </p:spPr>
      </p:sp>
      <p:sp>
        <p:nvSpPr>
          <p:cNvPr id="8" name="Text 6"/>
          <p:cNvSpPr/>
          <p:nvPr/>
        </p:nvSpPr>
        <p:spPr>
          <a:xfrm>
            <a:off x="640080" y="5120640"/>
            <a:ext cx="8229600" cy="365760"/>
          </a:xfrm>
          <a:prstGeom prst="rect">
            <a:avLst/>
          </a:prstGeom>
          <a:noFill/>
          <a:ln/>
        </p:spPr>
        <p:txBody>
          <a:bodyPr wrap="square" lIns="0" tIns="0" rIns="0" bIns="0" rtlCol="0" anchor="ctr"/>
          <a:lstStyle/>
          <a:p>
            <a:pPr indent="0" marL="0">
              <a:buNone/>
            </a:pPr>
            <a:r>
              <a:rPr lang="en-US" sz="1400" spc="100" kern="0" dirty="0">
                <a:solidFill>
                  <a:srgbClr val="C2AD8C"/>
                </a:solidFill>
                <a:latin typeface="Calibri" pitchFamily="34" charset="0"/>
                <a:ea typeface="Calibri" pitchFamily="34" charset="-122"/>
                <a:cs typeface="Calibri" pitchFamily="34" charset="-120"/>
              </a:rPr>
              <a:t>Kleider zuerst.   Uhren zweitens.   Bänder zuletzt.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640080" y="475488"/>
            <a:ext cx="10881360" cy="274320"/>
          </a:xfrm>
          <a:prstGeom prst="rect">
            <a:avLst/>
          </a:prstGeom>
          <a:noFill/>
          <a:ln/>
        </p:spPr>
        <p:txBody>
          <a:bodyPr wrap="square" lIns="0" tIns="0" rIns="0" bIns="0" rtlCol="0" anchor="ctr"/>
          <a:lstStyle/>
          <a:p>
            <a:pPr indent="0" marL="0">
              <a:buNone/>
            </a:pPr>
            <a:r>
              <a:rPr lang="en-US" sz="1100" spc="300" kern="0" dirty="0">
                <a:solidFill>
                  <a:srgbClr val="9A938A"/>
                </a:solidFill>
                <a:latin typeface="Calibri" pitchFamily="34" charset="0"/>
                <a:ea typeface="Calibri" pitchFamily="34" charset="-122"/>
                <a:cs typeface="Calibri" pitchFamily="34" charset="-120"/>
              </a:rPr>
              <a:t>AUSGANGSLAGE</a:t>
            </a:r>
            <a:endParaRPr lang="en-US" sz="1100" dirty="0"/>
          </a:p>
        </p:txBody>
      </p:sp>
      <p:sp>
        <p:nvSpPr>
          <p:cNvPr id="3" name="Text 1"/>
          <p:cNvSpPr/>
          <p:nvPr/>
        </p:nvSpPr>
        <p:spPr>
          <a:xfrm>
            <a:off x="640080" y="777240"/>
            <a:ext cx="10881360" cy="868680"/>
          </a:xfrm>
          <a:prstGeom prst="rect">
            <a:avLst/>
          </a:prstGeom>
          <a:noFill/>
          <a:ln/>
        </p:spPr>
        <p:txBody>
          <a:bodyPr wrap="square" lIns="0" tIns="0" rIns="0" bIns="0" rtlCol="0" anchor="t"/>
          <a:lstStyle/>
          <a:p>
            <a:pPr indent="0" marL="0">
              <a:buNone/>
            </a:pPr>
            <a:r>
              <a:rPr lang="en-US" sz="3800" dirty="0">
                <a:solidFill>
                  <a:srgbClr val="1A1917"/>
                </a:solidFill>
                <a:latin typeface="Cambria" pitchFamily="34" charset="0"/>
                <a:ea typeface="Cambria" pitchFamily="34" charset="-122"/>
                <a:cs typeface="Cambria" pitchFamily="34" charset="-120"/>
              </a:rPr>
              <a:t>Der Foodtruck ist parkiert</a:t>
            </a:r>
            <a:endParaRPr lang="en-US" sz="3800" dirty="0"/>
          </a:p>
        </p:txBody>
      </p:sp>
      <p:sp>
        <p:nvSpPr>
          <p:cNvPr id="4" name="Text 2"/>
          <p:cNvSpPr/>
          <p:nvPr/>
        </p:nvSpPr>
        <p:spPr>
          <a:xfrm>
            <a:off x="640080" y="1664208"/>
            <a:ext cx="10058400" cy="640080"/>
          </a:xfrm>
          <a:prstGeom prst="rect">
            <a:avLst/>
          </a:prstGeom>
          <a:noFill/>
          <a:ln/>
        </p:spPr>
        <p:txBody>
          <a:bodyPr wrap="square" lIns="0" tIns="0" rIns="0" bIns="0" rtlCol="0" anchor="ctr"/>
          <a:lstStyle/>
          <a:p>
            <a:pPr indent="0" marL="0">
              <a:lnSpc>
                <a:spcPts val="2200"/>
              </a:lnSpc>
              <a:buNone/>
            </a:pPr>
            <a:r>
              <a:rPr lang="en-US" sz="1600" dirty="0">
                <a:solidFill>
                  <a:srgbClr val="6B655C"/>
                </a:solidFill>
                <a:latin typeface="Calibri" pitchFamily="34" charset="0"/>
                <a:ea typeface="Calibri" pitchFamily="34" charset="-122"/>
                <a:cs typeface="Calibri" pitchFamily="34" charset="-120"/>
              </a:rPr>
              <a:t>Ein Webshop für exklusives Vintage im oberen Segment — Designerstücke, selbst eingekauft und weiterverkauft. Drei Stränge, in dieser Reihenfolge und nicht gleichzeitig.</a:t>
            </a:r>
            <a:endParaRPr lang="en-US" sz="1600" dirty="0"/>
          </a:p>
        </p:txBody>
      </p:sp>
      <p:sp>
        <p:nvSpPr>
          <p:cNvPr id="5" name="Shape 3"/>
          <p:cNvSpPr/>
          <p:nvPr/>
        </p:nvSpPr>
        <p:spPr>
          <a:xfrm>
            <a:off x="640080" y="2606040"/>
            <a:ext cx="3429000" cy="3200400"/>
          </a:xfrm>
          <a:prstGeom prst="rect">
            <a:avLst/>
          </a:prstGeom>
          <a:solidFill>
            <a:srgbClr val="FFFFFF"/>
          </a:solidFill>
          <a:ln w="9525">
            <a:solidFill>
              <a:srgbClr val="E4DED3"/>
            </a:solidFill>
            <a:prstDash val="solid"/>
          </a:ln>
        </p:spPr>
      </p:sp>
      <p:sp>
        <p:nvSpPr>
          <p:cNvPr id="6" name="Text 4"/>
          <p:cNvSpPr/>
          <p:nvPr/>
        </p:nvSpPr>
        <p:spPr>
          <a:xfrm>
            <a:off x="932688" y="2843784"/>
            <a:ext cx="2843784" cy="219456"/>
          </a:xfrm>
          <a:prstGeom prst="rect">
            <a:avLst/>
          </a:prstGeom>
          <a:noFill/>
          <a:ln/>
        </p:spPr>
        <p:txBody>
          <a:bodyPr wrap="square" lIns="0" tIns="0" rIns="0" bIns="0" rtlCol="0" anchor="ctr"/>
          <a:lstStyle/>
          <a:p>
            <a:pPr indent="0" marL="0">
              <a:buNone/>
            </a:pPr>
            <a:r>
              <a:rPr lang="en-US" sz="1000" spc="200" kern="0" dirty="0">
                <a:solidFill>
                  <a:srgbClr val="C2AD8C"/>
                </a:solidFill>
                <a:latin typeface="Calibri" pitchFamily="34" charset="0"/>
                <a:ea typeface="Calibri" pitchFamily="34" charset="-122"/>
                <a:cs typeface="Calibri" pitchFamily="34" charset="-120"/>
              </a:rPr>
              <a:t>AB SOFORT</a:t>
            </a:r>
            <a:endParaRPr lang="en-US" sz="1000" dirty="0"/>
          </a:p>
        </p:txBody>
      </p:sp>
      <p:sp>
        <p:nvSpPr>
          <p:cNvPr id="7" name="Text 5"/>
          <p:cNvSpPr/>
          <p:nvPr/>
        </p:nvSpPr>
        <p:spPr>
          <a:xfrm>
            <a:off x="932688" y="3118104"/>
            <a:ext cx="2843784" cy="457200"/>
          </a:xfrm>
          <a:prstGeom prst="rect">
            <a:avLst/>
          </a:prstGeom>
          <a:noFill/>
          <a:ln/>
        </p:spPr>
        <p:txBody>
          <a:bodyPr wrap="square" lIns="0" tIns="0" rIns="0" bIns="0" rtlCol="0" anchor="ctr"/>
          <a:lstStyle/>
          <a:p>
            <a:pPr indent="0" marL="0">
              <a:buNone/>
            </a:pPr>
            <a:r>
              <a:rPr lang="en-US" sz="2600" dirty="0">
                <a:solidFill>
                  <a:srgbClr val="1A1917"/>
                </a:solidFill>
                <a:latin typeface="Cambria" pitchFamily="34" charset="0"/>
                <a:ea typeface="Cambria" pitchFamily="34" charset="-122"/>
                <a:cs typeface="Cambria" pitchFamily="34" charset="-120"/>
              </a:rPr>
              <a:t>Kleider</a:t>
            </a:r>
            <a:endParaRPr lang="en-US" sz="2600" dirty="0"/>
          </a:p>
        </p:txBody>
      </p:sp>
      <p:sp>
        <p:nvSpPr>
          <p:cNvPr id="8" name="Text 6"/>
          <p:cNvSpPr/>
          <p:nvPr/>
        </p:nvSpPr>
        <p:spPr>
          <a:xfrm>
            <a:off x="932688" y="3666744"/>
            <a:ext cx="2843784" cy="1920240"/>
          </a:xfrm>
          <a:prstGeom prst="rect">
            <a:avLst/>
          </a:prstGeom>
          <a:noFill/>
          <a:ln/>
        </p:spPr>
        <p:txBody>
          <a:bodyPr wrap="square" lIns="0" tIns="0" rIns="0" bIns="0" rtlCol="0" anchor="t"/>
          <a:lstStyle/>
          <a:p>
            <a:pPr indent="0" marL="0">
              <a:lnSpc>
                <a:spcPts val="1900"/>
              </a:lnSpc>
              <a:buNone/>
            </a:pPr>
            <a:r>
              <a:rPr lang="en-US" sz="1350" dirty="0">
                <a:solidFill>
                  <a:srgbClr val="6B655C"/>
                </a:solidFill>
                <a:latin typeface="Calibri" pitchFamily="34" charset="0"/>
                <a:ea typeface="Calibri" pitchFamily="34" charset="-122"/>
                <a:cs typeface="Calibri" pitchFamily="34" charset="-120"/>
              </a:rPr>
              <a:t>Eigene Ware, eigenes Kapital. Das ist das Geschäft, das wir lernen müssen: einkaufen, bewerten, fotografieren, bepreisen. Alles davon überträgt sich später.</a:t>
            </a:r>
            <a:endParaRPr lang="en-US" sz="1350" dirty="0"/>
          </a:p>
        </p:txBody>
      </p:sp>
      <p:sp>
        <p:nvSpPr>
          <p:cNvPr id="9" name="Text 7"/>
          <p:cNvSpPr/>
          <p:nvPr/>
        </p:nvSpPr>
        <p:spPr>
          <a:xfrm>
            <a:off x="3383280" y="2697480"/>
            <a:ext cx="457200" cy="457200"/>
          </a:xfrm>
          <a:prstGeom prst="rect">
            <a:avLst/>
          </a:prstGeom>
          <a:noFill/>
          <a:ln/>
        </p:spPr>
        <p:txBody>
          <a:bodyPr wrap="square" lIns="0" tIns="0" rIns="0" bIns="0" rtlCol="0" anchor="ctr"/>
          <a:lstStyle/>
          <a:p>
            <a:pPr algn="r" indent="0" marL="0">
              <a:buNone/>
            </a:pPr>
            <a:r>
              <a:rPr lang="en-US" sz="3000" dirty="0">
                <a:solidFill>
                  <a:srgbClr val="E4DED3"/>
                </a:solidFill>
                <a:latin typeface="Cambria" pitchFamily="34" charset="0"/>
                <a:ea typeface="Cambria" pitchFamily="34" charset="-122"/>
                <a:cs typeface="Cambria" pitchFamily="34" charset="-120"/>
              </a:rPr>
              <a:t>1</a:t>
            </a:r>
            <a:endParaRPr lang="en-US" sz="3000" dirty="0"/>
          </a:p>
        </p:txBody>
      </p:sp>
      <p:sp>
        <p:nvSpPr>
          <p:cNvPr id="10" name="Shape 8"/>
          <p:cNvSpPr/>
          <p:nvPr/>
        </p:nvSpPr>
        <p:spPr>
          <a:xfrm>
            <a:off x="4343400" y="2606040"/>
            <a:ext cx="3429000" cy="3200400"/>
          </a:xfrm>
          <a:prstGeom prst="rect">
            <a:avLst/>
          </a:prstGeom>
          <a:solidFill>
            <a:srgbClr val="FFFFFF"/>
          </a:solidFill>
          <a:ln w="9525">
            <a:solidFill>
              <a:srgbClr val="E4DED3"/>
            </a:solidFill>
            <a:prstDash val="solid"/>
          </a:ln>
        </p:spPr>
      </p:sp>
      <p:sp>
        <p:nvSpPr>
          <p:cNvPr id="11" name="Text 9"/>
          <p:cNvSpPr/>
          <p:nvPr/>
        </p:nvSpPr>
        <p:spPr>
          <a:xfrm>
            <a:off x="4636008" y="2843784"/>
            <a:ext cx="2843784" cy="219456"/>
          </a:xfrm>
          <a:prstGeom prst="rect">
            <a:avLst/>
          </a:prstGeom>
          <a:noFill/>
          <a:ln/>
        </p:spPr>
        <p:txBody>
          <a:bodyPr wrap="square" lIns="0" tIns="0" rIns="0" bIns="0" rtlCol="0" anchor="ctr"/>
          <a:lstStyle/>
          <a:p>
            <a:pPr indent="0" marL="0">
              <a:buNone/>
            </a:pPr>
            <a:r>
              <a:rPr lang="en-US" sz="1000" spc="200" kern="0" dirty="0">
                <a:solidFill>
                  <a:srgbClr val="C2AD8C"/>
                </a:solidFill>
                <a:latin typeface="Calibri" pitchFamily="34" charset="0"/>
                <a:ea typeface="Calibri" pitchFamily="34" charset="-122"/>
                <a:cs typeface="Calibri" pitchFamily="34" charset="-120"/>
              </a:rPr>
              <a:t>AB NOVEMBER</a:t>
            </a:r>
            <a:endParaRPr lang="en-US" sz="1000" dirty="0"/>
          </a:p>
        </p:txBody>
      </p:sp>
      <p:sp>
        <p:nvSpPr>
          <p:cNvPr id="12" name="Text 10"/>
          <p:cNvSpPr/>
          <p:nvPr/>
        </p:nvSpPr>
        <p:spPr>
          <a:xfrm>
            <a:off x="4636008" y="3118104"/>
            <a:ext cx="2843784" cy="457200"/>
          </a:xfrm>
          <a:prstGeom prst="rect">
            <a:avLst/>
          </a:prstGeom>
          <a:noFill/>
          <a:ln/>
        </p:spPr>
        <p:txBody>
          <a:bodyPr wrap="square" lIns="0" tIns="0" rIns="0" bIns="0" rtlCol="0" anchor="ctr"/>
          <a:lstStyle/>
          <a:p>
            <a:pPr indent="0" marL="0">
              <a:buNone/>
            </a:pPr>
            <a:r>
              <a:rPr lang="en-US" sz="2600" dirty="0">
                <a:solidFill>
                  <a:srgbClr val="1A1917"/>
                </a:solidFill>
                <a:latin typeface="Cambria" pitchFamily="34" charset="0"/>
                <a:ea typeface="Cambria" pitchFamily="34" charset="-122"/>
                <a:cs typeface="Cambria" pitchFamily="34" charset="-120"/>
              </a:rPr>
              <a:t>Uhren</a:t>
            </a:r>
            <a:endParaRPr lang="en-US" sz="2600" dirty="0"/>
          </a:p>
        </p:txBody>
      </p:sp>
      <p:sp>
        <p:nvSpPr>
          <p:cNvPr id="13" name="Text 11"/>
          <p:cNvSpPr/>
          <p:nvPr/>
        </p:nvSpPr>
        <p:spPr>
          <a:xfrm>
            <a:off x="4636008" y="3666744"/>
            <a:ext cx="2843784" cy="1920240"/>
          </a:xfrm>
          <a:prstGeom prst="rect">
            <a:avLst/>
          </a:prstGeom>
          <a:noFill/>
          <a:ln/>
        </p:spPr>
        <p:txBody>
          <a:bodyPr wrap="square" lIns="0" tIns="0" rIns="0" bIns="0" rtlCol="0" anchor="t"/>
          <a:lstStyle/>
          <a:p>
            <a:pPr indent="0" marL="0">
              <a:lnSpc>
                <a:spcPts val="1900"/>
              </a:lnSpc>
              <a:buNone/>
            </a:pPr>
            <a:r>
              <a:rPr lang="en-US" sz="1350" dirty="0">
                <a:solidFill>
                  <a:srgbClr val="6B655C"/>
                </a:solidFill>
                <a:latin typeface="Calibri" pitchFamily="34" charset="0"/>
                <a:ea typeface="Calibri" pitchFamily="34" charset="-122"/>
                <a:cs typeface="Calibri" pitchFamily="34" charset="-120"/>
              </a:rPr>
              <a:t>Über Jans Händlerkollegen, gegen Provision, ohne eigenen Wareneinkauf. Kein Kapital gebunden — dafür ein Haftungsthema, das sauber geregelt sein muss.</a:t>
            </a:r>
            <a:endParaRPr lang="en-US" sz="1350" dirty="0"/>
          </a:p>
        </p:txBody>
      </p:sp>
      <p:sp>
        <p:nvSpPr>
          <p:cNvPr id="14" name="Text 12"/>
          <p:cNvSpPr/>
          <p:nvPr/>
        </p:nvSpPr>
        <p:spPr>
          <a:xfrm>
            <a:off x="7086600" y="2697480"/>
            <a:ext cx="457200" cy="457200"/>
          </a:xfrm>
          <a:prstGeom prst="rect">
            <a:avLst/>
          </a:prstGeom>
          <a:noFill/>
          <a:ln/>
        </p:spPr>
        <p:txBody>
          <a:bodyPr wrap="square" lIns="0" tIns="0" rIns="0" bIns="0" rtlCol="0" anchor="ctr"/>
          <a:lstStyle/>
          <a:p>
            <a:pPr algn="r" indent="0" marL="0">
              <a:buNone/>
            </a:pPr>
            <a:r>
              <a:rPr lang="en-US" sz="3000" dirty="0">
                <a:solidFill>
                  <a:srgbClr val="E4DED3"/>
                </a:solidFill>
                <a:latin typeface="Cambria" pitchFamily="34" charset="0"/>
                <a:ea typeface="Cambria" pitchFamily="34" charset="-122"/>
                <a:cs typeface="Cambria" pitchFamily="34" charset="-120"/>
              </a:rPr>
              <a:t>2</a:t>
            </a:r>
            <a:endParaRPr lang="en-US" sz="3000" dirty="0"/>
          </a:p>
        </p:txBody>
      </p:sp>
      <p:sp>
        <p:nvSpPr>
          <p:cNvPr id="15" name="Shape 13"/>
          <p:cNvSpPr/>
          <p:nvPr/>
        </p:nvSpPr>
        <p:spPr>
          <a:xfrm>
            <a:off x="8046720" y="2606040"/>
            <a:ext cx="3429000" cy="3200400"/>
          </a:xfrm>
          <a:prstGeom prst="rect">
            <a:avLst/>
          </a:prstGeom>
          <a:solidFill>
            <a:srgbClr val="FFFFFF"/>
          </a:solidFill>
          <a:ln w="9525">
            <a:solidFill>
              <a:srgbClr val="E4DED3"/>
            </a:solidFill>
            <a:prstDash val="solid"/>
          </a:ln>
        </p:spPr>
      </p:sp>
      <p:sp>
        <p:nvSpPr>
          <p:cNvPr id="16" name="Text 14"/>
          <p:cNvSpPr/>
          <p:nvPr/>
        </p:nvSpPr>
        <p:spPr>
          <a:xfrm>
            <a:off x="8339328" y="2843784"/>
            <a:ext cx="2843784" cy="219456"/>
          </a:xfrm>
          <a:prstGeom prst="rect">
            <a:avLst/>
          </a:prstGeom>
          <a:noFill/>
          <a:ln/>
        </p:spPr>
        <p:txBody>
          <a:bodyPr wrap="square" lIns="0" tIns="0" rIns="0" bIns="0" rtlCol="0" anchor="ctr"/>
          <a:lstStyle/>
          <a:p>
            <a:pPr indent="0" marL="0">
              <a:buNone/>
            </a:pPr>
            <a:r>
              <a:rPr lang="en-US" sz="1000" spc="200" kern="0" dirty="0">
                <a:solidFill>
                  <a:srgbClr val="C2AD8C"/>
                </a:solidFill>
                <a:latin typeface="Calibri" pitchFamily="34" charset="0"/>
                <a:ea typeface="Calibri" pitchFamily="34" charset="-122"/>
                <a:cs typeface="Calibri" pitchFamily="34" charset="-120"/>
              </a:rPr>
              <a:t>AB FRÜHJAHR 2027</a:t>
            </a:r>
            <a:endParaRPr lang="en-US" sz="1000" dirty="0"/>
          </a:p>
        </p:txBody>
      </p:sp>
      <p:sp>
        <p:nvSpPr>
          <p:cNvPr id="17" name="Text 15"/>
          <p:cNvSpPr/>
          <p:nvPr/>
        </p:nvSpPr>
        <p:spPr>
          <a:xfrm>
            <a:off x="8339328" y="3118104"/>
            <a:ext cx="2843784" cy="457200"/>
          </a:xfrm>
          <a:prstGeom prst="rect">
            <a:avLst/>
          </a:prstGeom>
          <a:noFill/>
          <a:ln/>
        </p:spPr>
        <p:txBody>
          <a:bodyPr wrap="square" lIns="0" tIns="0" rIns="0" bIns="0" rtlCol="0" anchor="ctr"/>
          <a:lstStyle/>
          <a:p>
            <a:pPr indent="0" marL="0">
              <a:buNone/>
            </a:pPr>
            <a:r>
              <a:rPr lang="en-US" sz="2600" dirty="0">
                <a:solidFill>
                  <a:srgbClr val="1A1917"/>
                </a:solidFill>
                <a:latin typeface="Cambria" pitchFamily="34" charset="0"/>
                <a:ea typeface="Cambria" pitchFamily="34" charset="-122"/>
                <a:cs typeface="Cambria" pitchFamily="34" charset="-120"/>
              </a:rPr>
              <a:t>Bänder</a:t>
            </a:r>
            <a:endParaRPr lang="en-US" sz="2600" dirty="0"/>
          </a:p>
        </p:txBody>
      </p:sp>
      <p:sp>
        <p:nvSpPr>
          <p:cNvPr id="18" name="Text 16"/>
          <p:cNvSpPr/>
          <p:nvPr/>
        </p:nvSpPr>
        <p:spPr>
          <a:xfrm>
            <a:off x="8339328" y="3666744"/>
            <a:ext cx="2843784" cy="1920240"/>
          </a:xfrm>
          <a:prstGeom prst="rect">
            <a:avLst/>
          </a:prstGeom>
          <a:noFill/>
          <a:ln/>
        </p:spPr>
        <p:txBody>
          <a:bodyPr wrap="square" lIns="0" tIns="0" rIns="0" bIns="0" rtlCol="0" anchor="t"/>
          <a:lstStyle/>
          <a:p>
            <a:pPr indent="0" marL="0">
              <a:lnSpc>
                <a:spcPts val="1900"/>
              </a:lnSpc>
              <a:buNone/>
            </a:pPr>
            <a:r>
              <a:rPr lang="en-US" sz="1350" dirty="0">
                <a:solidFill>
                  <a:srgbClr val="6B655C"/>
                </a:solidFill>
                <a:latin typeface="Calibri" pitchFamily="34" charset="0"/>
                <a:ea typeface="Calibri" pitchFamily="34" charset="-122"/>
                <a:cs typeface="Calibri" pitchFamily="34" charset="-120"/>
              </a:rPr>
              <a:t>Eigene Marke, extern produziert. Kein Handel mit Fremdmarken-Bändern. Vier Artikel zum Start, nicht zwanzig.</a:t>
            </a:r>
            <a:endParaRPr lang="en-US" sz="1350" dirty="0"/>
          </a:p>
        </p:txBody>
      </p:sp>
      <p:sp>
        <p:nvSpPr>
          <p:cNvPr id="19" name="Text 17"/>
          <p:cNvSpPr/>
          <p:nvPr/>
        </p:nvSpPr>
        <p:spPr>
          <a:xfrm>
            <a:off x="10789920" y="2697480"/>
            <a:ext cx="457200" cy="457200"/>
          </a:xfrm>
          <a:prstGeom prst="rect">
            <a:avLst/>
          </a:prstGeom>
          <a:noFill/>
          <a:ln/>
        </p:spPr>
        <p:txBody>
          <a:bodyPr wrap="square" lIns="0" tIns="0" rIns="0" bIns="0" rtlCol="0" anchor="ctr"/>
          <a:lstStyle/>
          <a:p>
            <a:pPr algn="r" indent="0" marL="0">
              <a:buNone/>
            </a:pPr>
            <a:r>
              <a:rPr lang="en-US" sz="3000" dirty="0">
                <a:solidFill>
                  <a:srgbClr val="E4DED3"/>
                </a:solidFill>
                <a:latin typeface="Cambria" pitchFamily="34" charset="0"/>
                <a:ea typeface="Cambria" pitchFamily="34" charset="-122"/>
                <a:cs typeface="Cambria" pitchFamily="34" charset="-120"/>
              </a:rPr>
              <a:t>3</a:t>
            </a:r>
            <a:endParaRPr lang="en-US" sz="3000" dirty="0"/>
          </a:p>
        </p:txBody>
      </p:sp>
      <p:sp>
        <p:nvSpPr>
          <p:cNvPr id="20" name="Text 18"/>
          <p:cNvSpPr/>
          <p:nvPr/>
        </p:nvSpPr>
        <p:spPr>
          <a:xfrm>
            <a:off x="640080" y="6035040"/>
            <a:ext cx="10881360" cy="320040"/>
          </a:xfrm>
          <a:prstGeom prst="rect">
            <a:avLst/>
          </a:prstGeom>
          <a:noFill/>
          <a:ln/>
        </p:spPr>
        <p:txBody>
          <a:bodyPr wrap="square" lIns="0" tIns="0" rIns="0" bIns="0" rtlCol="0" anchor="ctr"/>
          <a:lstStyle/>
          <a:p>
            <a:pPr indent="0" marL="0">
              <a:buNone/>
            </a:pPr>
            <a:r>
              <a:rPr lang="en-US" sz="1300" i="1" dirty="0">
                <a:solidFill>
                  <a:srgbClr val="9A938A"/>
                </a:solidFill>
                <a:latin typeface="Calibri" pitchFamily="34" charset="0"/>
                <a:ea typeface="Calibri" pitchFamily="34" charset="-122"/>
                <a:cs typeface="Calibri" pitchFamily="34" charset="-120"/>
              </a:rPr>
              <a:t>«Zara, Mykonos, clean» beschreibt das Website-Design — nicht das Sortiment.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640080" y="475488"/>
            <a:ext cx="10881360" cy="274320"/>
          </a:xfrm>
          <a:prstGeom prst="rect">
            <a:avLst/>
          </a:prstGeom>
          <a:noFill/>
          <a:ln/>
        </p:spPr>
        <p:txBody>
          <a:bodyPr wrap="square" lIns="0" tIns="0" rIns="0" bIns="0" rtlCol="0" anchor="ctr"/>
          <a:lstStyle/>
          <a:p>
            <a:pPr indent="0" marL="0">
              <a:buNone/>
            </a:pPr>
            <a:r>
              <a:rPr lang="en-US" sz="1100" spc="300" kern="0" dirty="0">
                <a:solidFill>
                  <a:srgbClr val="9A938A"/>
                </a:solidFill>
                <a:latin typeface="Calibri" pitchFamily="34" charset="0"/>
                <a:ea typeface="Calibri" pitchFamily="34" charset="-122"/>
                <a:cs typeface="Calibri" pitchFamily="34" charset="-120"/>
              </a:rPr>
              <a:t>DER EINSATZ</a:t>
            </a:r>
            <a:endParaRPr lang="en-US" sz="1100" dirty="0"/>
          </a:p>
        </p:txBody>
      </p:sp>
      <p:sp>
        <p:nvSpPr>
          <p:cNvPr id="3" name="Text 1"/>
          <p:cNvSpPr/>
          <p:nvPr/>
        </p:nvSpPr>
        <p:spPr>
          <a:xfrm>
            <a:off x="640080" y="777240"/>
            <a:ext cx="10881360" cy="868680"/>
          </a:xfrm>
          <a:prstGeom prst="rect">
            <a:avLst/>
          </a:prstGeom>
          <a:noFill/>
          <a:ln/>
        </p:spPr>
        <p:txBody>
          <a:bodyPr wrap="square" lIns="0" tIns="0" rIns="0" bIns="0" rtlCol="0" anchor="t"/>
          <a:lstStyle/>
          <a:p>
            <a:pPr indent="0" marL="0">
              <a:buNone/>
            </a:pPr>
            <a:r>
              <a:rPr lang="en-US" sz="3800" dirty="0">
                <a:solidFill>
                  <a:srgbClr val="1A1917"/>
                </a:solidFill>
                <a:latin typeface="Cambria" pitchFamily="34" charset="0"/>
                <a:ea typeface="Cambria" pitchFamily="34" charset="-122"/>
                <a:cs typeface="Cambria" pitchFamily="34" charset="-120"/>
              </a:rPr>
              <a:t>Was es euch kostet</a:t>
            </a:r>
            <a:endParaRPr lang="en-US" sz="3800" dirty="0"/>
          </a:p>
        </p:txBody>
      </p:sp>
      <p:sp>
        <p:nvSpPr>
          <p:cNvPr id="4" name="Text 2"/>
          <p:cNvSpPr/>
          <p:nvPr/>
        </p:nvSpPr>
        <p:spPr>
          <a:xfrm>
            <a:off x="640080" y="1664208"/>
            <a:ext cx="10058400" cy="640080"/>
          </a:xfrm>
          <a:prstGeom prst="rect">
            <a:avLst/>
          </a:prstGeom>
          <a:noFill/>
          <a:ln/>
        </p:spPr>
        <p:txBody>
          <a:bodyPr wrap="square" lIns="0" tIns="0" rIns="0" bIns="0" rtlCol="0" anchor="ctr"/>
          <a:lstStyle/>
          <a:p>
            <a:pPr indent="0" marL="0">
              <a:lnSpc>
                <a:spcPts val="2200"/>
              </a:lnSpc>
              <a:buNone/>
            </a:pPr>
            <a:r>
              <a:rPr lang="en-US" sz="1600" dirty="0">
                <a:solidFill>
                  <a:srgbClr val="6B655C"/>
                </a:solidFill>
                <a:latin typeface="Calibri" pitchFamily="34" charset="0"/>
                <a:ea typeface="Calibri" pitchFamily="34" charset="-122"/>
                <a:cs typeface="Calibri" pitchFamily="34" charset="-120"/>
              </a:rPr>
              <a:t>Kein Vertrag über Jahre, kein Kredit, keine Kündigung. Ein befristeter Versuch mit einem festen Enddatum.</a:t>
            </a:r>
            <a:endParaRPr lang="en-US" sz="1600" dirty="0"/>
          </a:p>
        </p:txBody>
      </p:sp>
      <p:sp>
        <p:nvSpPr>
          <p:cNvPr id="5" name="Shape 3"/>
          <p:cNvSpPr/>
          <p:nvPr/>
        </p:nvSpPr>
        <p:spPr>
          <a:xfrm>
            <a:off x="640080" y="2514600"/>
            <a:ext cx="2606040" cy="1828800"/>
          </a:xfrm>
          <a:prstGeom prst="rect">
            <a:avLst/>
          </a:prstGeom>
          <a:solidFill>
            <a:srgbClr val="FFFFFF"/>
          </a:solidFill>
          <a:ln w="9525">
            <a:solidFill>
              <a:srgbClr val="E4DED3"/>
            </a:solidFill>
            <a:prstDash val="solid"/>
          </a:ln>
        </p:spPr>
      </p:sp>
      <p:sp>
        <p:nvSpPr>
          <p:cNvPr id="6" name="Text 4"/>
          <p:cNvSpPr/>
          <p:nvPr/>
        </p:nvSpPr>
        <p:spPr>
          <a:xfrm>
            <a:off x="914400" y="2770632"/>
            <a:ext cx="2057400" cy="237744"/>
          </a:xfrm>
          <a:prstGeom prst="rect">
            <a:avLst/>
          </a:prstGeom>
          <a:noFill/>
          <a:ln/>
        </p:spPr>
        <p:txBody>
          <a:bodyPr wrap="square" lIns="0" tIns="0" rIns="0" bIns="0" rtlCol="0" anchor="ctr"/>
          <a:lstStyle/>
          <a:p>
            <a:pPr indent="0" marL="0">
              <a:buNone/>
            </a:pPr>
            <a:r>
              <a:rPr lang="en-US" sz="1000" spc="200" kern="0" dirty="0">
                <a:solidFill>
                  <a:srgbClr val="9A938A"/>
                </a:solidFill>
                <a:latin typeface="Calibri" pitchFamily="34" charset="0"/>
                <a:ea typeface="Calibri" pitchFamily="34" charset="-122"/>
                <a:cs typeface="Calibri" pitchFamily="34" charset="-120"/>
              </a:rPr>
              <a:t>GELD, JE PERSON</a:t>
            </a:r>
            <a:endParaRPr lang="en-US" sz="1000" dirty="0"/>
          </a:p>
        </p:txBody>
      </p:sp>
      <p:sp>
        <p:nvSpPr>
          <p:cNvPr id="7" name="Text 5"/>
          <p:cNvSpPr/>
          <p:nvPr/>
        </p:nvSpPr>
        <p:spPr>
          <a:xfrm>
            <a:off x="914400" y="3044952"/>
            <a:ext cx="2057400" cy="548640"/>
          </a:xfrm>
          <a:prstGeom prst="rect">
            <a:avLst/>
          </a:prstGeom>
          <a:noFill/>
          <a:ln/>
        </p:spPr>
        <p:txBody>
          <a:bodyPr wrap="square" lIns="0" tIns="0" rIns="0" bIns="0" rtlCol="0" anchor="ctr"/>
          <a:lstStyle/>
          <a:p>
            <a:pPr indent="0" marL="0">
              <a:buNone/>
            </a:pPr>
            <a:r>
              <a:rPr lang="en-US" sz="3400" dirty="0">
                <a:solidFill>
                  <a:srgbClr val="1A1917"/>
                </a:solidFill>
                <a:latin typeface="Cambria" pitchFamily="34" charset="0"/>
                <a:ea typeface="Cambria" pitchFamily="34" charset="-122"/>
                <a:cs typeface="Cambria" pitchFamily="34" charset="-120"/>
              </a:rPr>
              <a:t>CHF 900</a:t>
            </a:r>
            <a:endParaRPr lang="en-US" sz="3400" dirty="0"/>
          </a:p>
        </p:txBody>
      </p:sp>
      <p:sp>
        <p:nvSpPr>
          <p:cNvPr id="8" name="Text 6"/>
          <p:cNvSpPr/>
          <p:nvPr/>
        </p:nvSpPr>
        <p:spPr>
          <a:xfrm>
            <a:off x="914400" y="3611880"/>
            <a:ext cx="2057400" cy="548640"/>
          </a:xfrm>
          <a:prstGeom prst="rect">
            <a:avLst/>
          </a:prstGeom>
          <a:noFill/>
          <a:ln/>
        </p:spPr>
        <p:txBody>
          <a:bodyPr wrap="square" lIns="0" tIns="0" rIns="0" bIns="0" rtlCol="0" anchor="t"/>
          <a:lstStyle/>
          <a:p>
            <a:pPr indent="0" marL="0">
              <a:lnSpc>
                <a:spcPts val="1500"/>
              </a:lnSpc>
              <a:buNone/>
            </a:pPr>
            <a:r>
              <a:rPr lang="en-US" sz="1200" dirty="0">
                <a:solidFill>
                  <a:srgbClr val="6B655C"/>
                </a:solidFill>
                <a:latin typeface="Calibri" pitchFamily="34" charset="0"/>
                <a:ea typeface="Calibri" pitchFamily="34" charset="-122"/>
                <a:cs typeface="Calibri" pitchFamily="34" charset="-120"/>
              </a:rPr>
              <a:t>einmalig, zusammen CHF 2'700</a:t>
            </a:r>
            <a:endParaRPr lang="en-US" sz="1200" dirty="0"/>
          </a:p>
        </p:txBody>
      </p:sp>
      <p:sp>
        <p:nvSpPr>
          <p:cNvPr id="9" name="Shape 7"/>
          <p:cNvSpPr/>
          <p:nvPr/>
        </p:nvSpPr>
        <p:spPr>
          <a:xfrm>
            <a:off x="3429000" y="2514600"/>
            <a:ext cx="2606040" cy="1828800"/>
          </a:xfrm>
          <a:prstGeom prst="rect">
            <a:avLst/>
          </a:prstGeom>
          <a:solidFill>
            <a:srgbClr val="FFFFFF"/>
          </a:solidFill>
          <a:ln w="9525">
            <a:solidFill>
              <a:srgbClr val="E4DED3"/>
            </a:solidFill>
            <a:prstDash val="solid"/>
          </a:ln>
        </p:spPr>
      </p:sp>
      <p:sp>
        <p:nvSpPr>
          <p:cNvPr id="10" name="Text 8"/>
          <p:cNvSpPr/>
          <p:nvPr/>
        </p:nvSpPr>
        <p:spPr>
          <a:xfrm>
            <a:off x="3703320" y="2770632"/>
            <a:ext cx="2057400" cy="237744"/>
          </a:xfrm>
          <a:prstGeom prst="rect">
            <a:avLst/>
          </a:prstGeom>
          <a:noFill/>
          <a:ln/>
        </p:spPr>
        <p:txBody>
          <a:bodyPr wrap="square" lIns="0" tIns="0" rIns="0" bIns="0" rtlCol="0" anchor="ctr"/>
          <a:lstStyle/>
          <a:p>
            <a:pPr indent="0" marL="0">
              <a:buNone/>
            </a:pPr>
            <a:r>
              <a:rPr lang="en-US" sz="1000" spc="200" kern="0" dirty="0">
                <a:solidFill>
                  <a:srgbClr val="9A938A"/>
                </a:solidFill>
                <a:latin typeface="Calibri" pitchFamily="34" charset="0"/>
                <a:ea typeface="Calibri" pitchFamily="34" charset="-122"/>
                <a:cs typeface="Calibri" pitchFamily="34" charset="-120"/>
              </a:rPr>
              <a:t>ZEIT PRO WOCHE</a:t>
            </a:r>
            <a:endParaRPr lang="en-US" sz="1000" dirty="0"/>
          </a:p>
        </p:txBody>
      </p:sp>
      <p:sp>
        <p:nvSpPr>
          <p:cNvPr id="11" name="Text 9"/>
          <p:cNvSpPr/>
          <p:nvPr/>
        </p:nvSpPr>
        <p:spPr>
          <a:xfrm>
            <a:off x="3703320" y="3044952"/>
            <a:ext cx="2057400" cy="548640"/>
          </a:xfrm>
          <a:prstGeom prst="rect">
            <a:avLst/>
          </a:prstGeom>
          <a:noFill/>
          <a:ln/>
        </p:spPr>
        <p:txBody>
          <a:bodyPr wrap="square" lIns="0" tIns="0" rIns="0" bIns="0" rtlCol="0" anchor="ctr"/>
          <a:lstStyle/>
          <a:p>
            <a:pPr indent="0" marL="0">
              <a:buNone/>
            </a:pPr>
            <a:r>
              <a:rPr lang="en-US" sz="3400" dirty="0">
                <a:solidFill>
                  <a:srgbClr val="1A1917"/>
                </a:solidFill>
                <a:latin typeface="Cambria" pitchFamily="34" charset="0"/>
                <a:ea typeface="Cambria" pitchFamily="34" charset="-122"/>
                <a:cs typeface="Cambria" pitchFamily="34" charset="-120"/>
              </a:rPr>
              <a:t>5 h / 3 h</a:t>
            </a:r>
            <a:endParaRPr lang="en-US" sz="3400" dirty="0"/>
          </a:p>
        </p:txBody>
      </p:sp>
      <p:sp>
        <p:nvSpPr>
          <p:cNvPr id="12" name="Text 10"/>
          <p:cNvSpPr/>
          <p:nvPr/>
        </p:nvSpPr>
        <p:spPr>
          <a:xfrm>
            <a:off x="3703320" y="3611880"/>
            <a:ext cx="2057400" cy="548640"/>
          </a:xfrm>
          <a:prstGeom prst="rect">
            <a:avLst/>
          </a:prstGeom>
          <a:noFill/>
          <a:ln/>
        </p:spPr>
        <p:txBody>
          <a:bodyPr wrap="square" lIns="0" tIns="0" rIns="0" bIns="0" rtlCol="0" anchor="t"/>
          <a:lstStyle/>
          <a:p>
            <a:pPr indent="0" marL="0">
              <a:lnSpc>
                <a:spcPts val="1500"/>
              </a:lnSpc>
              <a:buNone/>
            </a:pPr>
            <a:r>
              <a:rPr lang="en-US" sz="1200" dirty="0">
                <a:solidFill>
                  <a:srgbClr val="6B655C"/>
                </a:solidFill>
                <a:latin typeface="Calibri" pitchFamily="34" charset="0"/>
                <a:ea typeface="Calibri" pitchFamily="34" charset="-122"/>
                <a:cs typeface="Calibri" pitchFamily="34" charset="-120"/>
              </a:rPr>
              <a:t>Luan / Mattia · Jan 15 h</a:t>
            </a:r>
            <a:endParaRPr lang="en-US" sz="1200" dirty="0"/>
          </a:p>
        </p:txBody>
      </p:sp>
      <p:sp>
        <p:nvSpPr>
          <p:cNvPr id="13" name="Shape 11"/>
          <p:cNvSpPr/>
          <p:nvPr/>
        </p:nvSpPr>
        <p:spPr>
          <a:xfrm>
            <a:off x="6217920" y="2514600"/>
            <a:ext cx="2606040" cy="1828800"/>
          </a:xfrm>
          <a:prstGeom prst="rect">
            <a:avLst/>
          </a:prstGeom>
          <a:solidFill>
            <a:srgbClr val="FFFFFF"/>
          </a:solidFill>
          <a:ln w="9525">
            <a:solidFill>
              <a:srgbClr val="E4DED3"/>
            </a:solidFill>
            <a:prstDash val="solid"/>
          </a:ln>
        </p:spPr>
      </p:sp>
      <p:sp>
        <p:nvSpPr>
          <p:cNvPr id="14" name="Text 12"/>
          <p:cNvSpPr/>
          <p:nvPr/>
        </p:nvSpPr>
        <p:spPr>
          <a:xfrm>
            <a:off x="6492240" y="2770632"/>
            <a:ext cx="2057400" cy="237744"/>
          </a:xfrm>
          <a:prstGeom prst="rect">
            <a:avLst/>
          </a:prstGeom>
          <a:noFill/>
          <a:ln/>
        </p:spPr>
        <p:txBody>
          <a:bodyPr wrap="square" lIns="0" tIns="0" rIns="0" bIns="0" rtlCol="0" anchor="ctr"/>
          <a:lstStyle/>
          <a:p>
            <a:pPr indent="0" marL="0">
              <a:buNone/>
            </a:pPr>
            <a:r>
              <a:rPr lang="en-US" sz="1000" spc="200" kern="0" dirty="0">
                <a:solidFill>
                  <a:srgbClr val="9A938A"/>
                </a:solidFill>
                <a:latin typeface="Calibri" pitchFamily="34" charset="0"/>
                <a:ea typeface="Calibri" pitchFamily="34" charset="-122"/>
                <a:cs typeface="Calibri" pitchFamily="34" charset="-120"/>
              </a:rPr>
              <a:t>BIS ZUM ENTSCHEID</a:t>
            </a:r>
            <a:endParaRPr lang="en-US" sz="1000" dirty="0"/>
          </a:p>
        </p:txBody>
      </p:sp>
      <p:sp>
        <p:nvSpPr>
          <p:cNvPr id="15" name="Text 13"/>
          <p:cNvSpPr/>
          <p:nvPr/>
        </p:nvSpPr>
        <p:spPr>
          <a:xfrm>
            <a:off x="6492240" y="3044952"/>
            <a:ext cx="2057400" cy="548640"/>
          </a:xfrm>
          <a:prstGeom prst="rect">
            <a:avLst/>
          </a:prstGeom>
          <a:noFill/>
          <a:ln/>
        </p:spPr>
        <p:txBody>
          <a:bodyPr wrap="square" lIns="0" tIns="0" rIns="0" bIns="0" rtlCol="0" anchor="ctr"/>
          <a:lstStyle/>
          <a:p>
            <a:pPr indent="0" marL="0">
              <a:buNone/>
            </a:pPr>
            <a:r>
              <a:rPr lang="en-US" sz="3400" dirty="0">
                <a:solidFill>
                  <a:srgbClr val="1A1917"/>
                </a:solidFill>
                <a:latin typeface="Cambria" pitchFamily="34" charset="0"/>
                <a:ea typeface="Cambria" pitchFamily="34" charset="-122"/>
                <a:cs typeface="Cambria" pitchFamily="34" charset="-120"/>
              </a:rPr>
              <a:t>90 Tage</a:t>
            </a:r>
            <a:endParaRPr lang="en-US" sz="3400" dirty="0"/>
          </a:p>
        </p:txBody>
      </p:sp>
      <p:sp>
        <p:nvSpPr>
          <p:cNvPr id="16" name="Text 14"/>
          <p:cNvSpPr/>
          <p:nvPr/>
        </p:nvSpPr>
        <p:spPr>
          <a:xfrm>
            <a:off x="6492240" y="3611880"/>
            <a:ext cx="2057400" cy="548640"/>
          </a:xfrm>
          <a:prstGeom prst="rect">
            <a:avLst/>
          </a:prstGeom>
          <a:noFill/>
          <a:ln/>
        </p:spPr>
        <p:txBody>
          <a:bodyPr wrap="square" lIns="0" tIns="0" rIns="0" bIns="0" rtlCol="0" anchor="t"/>
          <a:lstStyle/>
          <a:p>
            <a:pPr indent="0" marL="0">
              <a:lnSpc>
                <a:spcPts val="1500"/>
              </a:lnSpc>
              <a:buNone/>
            </a:pPr>
            <a:r>
              <a:rPr lang="en-US" sz="1200" dirty="0">
                <a:solidFill>
                  <a:srgbClr val="6B655C"/>
                </a:solidFill>
                <a:latin typeface="Calibri" pitchFamily="34" charset="0"/>
                <a:ea typeface="Calibri" pitchFamily="34" charset="-122"/>
                <a:cs typeface="Calibri" pitchFamily="34" charset="-120"/>
              </a:rPr>
              <a:t>Messung ab 28.09., Gate 04.01.</a:t>
            </a:r>
            <a:endParaRPr lang="en-US" sz="1200" dirty="0"/>
          </a:p>
        </p:txBody>
      </p:sp>
      <p:sp>
        <p:nvSpPr>
          <p:cNvPr id="17" name="Shape 15"/>
          <p:cNvSpPr/>
          <p:nvPr/>
        </p:nvSpPr>
        <p:spPr>
          <a:xfrm>
            <a:off x="9006840" y="2514600"/>
            <a:ext cx="2514600" cy="1828800"/>
          </a:xfrm>
          <a:prstGeom prst="rect">
            <a:avLst/>
          </a:prstGeom>
          <a:solidFill>
            <a:srgbClr val="FFFFFF"/>
          </a:solidFill>
          <a:ln w="9525">
            <a:solidFill>
              <a:srgbClr val="E4DED3"/>
            </a:solidFill>
            <a:prstDash val="solid"/>
          </a:ln>
        </p:spPr>
      </p:sp>
      <p:sp>
        <p:nvSpPr>
          <p:cNvPr id="18" name="Text 16"/>
          <p:cNvSpPr/>
          <p:nvPr/>
        </p:nvSpPr>
        <p:spPr>
          <a:xfrm>
            <a:off x="9281160" y="2770632"/>
            <a:ext cx="1965960" cy="237744"/>
          </a:xfrm>
          <a:prstGeom prst="rect">
            <a:avLst/>
          </a:prstGeom>
          <a:noFill/>
          <a:ln/>
        </p:spPr>
        <p:txBody>
          <a:bodyPr wrap="square" lIns="0" tIns="0" rIns="0" bIns="0" rtlCol="0" anchor="ctr"/>
          <a:lstStyle/>
          <a:p>
            <a:pPr indent="0" marL="0">
              <a:buNone/>
            </a:pPr>
            <a:r>
              <a:rPr lang="en-US" sz="1000" spc="200" kern="0" dirty="0">
                <a:solidFill>
                  <a:srgbClr val="9A938A"/>
                </a:solidFill>
                <a:latin typeface="Calibri" pitchFamily="34" charset="0"/>
                <a:ea typeface="Calibri" pitchFamily="34" charset="-122"/>
                <a:cs typeface="Calibri" pitchFamily="34" charset="-120"/>
              </a:rPr>
              <a:t>SCHLIMMSTER FALL</a:t>
            </a:r>
            <a:endParaRPr lang="en-US" sz="1000" dirty="0"/>
          </a:p>
        </p:txBody>
      </p:sp>
      <p:sp>
        <p:nvSpPr>
          <p:cNvPr id="19" name="Text 17"/>
          <p:cNvSpPr/>
          <p:nvPr/>
        </p:nvSpPr>
        <p:spPr>
          <a:xfrm>
            <a:off x="9281160" y="3044952"/>
            <a:ext cx="1965960" cy="548640"/>
          </a:xfrm>
          <a:prstGeom prst="rect">
            <a:avLst/>
          </a:prstGeom>
          <a:noFill/>
          <a:ln/>
        </p:spPr>
        <p:txBody>
          <a:bodyPr wrap="square" lIns="0" tIns="0" rIns="0" bIns="0" rtlCol="0" anchor="ctr"/>
          <a:lstStyle/>
          <a:p>
            <a:pPr indent="0" marL="0">
              <a:buNone/>
            </a:pPr>
            <a:r>
              <a:rPr lang="en-US" sz="3400" dirty="0">
                <a:solidFill>
                  <a:srgbClr val="A33D2E"/>
                </a:solidFill>
                <a:latin typeface="Cambria" pitchFamily="34" charset="0"/>
                <a:ea typeface="Cambria" pitchFamily="34" charset="-122"/>
                <a:cs typeface="Cambria" pitchFamily="34" charset="-120"/>
              </a:rPr>
              <a:t>CHF 900</a:t>
            </a:r>
            <a:endParaRPr lang="en-US" sz="3400" dirty="0"/>
          </a:p>
        </p:txBody>
      </p:sp>
      <p:sp>
        <p:nvSpPr>
          <p:cNvPr id="20" name="Text 18"/>
          <p:cNvSpPr/>
          <p:nvPr/>
        </p:nvSpPr>
        <p:spPr>
          <a:xfrm>
            <a:off x="9281160" y="3611880"/>
            <a:ext cx="1965960" cy="548640"/>
          </a:xfrm>
          <a:prstGeom prst="rect">
            <a:avLst/>
          </a:prstGeom>
          <a:noFill/>
          <a:ln/>
        </p:spPr>
        <p:txBody>
          <a:bodyPr wrap="square" lIns="0" tIns="0" rIns="0" bIns="0" rtlCol="0" anchor="t"/>
          <a:lstStyle/>
          <a:p>
            <a:pPr indent="0" marL="0">
              <a:lnSpc>
                <a:spcPts val="1500"/>
              </a:lnSpc>
              <a:buNone/>
            </a:pPr>
            <a:r>
              <a:rPr lang="en-US" sz="1200" dirty="0">
                <a:solidFill>
                  <a:srgbClr val="6B655C"/>
                </a:solidFill>
                <a:latin typeface="Calibri" pitchFamily="34" charset="0"/>
                <a:ea typeface="Calibri" pitchFamily="34" charset="-122"/>
                <a:cs typeface="Calibri" pitchFamily="34" charset="-120"/>
              </a:rPr>
              <a:t>mehr kann keiner verlieren</a:t>
            </a:r>
            <a:endParaRPr lang="en-US" sz="1200" dirty="0"/>
          </a:p>
        </p:txBody>
      </p:sp>
      <p:sp>
        <p:nvSpPr>
          <p:cNvPr id="21" name="Shape 19"/>
          <p:cNvSpPr/>
          <p:nvPr/>
        </p:nvSpPr>
        <p:spPr>
          <a:xfrm>
            <a:off x="640080" y="4617720"/>
            <a:ext cx="10881360" cy="1691640"/>
          </a:xfrm>
          <a:prstGeom prst="rect">
            <a:avLst/>
          </a:prstGeom>
          <a:solidFill>
            <a:srgbClr val="FFFFFF"/>
          </a:solidFill>
          <a:ln w="9525">
            <a:solidFill>
              <a:srgbClr val="E4DED3"/>
            </a:solidFill>
            <a:prstDash val="solid"/>
          </a:ln>
        </p:spPr>
      </p:sp>
      <p:sp>
        <p:nvSpPr>
          <p:cNvPr id="22" name="Text 20"/>
          <p:cNvSpPr/>
          <p:nvPr/>
        </p:nvSpPr>
        <p:spPr>
          <a:xfrm>
            <a:off x="932688" y="4855464"/>
            <a:ext cx="10296144" cy="219456"/>
          </a:xfrm>
          <a:prstGeom prst="rect">
            <a:avLst/>
          </a:prstGeom>
          <a:noFill/>
          <a:ln/>
        </p:spPr>
        <p:txBody>
          <a:bodyPr wrap="square" lIns="0" tIns="0" rIns="0" bIns="0" rtlCol="0" anchor="ctr"/>
          <a:lstStyle/>
          <a:p>
            <a:pPr indent="0" marL="0">
              <a:buNone/>
            </a:pPr>
            <a:r>
              <a:rPr lang="en-US" sz="1000" spc="200" kern="0" dirty="0">
                <a:solidFill>
                  <a:srgbClr val="A33D2E"/>
                </a:solidFill>
                <a:latin typeface="Calibri" pitchFamily="34" charset="0"/>
                <a:ea typeface="Calibri" pitchFamily="34" charset="-122"/>
                <a:cs typeface="Calibri" pitchFamily="34" charset="-120"/>
              </a:rPr>
              <a:t>WICHTIG</a:t>
            </a:r>
            <a:endParaRPr lang="en-US" sz="1000" dirty="0"/>
          </a:p>
        </p:txBody>
      </p:sp>
      <p:sp>
        <p:nvSpPr>
          <p:cNvPr id="23" name="Text 21"/>
          <p:cNvSpPr/>
          <p:nvPr/>
        </p:nvSpPr>
        <p:spPr>
          <a:xfrm>
            <a:off x="932688" y="5129784"/>
            <a:ext cx="10296144" cy="411480"/>
          </a:xfrm>
          <a:prstGeom prst="rect">
            <a:avLst/>
          </a:prstGeom>
          <a:noFill/>
          <a:ln/>
        </p:spPr>
        <p:txBody>
          <a:bodyPr wrap="square" lIns="0" tIns="0" rIns="0" bIns="0" rtlCol="0" anchor="ctr"/>
          <a:lstStyle/>
          <a:p>
            <a:pPr indent="0" marL="0">
              <a:buNone/>
            </a:pPr>
            <a:r>
              <a:rPr lang="en-US" sz="2200" dirty="0">
                <a:solidFill>
                  <a:srgbClr val="1A1917"/>
                </a:solidFill>
                <a:latin typeface="Cambria" pitchFamily="34" charset="0"/>
                <a:ea typeface="Cambria" pitchFamily="34" charset="-122"/>
                <a:cs typeface="Cambria" pitchFamily="34" charset="-120"/>
              </a:rPr>
              <a:t>Jeder Fehlkauf kostet CHF 90, nicht CHF 6.</a:t>
            </a:r>
            <a:endParaRPr lang="en-US" sz="2200" dirty="0"/>
          </a:p>
        </p:txBody>
      </p:sp>
      <p:sp>
        <p:nvSpPr>
          <p:cNvPr id="24" name="Text 22"/>
          <p:cNvSpPr/>
          <p:nvPr/>
        </p:nvSpPr>
        <p:spPr>
          <a:xfrm>
            <a:off x="932688" y="5632704"/>
            <a:ext cx="10296144" cy="457200"/>
          </a:xfrm>
          <a:prstGeom prst="rect">
            <a:avLst/>
          </a:prstGeom>
          <a:noFill/>
          <a:ln/>
        </p:spPr>
        <p:txBody>
          <a:bodyPr wrap="square" lIns="0" tIns="0" rIns="0" bIns="0" rtlCol="0" anchor="t"/>
          <a:lstStyle/>
          <a:p>
            <a:pPr indent="0" marL="0">
              <a:lnSpc>
                <a:spcPts val="1900"/>
              </a:lnSpc>
              <a:buNone/>
            </a:pPr>
            <a:r>
              <a:rPr lang="en-US" sz="1350" dirty="0">
                <a:solidFill>
                  <a:srgbClr val="6B655C"/>
                </a:solidFill>
                <a:latin typeface="Calibri" pitchFamily="34" charset="0"/>
                <a:ea typeface="Calibri" pitchFamily="34" charset="-122"/>
                <a:cs typeface="Calibri" pitchFamily="34" charset="-120"/>
              </a:rPr>
              <a:t>Im oberen Segment ist der einzelne Griff daneben teuer. Zehn Fehlkäufe sind eine ganze Einlage. Deshalb kauft niemand nach Gefühl — es gibt eine schriftliche Kriterienliste, und die läuft am Handy mit.</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640080" y="475488"/>
            <a:ext cx="10881360" cy="274320"/>
          </a:xfrm>
          <a:prstGeom prst="rect">
            <a:avLst/>
          </a:prstGeom>
          <a:noFill/>
          <a:ln/>
        </p:spPr>
        <p:txBody>
          <a:bodyPr wrap="square" lIns="0" tIns="0" rIns="0" bIns="0" rtlCol="0" anchor="ctr"/>
          <a:lstStyle/>
          <a:p>
            <a:pPr indent="0" marL="0">
              <a:buNone/>
            </a:pPr>
            <a:r>
              <a:rPr lang="en-US" sz="1100" spc="300" kern="0" dirty="0">
                <a:solidFill>
                  <a:srgbClr val="9A938A"/>
                </a:solidFill>
                <a:latin typeface="Calibri" pitchFamily="34" charset="0"/>
                <a:ea typeface="Calibri" pitchFamily="34" charset="-122"/>
                <a:cs typeface="Calibri" pitchFamily="34" charset="-120"/>
              </a:rPr>
              <a:t>DAS MODELL</a:t>
            </a:r>
            <a:endParaRPr lang="en-US" sz="1100" dirty="0"/>
          </a:p>
        </p:txBody>
      </p:sp>
      <p:sp>
        <p:nvSpPr>
          <p:cNvPr id="3" name="Text 1"/>
          <p:cNvSpPr/>
          <p:nvPr/>
        </p:nvSpPr>
        <p:spPr>
          <a:xfrm>
            <a:off x="640080" y="777240"/>
            <a:ext cx="10881360" cy="868680"/>
          </a:xfrm>
          <a:prstGeom prst="rect">
            <a:avLst/>
          </a:prstGeom>
          <a:noFill/>
          <a:ln/>
        </p:spPr>
        <p:txBody>
          <a:bodyPr wrap="square" lIns="0" tIns="0" rIns="0" bIns="0" rtlCol="0" anchor="t"/>
          <a:lstStyle/>
          <a:p>
            <a:pPr indent="0" marL="0">
              <a:buNone/>
            </a:pPr>
            <a:r>
              <a:rPr lang="en-US" sz="3800" dirty="0">
                <a:solidFill>
                  <a:srgbClr val="1A1917"/>
                </a:solidFill>
                <a:latin typeface="Cambria" pitchFamily="34" charset="0"/>
                <a:ea typeface="Cambria" pitchFamily="34" charset="-122"/>
                <a:cs typeface="Cambria" pitchFamily="34" charset="-120"/>
              </a:rPr>
              <a:t>Was ein Stück verdient</a:t>
            </a:r>
            <a:endParaRPr lang="en-US" sz="3800" dirty="0"/>
          </a:p>
        </p:txBody>
      </p:sp>
      <p:sp>
        <p:nvSpPr>
          <p:cNvPr id="4" name="Text 2"/>
          <p:cNvSpPr/>
          <p:nvPr/>
        </p:nvSpPr>
        <p:spPr>
          <a:xfrm>
            <a:off x="640080" y="1664208"/>
            <a:ext cx="10058400" cy="640080"/>
          </a:xfrm>
          <a:prstGeom prst="rect">
            <a:avLst/>
          </a:prstGeom>
          <a:noFill/>
          <a:ln/>
        </p:spPr>
        <p:txBody>
          <a:bodyPr wrap="square" lIns="0" tIns="0" rIns="0" bIns="0" rtlCol="0" anchor="ctr"/>
          <a:lstStyle/>
          <a:p>
            <a:pPr indent="0" marL="0">
              <a:lnSpc>
                <a:spcPts val="2200"/>
              </a:lnSpc>
              <a:buNone/>
            </a:pPr>
            <a:r>
              <a:rPr lang="en-US" sz="1600" dirty="0">
                <a:solidFill>
                  <a:srgbClr val="6B655C"/>
                </a:solidFill>
                <a:latin typeface="Calibri" pitchFamily="34" charset="0"/>
                <a:ea typeface="Calibri" pitchFamily="34" charset="-122"/>
                <a:cs typeface="Calibri" pitchFamily="34" charset="-120"/>
              </a:rPr>
              <a:t>Gerechnet pro beschafftem Stück, nicht pro verkauftem. Nur so zählt jeder Ladenhüter mit — und genau daran scheitert die Rechnung sonst.</a:t>
            </a:r>
            <a:endParaRPr lang="en-US" sz="1600" dirty="0"/>
          </a:p>
        </p:txBody>
      </p:sp>
      <p:sp>
        <p:nvSpPr>
          <p:cNvPr id="5" name="Text 3"/>
          <p:cNvSpPr/>
          <p:nvPr/>
        </p:nvSpPr>
        <p:spPr>
          <a:xfrm>
            <a:off x="640080" y="2651760"/>
            <a:ext cx="2194560" cy="502920"/>
          </a:xfrm>
          <a:prstGeom prst="rect">
            <a:avLst/>
          </a:prstGeom>
          <a:noFill/>
          <a:ln/>
        </p:spPr>
        <p:txBody>
          <a:bodyPr wrap="square" lIns="0" tIns="0" rIns="0" bIns="0" rtlCol="0" anchor="ctr"/>
          <a:lstStyle/>
          <a:p>
            <a:pPr indent="0" marL="0">
              <a:buNone/>
            </a:pPr>
            <a:r>
              <a:rPr lang="en-US" sz="2700" dirty="0">
                <a:solidFill>
                  <a:srgbClr val="1A1917"/>
                </a:solidFill>
                <a:latin typeface="Cambria" pitchFamily="34" charset="0"/>
                <a:ea typeface="Cambria" pitchFamily="34" charset="-122"/>
                <a:cs typeface="Cambria" pitchFamily="34" charset="-120"/>
              </a:rPr>
              <a:t>CHF 280</a:t>
            </a:r>
            <a:endParaRPr lang="en-US" sz="2700" dirty="0"/>
          </a:p>
        </p:txBody>
      </p:sp>
      <p:sp>
        <p:nvSpPr>
          <p:cNvPr id="6" name="Text 4"/>
          <p:cNvSpPr/>
          <p:nvPr/>
        </p:nvSpPr>
        <p:spPr>
          <a:xfrm>
            <a:off x="640080" y="3200400"/>
            <a:ext cx="2194560" cy="274320"/>
          </a:xfrm>
          <a:prstGeom prst="rect">
            <a:avLst/>
          </a:prstGeom>
          <a:noFill/>
          <a:ln/>
        </p:spPr>
        <p:txBody>
          <a:bodyPr wrap="square" lIns="0" tIns="0" rIns="0" bIns="0" rtlCol="0" anchor="ctr"/>
          <a:lstStyle/>
          <a:p>
            <a:pPr indent="0" marL="0">
              <a:buNone/>
            </a:pPr>
            <a:r>
              <a:rPr lang="en-US" sz="1200" b="1" dirty="0">
                <a:solidFill>
                  <a:srgbClr val="1A1917"/>
                </a:solidFill>
                <a:latin typeface="Calibri" pitchFamily="34" charset="0"/>
                <a:ea typeface="Calibri" pitchFamily="34" charset="-122"/>
                <a:cs typeface="Calibri" pitchFamily="34" charset="-120"/>
              </a:rPr>
              <a:t>Verkaufspreis</a:t>
            </a:r>
            <a:endParaRPr lang="en-US" sz="1200" dirty="0"/>
          </a:p>
        </p:txBody>
      </p:sp>
      <p:sp>
        <p:nvSpPr>
          <p:cNvPr id="7" name="Text 5"/>
          <p:cNvSpPr/>
          <p:nvPr/>
        </p:nvSpPr>
        <p:spPr>
          <a:xfrm>
            <a:off x="640080" y="3493008"/>
            <a:ext cx="2194560" cy="640080"/>
          </a:xfrm>
          <a:prstGeom prst="rect">
            <a:avLst/>
          </a:prstGeom>
          <a:noFill/>
          <a:ln/>
        </p:spPr>
        <p:txBody>
          <a:bodyPr wrap="square" lIns="0" tIns="0" rIns="0" bIns="0" rtlCol="0" anchor="ctr"/>
          <a:lstStyle/>
          <a:p>
            <a:pPr indent="0" marL="0">
              <a:lnSpc>
                <a:spcPts val="1500"/>
              </a:lnSpc>
              <a:buNone/>
            </a:pPr>
            <a:r>
              <a:rPr lang="en-US" sz="1150" dirty="0">
                <a:solidFill>
                  <a:srgbClr val="6B655C"/>
                </a:solidFill>
                <a:latin typeface="Calibri" pitchFamily="34" charset="0"/>
                <a:ea typeface="Calibri" pitchFamily="34" charset="-122"/>
                <a:cs typeface="Calibri" pitchFamily="34" charset="-120"/>
              </a:rPr>
              <a:t>Durchschnitt im oberen Segment</a:t>
            </a:r>
            <a:endParaRPr lang="en-US" sz="1150" dirty="0"/>
          </a:p>
        </p:txBody>
      </p:sp>
      <p:sp>
        <p:nvSpPr>
          <p:cNvPr id="8" name="Text 6"/>
          <p:cNvSpPr/>
          <p:nvPr/>
        </p:nvSpPr>
        <p:spPr>
          <a:xfrm>
            <a:off x="3035808" y="2651760"/>
            <a:ext cx="2194560" cy="502920"/>
          </a:xfrm>
          <a:prstGeom prst="rect">
            <a:avLst/>
          </a:prstGeom>
          <a:noFill/>
          <a:ln/>
        </p:spPr>
        <p:txBody>
          <a:bodyPr wrap="square" lIns="0" tIns="0" rIns="0" bIns="0" rtlCol="0" anchor="ctr"/>
          <a:lstStyle/>
          <a:p>
            <a:pPr indent="0" marL="0">
              <a:buNone/>
            </a:pPr>
            <a:r>
              <a:rPr lang="en-US" sz="2700" dirty="0">
                <a:solidFill>
                  <a:srgbClr val="1A1917"/>
                </a:solidFill>
                <a:latin typeface="Cambria" pitchFamily="34" charset="0"/>
                <a:ea typeface="Cambria" pitchFamily="34" charset="-122"/>
                <a:cs typeface="Cambria" pitchFamily="34" charset="-120"/>
              </a:rPr>
              <a:t>× 50 %</a:t>
            </a:r>
            <a:endParaRPr lang="en-US" sz="2700" dirty="0"/>
          </a:p>
        </p:txBody>
      </p:sp>
      <p:sp>
        <p:nvSpPr>
          <p:cNvPr id="9" name="Text 7"/>
          <p:cNvSpPr/>
          <p:nvPr/>
        </p:nvSpPr>
        <p:spPr>
          <a:xfrm>
            <a:off x="3035808" y="3200400"/>
            <a:ext cx="2194560" cy="274320"/>
          </a:xfrm>
          <a:prstGeom prst="rect">
            <a:avLst/>
          </a:prstGeom>
          <a:noFill/>
          <a:ln/>
        </p:spPr>
        <p:txBody>
          <a:bodyPr wrap="square" lIns="0" tIns="0" rIns="0" bIns="0" rtlCol="0" anchor="ctr"/>
          <a:lstStyle/>
          <a:p>
            <a:pPr indent="0" marL="0">
              <a:buNone/>
            </a:pPr>
            <a:r>
              <a:rPr lang="en-US" sz="1200" b="1" dirty="0">
                <a:solidFill>
                  <a:srgbClr val="1A1917"/>
                </a:solidFill>
                <a:latin typeface="Calibri" pitchFamily="34" charset="0"/>
                <a:ea typeface="Calibri" pitchFamily="34" charset="-122"/>
                <a:cs typeface="Calibri" pitchFamily="34" charset="-120"/>
              </a:rPr>
              <a:t>Durchverkaufsquote</a:t>
            </a:r>
            <a:endParaRPr lang="en-US" sz="1200" dirty="0"/>
          </a:p>
        </p:txBody>
      </p:sp>
      <p:sp>
        <p:nvSpPr>
          <p:cNvPr id="10" name="Text 8"/>
          <p:cNvSpPr/>
          <p:nvPr/>
        </p:nvSpPr>
        <p:spPr>
          <a:xfrm>
            <a:off x="3035808" y="3493008"/>
            <a:ext cx="2194560" cy="640080"/>
          </a:xfrm>
          <a:prstGeom prst="rect">
            <a:avLst/>
          </a:prstGeom>
          <a:noFill/>
          <a:ln/>
        </p:spPr>
        <p:txBody>
          <a:bodyPr wrap="square" lIns="0" tIns="0" rIns="0" bIns="0" rtlCol="0" anchor="ctr"/>
          <a:lstStyle/>
          <a:p>
            <a:pPr indent="0" marL="0">
              <a:lnSpc>
                <a:spcPts val="1500"/>
              </a:lnSpc>
              <a:buNone/>
            </a:pPr>
            <a:r>
              <a:rPr lang="en-US" sz="1150" dirty="0">
                <a:solidFill>
                  <a:srgbClr val="6B655C"/>
                </a:solidFill>
                <a:latin typeface="Calibri" pitchFamily="34" charset="0"/>
                <a:ea typeface="Calibri" pitchFamily="34" charset="-122"/>
                <a:cs typeface="Calibri" pitchFamily="34" charset="-120"/>
              </a:rPr>
              <a:t>die Hälfte wird in 6 Monaten verkauft</a:t>
            </a:r>
            <a:endParaRPr lang="en-US" sz="1150" dirty="0"/>
          </a:p>
        </p:txBody>
      </p:sp>
      <p:sp>
        <p:nvSpPr>
          <p:cNvPr id="11" name="Text 9"/>
          <p:cNvSpPr/>
          <p:nvPr/>
        </p:nvSpPr>
        <p:spPr>
          <a:xfrm>
            <a:off x="5431536" y="2651760"/>
            <a:ext cx="2194560" cy="502920"/>
          </a:xfrm>
          <a:prstGeom prst="rect">
            <a:avLst/>
          </a:prstGeom>
          <a:noFill/>
          <a:ln/>
        </p:spPr>
        <p:txBody>
          <a:bodyPr wrap="square" lIns="0" tIns="0" rIns="0" bIns="0" rtlCol="0" anchor="ctr"/>
          <a:lstStyle/>
          <a:p>
            <a:pPr indent="0" marL="0">
              <a:buNone/>
            </a:pPr>
            <a:r>
              <a:rPr lang="en-US" sz="2700" dirty="0">
                <a:solidFill>
                  <a:srgbClr val="1A1917"/>
                </a:solidFill>
                <a:latin typeface="Cambria" pitchFamily="34" charset="0"/>
                <a:ea typeface="Cambria" pitchFamily="34" charset="-122"/>
                <a:cs typeface="Cambria" pitchFamily="34" charset="-120"/>
              </a:rPr>
              <a:t>− CHF 90</a:t>
            </a:r>
            <a:endParaRPr lang="en-US" sz="2700" dirty="0"/>
          </a:p>
        </p:txBody>
      </p:sp>
      <p:sp>
        <p:nvSpPr>
          <p:cNvPr id="12" name="Text 10"/>
          <p:cNvSpPr/>
          <p:nvPr/>
        </p:nvSpPr>
        <p:spPr>
          <a:xfrm>
            <a:off x="5431536" y="3200400"/>
            <a:ext cx="2194560" cy="274320"/>
          </a:xfrm>
          <a:prstGeom prst="rect">
            <a:avLst/>
          </a:prstGeom>
          <a:noFill/>
          <a:ln/>
        </p:spPr>
        <p:txBody>
          <a:bodyPr wrap="square" lIns="0" tIns="0" rIns="0" bIns="0" rtlCol="0" anchor="ctr"/>
          <a:lstStyle/>
          <a:p>
            <a:pPr indent="0" marL="0">
              <a:buNone/>
            </a:pPr>
            <a:r>
              <a:rPr lang="en-US" sz="1200" b="1" dirty="0">
                <a:solidFill>
                  <a:srgbClr val="1A1917"/>
                </a:solidFill>
                <a:latin typeface="Calibri" pitchFamily="34" charset="0"/>
                <a:ea typeface="Calibri" pitchFamily="34" charset="-122"/>
                <a:cs typeface="Calibri" pitchFamily="34" charset="-120"/>
              </a:rPr>
              <a:t>Einkauf</a:t>
            </a:r>
            <a:endParaRPr lang="en-US" sz="1200" dirty="0"/>
          </a:p>
        </p:txBody>
      </p:sp>
      <p:sp>
        <p:nvSpPr>
          <p:cNvPr id="13" name="Text 11"/>
          <p:cNvSpPr/>
          <p:nvPr/>
        </p:nvSpPr>
        <p:spPr>
          <a:xfrm>
            <a:off x="5431536" y="3493008"/>
            <a:ext cx="2194560" cy="640080"/>
          </a:xfrm>
          <a:prstGeom prst="rect">
            <a:avLst/>
          </a:prstGeom>
          <a:noFill/>
          <a:ln/>
        </p:spPr>
        <p:txBody>
          <a:bodyPr wrap="square" lIns="0" tIns="0" rIns="0" bIns="0" rtlCol="0" anchor="ctr"/>
          <a:lstStyle/>
          <a:p>
            <a:pPr indent="0" marL="0">
              <a:lnSpc>
                <a:spcPts val="1500"/>
              </a:lnSpc>
              <a:buNone/>
            </a:pPr>
            <a:r>
              <a:rPr lang="en-US" sz="1150" dirty="0">
                <a:solidFill>
                  <a:srgbClr val="6B655C"/>
                </a:solidFill>
                <a:latin typeface="Calibri" pitchFamily="34" charset="0"/>
                <a:ea typeface="Calibri" pitchFamily="34" charset="-122"/>
                <a:cs typeface="Calibri" pitchFamily="34" charset="-120"/>
              </a:rPr>
              <a:t>fällt für jedes Stück an, auch für die unverkauften</a:t>
            </a:r>
            <a:endParaRPr lang="en-US" sz="1150" dirty="0"/>
          </a:p>
        </p:txBody>
      </p:sp>
      <p:sp>
        <p:nvSpPr>
          <p:cNvPr id="14" name="Text 12"/>
          <p:cNvSpPr/>
          <p:nvPr/>
        </p:nvSpPr>
        <p:spPr>
          <a:xfrm>
            <a:off x="7827264" y="2651760"/>
            <a:ext cx="2194560" cy="502920"/>
          </a:xfrm>
          <a:prstGeom prst="rect">
            <a:avLst/>
          </a:prstGeom>
          <a:noFill/>
          <a:ln/>
        </p:spPr>
        <p:txBody>
          <a:bodyPr wrap="square" lIns="0" tIns="0" rIns="0" bIns="0" rtlCol="0" anchor="ctr"/>
          <a:lstStyle/>
          <a:p>
            <a:pPr indent="0" marL="0">
              <a:buNone/>
            </a:pPr>
            <a:r>
              <a:rPr lang="en-US" sz="2700" dirty="0">
                <a:solidFill>
                  <a:srgbClr val="1A1917"/>
                </a:solidFill>
                <a:latin typeface="Cambria" pitchFamily="34" charset="0"/>
                <a:ea typeface="Cambria" pitchFamily="34" charset="-122"/>
                <a:cs typeface="Cambria" pitchFamily="34" charset="-120"/>
              </a:rPr>
              <a:t>− CHF 10</a:t>
            </a:r>
            <a:endParaRPr lang="en-US" sz="2700" dirty="0"/>
          </a:p>
        </p:txBody>
      </p:sp>
      <p:sp>
        <p:nvSpPr>
          <p:cNvPr id="15" name="Text 13"/>
          <p:cNvSpPr/>
          <p:nvPr/>
        </p:nvSpPr>
        <p:spPr>
          <a:xfrm>
            <a:off x="7827264" y="3200400"/>
            <a:ext cx="2194560" cy="274320"/>
          </a:xfrm>
          <a:prstGeom prst="rect">
            <a:avLst/>
          </a:prstGeom>
          <a:noFill/>
          <a:ln/>
        </p:spPr>
        <p:txBody>
          <a:bodyPr wrap="square" lIns="0" tIns="0" rIns="0" bIns="0" rtlCol="0" anchor="ctr"/>
          <a:lstStyle/>
          <a:p>
            <a:pPr indent="0" marL="0">
              <a:buNone/>
            </a:pPr>
            <a:r>
              <a:rPr lang="en-US" sz="1200" b="1" dirty="0">
                <a:solidFill>
                  <a:srgbClr val="1A1917"/>
                </a:solidFill>
                <a:latin typeface="Calibri" pitchFamily="34" charset="0"/>
                <a:ea typeface="Calibri" pitchFamily="34" charset="-122"/>
                <a:cs typeface="Calibri" pitchFamily="34" charset="-120"/>
              </a:rPr>
              <a:t>Versand und Gebühren</a:t>
            </a:r>
            <a:endParaRPr lang="en-US" sz="1200" dirty="0"/>
          </a:p>
        </p:txBody>
      </p:sp>
      <p:sp>
        <p:nvSpPr>
          <p:cNvPr id="16" name="Text 14"/>
          <p:cNvSpPr/>
          <p:nvPr/>
        </p:nvSpPr>
        <p:spPr>
          <a:xfrm>
            <a:off x="7827264" y="3493008"/>
            <a:ext cx="2194560" cy="640080"/>
          </a:xfrm>
          <a:prstGeom prst="rect">
            <a:avLst/>
          </a:prstGeom>
          <a:noFill/>
          <a:ln/>
        </p:spPr>
        <p:txBody>
          <a:bodyPr wrap="square" lIns="0" tIns="0" rIns="0" bIns="0" rtlCol="0" anchor="ctr"/>
          <a:lstStyle/>
          <a:p>
            <a:pPr indent="0" marL="0">
              <a:lnSpc>
                <a:spcPts val="1500"/>
              </a:lnSpc>
              <a:buNone/>
            </a:pPr>
            <a:r>
              <a:rPr lang="en-US" sz="1150" dirty="0">
                <a:solidFill>
                  <a:srgbClr val="6B655C"/>
                </a:solidFill>
                <a:latin typeface="Calibri" pitchFamily="34" charset="0"/>
                <a:ea typeface="Calibri" pitchFamily="34" charset="-122"/>
                <a:cs typeface="Calibri" pitchFamily="34" charset="-120"/>
              </a:rPr>
              <a:t>CHF 20 je verkauftem Stück, anteilig</a:t>
            </a:r>
            <a:endParaRPr lang="en-US" sz="1150" dirty="0"/>
          </a:p>
        </p:txBody>
      </p:sp>
      <p:sp>
        <p:nvSpPr>
          <p:cNvPr id="17" name="Shape 15"/>
          <p:cNvSpPr/>
          <p:nvPr/>
        </p:nvSpPr>
        <p:spPr>
          <a:xfrm>
            <a:off x="10222992" y="2487168"/>
            <a:ext cx="1298448" cy="1737360"/>
          </a:xfrm>
          <a:prstGeom prst="rect">
            <a:avLst/>
          </a:prstGeom>
          <a:solidFill>
            <a:srgbClr val="1A1917"/>
          </a:solidFill>
          <a:ln/>
        </p:spPr>
      </p:sp>
      <p:sp>
        <p:nvSpPr>
          <p:cNvPr id="18" name="Text 16"/>
          <p:cNvSpPr/>
          <p:nvPr/>
        </p:nvSpPr>
        <p:spPr>
          <a:xfrm>
            <a:off x="10222992" y="2788920"/>
            <a:ext cx="1298448" cy="457200"/>
          </a:xfrm>
          <a:prstGeom prst="rect">
            <a:avLst/>
          </a:prstGeom>
          <a:noFill/>
          <a:ln/>
        </p:spPr>
        <p:txBody>
          <a:bodyPr wrap="square" lIns="0" tIns="0" rIns="0" bIns="0" rtlCol="0" anchor="ctr"/>
          <a:lstStyle/>
          <a:p>
            <a:pPr algn="ctr" indent="0" marL="0">
              <a:buNone/>
            </a:pPr>
            <a:r>
              <a:rPr lang="en-US" sz="2400" dirty="0">
                <a:solidFill>
                  <a:srgbClr val="F0EBE2"/>
                </a:solidFill>
                <a:latin typeface="Cambria" pitchFamily="34" charset="0"/>
                <a:ea typeface="Cambria" pitchFamily="34" charset="-122"/>
                <a:cs typeface="Cambria" pitchFamily="34" charset="-120"/>
              </a:rPr>
              <a:t>CHF 40</a:t>
            </a:r>
            <a:endParaRPr lang="en-US" sz="2400" dirty="0"/>
          </a:p>
        </p:txBody>
      </p:sp>
      <p:sp>
        <p:nvSpPr>
          <p:cNvPr id="19" name="Text 17"/>
          <p:cNvSpPr/>
          <p:nvPr/>
        </p:nvSpPr>
        <p:spPr>
          <a:xfrm>
            <a:off x="10222992" y="3291840"/>
            <a:ext cx="1298448" cy="640080"/>
          </a:xfrm>
          <a:prstGeom prst="rect">
            <a:avLst/>
          </a:prstGeom>
          <a:noFill/>
          <a:ln/>
        </p:spPr>
        <p:txBody>
          <a:bodyPr wrap="square" lIns="0" tIns="0" rIns="0" bIns="0" rtlCol="0" anchor="ctr"/>
          <a:lstStyle/>
          <a:p>
            <a:pPr algn="ctr" indent="0" marL="0">
              <a:lnSpc>
                <a:spcPts val="1400"/>
              </a:lnSpc>
              <a:buNone/>
            </a:pPr>
            <a:r>
              <a:rPr lang="en-US" sz="1100" dirty="0">
                <a:solidFill>
                  <a:srgbClr val="A9A196"/>
                </a:solidFill>
                <a:latin typeface="Calibri" pitchFamily="34" charset="0"/>
                <a:ea typeface="Calibri" pitchFamily="34" charset="-122"/>
                <a:cs typeface="Calibri" pitchFamily="34" charset="-120"/>
              </a:rPr>
              <a:t>je beschafftem</a:t>
            </a:r>
            <a:endParaRPr lang="en-US" sz="1100" dirty="0"/>
          </a:p>
          <a:p>
            <a:pPr algn="ctr" indent="0" marL="0">
              <a:lnSpc>
                <a:spcPts val="1400"/>
              </a:lnSpc>
              <a:buNone/>
            </a:pPr>
            <a:r>
              <a:rPr lang="en-US" sz="1100" dirty="0">
                <a:solidFill>
                  <a:srgbClr val="A9A196"/>
                </a:solidFill>
                <a:latin typeface="Calibri" pitchFamily="34" charset="0"/>
                <a:ea typeface="Calibri" pitchFamily="34" charset="-122"/>
                <a:cs typeface="Calibri" pitchFamily="34" charset="-120"/>
              </a:rPr>
              <a:t>Stück</a:t>
            </a:r>
            <a:endParaRPr lang="en-US" sz="1100" dirty="0"/>
          </a:p>
        </p:txBody>
      </p:sp>
      <p:sp>
        <p:nvSpPr>
          <p:cNvPr id="20" name="Shape 18"/>
          <p:cNvSpPr/>
          <p:nvPr/>
        </p:nvSpPr>
        <p:spPr>
          <a:xfrm>
            <a:off x="640080" y="4572000"/>
            <a:ext cx="10881360" cy="0"/>
          </a:xfrm>
          <a:prstGeom prst="line">
            <a:avLst/>
          </a:prstGeom>
          <a:noFill/>
          <a:ln w="12700">
            <a:solidFill>
              <a:srgbClr val="E4DED3"/>
            </a:solidFill>
            <a:prstDash val="solid"/>
          </a:ln>
        </p:spPr>
      </p:sp>
      <p:sp>
        <p:nvSpPr>
          <p:cNvPr id="21" name="Shape 19"/>
          <p:cNvSpPr/>
          <p:nvPr/>
        </p:nvSpPr>
        <p:spPr>
          <a:xfrm>
            <a:off x="640080" y="4800600"/>
            <a:ext cx="5349240" cy="1508760"/>
          </a:xfrm>
          <a:prstGeom prst="rect">
            <a:avLst/>
          </a:prstGeom>
          <a:solidFill>
            <a:srgbClr val="FFFFFF"/>
          </a:solidFill>
          <a:ln w="9525">
            <a:solidFill>
              <a:srgbClr val="E4DED3"/>
            </a:solidFill>
            <a:prstDash val="solid"/>
          </a:ln>
        </p:spPr>
      </p:sp>
      <p:sp>
        <p:nvSpPr>
          <p:cNvPr id="22" name="Text 20"/>
          <p:cNvSpPr/>
          <p:nvPr/>
        </p:nvSpPr>
        <p:spPr>
          <a:xfrm>
            <a:off x="932688" y="5038344"/>
            <a:ext cx="4764024" cy="411480"/>
          </a:xfrm>
          <a:prstGeom prst="rect">
            <a:avLst/>
          </a:prstGeom>
          <a:noFill/>
          <a:ln/>
        </p:spPr>
        <p:txBody>
          <a:bodyPr wrap="square" lIns="0" tIns="0" rIns="0" bIns="0" rtlCol="0" anchor="ctr"/>
          <a:lstStyle/>
          <a:p>
            <a:pPr indent="0" marL="0">
              <a:buNone/>
            </a:pPr>
            <a:r>
              <a:rPr lang="en-US" sz="2200" dirty="0">
                <a:solidFill>
                  <a:srgbClr val="1A1917"/>
                </a:solidFill>
                <a:latin typeface="Cambria" pitchFamily="34" charset="0"/>
                <a:ea typeface="Cambria" pitchFamily="34" charset="-122"/>
                <a:cs typeface="Cambria" pitchFamily="34" charset="-120"/>
              </a:rPr>
              <a:t>CHF 32 pro Arbeitsstunde</a:t>
            </a:r>
            <a:endParaRPr lang="en-US" sz="2200" dirty="0"/>
          </a:p>
        </p:txBody>
      </p:sp>
      <p:sp>
        <p:nvSpPr>
          <p:cNvPr id="23" name="Text 21"/>
          <p:cNvSpPr/>
          <p:nvPr/>
        </p:nvSpPr>
        <p:spPr>
          <a:xfrm>
            <a:off x="932688" y="5541264"/>
            <a:ext cx="4764024" cy="548640"/>
          </a:xfrm>
          <a:prstGeom prst="rect">
            <a:avLst/>
          </a:prstGeom>
          <a:noFill/>
          <a:ln/>
        </p:spPr>
        <p:txBody>
          <a:bodyPr wrap="square" lIns="0" tIns="0" rIns="0" bIns="0" rtlCol="0" anchor="t"/>
          <a:lstStyle/>
          <a:p>
            <a:pPr indent="0" marL="0">
              <a:lnSpc>
                <a:spcPts val="1900"/>
              </a:lnSpc>
              <a:buNone/>
            </a:pPr>
            <a:r>
              <a:rPr lang="en-US" sz="1350" dirty="0">
                <a:solidFill>
                  <a:srgbClr val="6B655C"/>
                </a:solidFill>
                <a:latin typeface="Calibri" pitchFamily="34" charset="0"/>
                <a:ea typeface="Calibri" pitchFamily="34" charset="-122"/>
                <a:cs typeface="Calibri" pitchFamily="34" charset="-120"/>
              </a:rPr>
              <a:t>75 Minuten pro Stück: suchen, prüfen, waschen, dämpfen, fotografieren, einstellen, verpacken.</a:t>
            </a:r>
            <a:endParaRPr lang="en-US" sz="1350" dirty="0"/>
          </a:p>
        </p:txBody>
      </p:sp>
      <p:sp>
        <p:nvSpPr>
          <p:cNvPr id="24" name="Shape 22"/>
          <p:cNvSpPr/>
          <p:nvPr/>
        </p:nvSpPr>
        <p:spPr>
          <a:xfrm>
            <a:off x="6172200" y="4800600"/>
            <a:ext cx="5349240" cy="1508760"/>
          </a:xfrm>
          <a:prstGeom prst="rect">
            <a:avLst/>
          </a:prstGeom>
          <a:solidFill>
            <a:srgbClr val="FFFFFF"/>
          </a:solidFill>
          <a:ln w="9525">
            <a:solidFill>
              <a:srgbClr val="E4DED3"/>
            </a:solidFill>
            <a:prstDash val="solid"/>
          </a:ln>
        </p:spPr>
      </p:sp>
      <p:sp>
        <p:nvSpPr>
          <p:cNvPr id="25" name="Text 23"/>
          <p:cNvSpPr/>
          <p:nvPr/>
        </p:nvSpPr>
        <p:spPr>
          <a:xfrm>
            <a:off x="6464808" y="5038344"/>
            <a:ext cx="4764024" cy="411480"/>
          </a:xfrm>
          <a:prstGeom prst="rect">
            <a:avLst/>
          </a:prstGeom>
          <a:noFill/>
          <a:ln/>
        </p:spPr>
        <p:txBody>
          <a:bodyPr wrap="square" lIns="0" tIns="0" rIns="0" bIns="0" rtlCol="0" anchor="ctr"/>
          <a:lstStyle/>
          <a:p>
            <a:pPr indent="0" marL="0">
              <a:buNone/>
            </a:pPr>
            <a:r>
              <a:rPr lang="en-US" sz="2200" dirty="0">
                <a:solidFill>
                  <a:srgbClr val="1A1917"/>
                </a:solidFill>
                <a:latin typeface="Cambria" pitchFamily="34" charset="0"/>
                <a:ea typeface="Cambria" pitchFamily="34" charset="-122"/>
                <a:cs typeface="Cambria" pitchFamily="34" charset="-120"/>
              </a:rPr>
              <a:t>CHF 1'200 für die ganze Charge</a:t>
            </a:r>
            <a:endParaRPr lang="en-US" sz="2200" dirty="0"/>
          </a:p>
        </p:txBody>
      </p:sp>
      <p:sp>
        <p:nvSpPr>
          <p:cNvPr id="26" name="Text 24"/>
          <p:cNvSpPr/>
          <p:nvPr/>
        </p:nvSpPr>
        <p:spPr>
          <a:xfrm>
            <a:off x="6464808" y="5541264"/>
            <a:ext cx="4764024" cy="548640"/>
          </a:xfrm>
          <a:prstGeom prst="rect">
            <a:avLst/>
          </a:prstGeom>
          <a:noFill/>
          <a:ln/>
        </p:spPr>
        <p:txBody>
          <a:bodyPr wrap="square" lIns="0" tIns="0" rIns="0" bIns="0" rtlCol="0" anchor="t"/>
          <a:lstStyle/>
          <a:p>
            <a:pPr indent="0" marL="0">
              <a:lnSpc>
                <a:spcPts val="1900"/>
              </a:lnSpc>
              <a:buNone/>
            </a:pPr>
            <a:r>
              <a:rPr lang="en-US" sz="1350" dirty="0">
                <a:solidFill>
                  <a:srgbClr val="6B655C"/>
                </a:solidFill>
                <a:latin typeface="Calibri" pitchFamily="34" charset="0"/>
                <a:ea typeface="Calibri" pitchFamily="34" charset="-122"/>
                <a:cs typeface="Calibri" pitchFamily="34" charset="-120"/>
              </a:rPr>
              <a:t>30 Stück über sechs Monate, bei rund 37 Arbeitsstunden zu dritt.</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640080" y="475488"/>
            <a:ext cx="10881360" cy="274320"/>
          </a:xfrm>
          <a:prstGeom prst="rect">
            <a:avLst/>
          </a:prstGeom>
          <a:noFill/>
          <a:ln/>
        </p:spPr>
        <p:txBody>
          <a:bodyPr wrap="square" lIns="0" tIns="0" rIns="0" bIns="0" rtlCol="0" anchor="ctr"/>
          <a:lstStyle/>
          <a:p>
            <a:pPr indent="0" marL="0">
              <a:buNone/>
            </a:pPr>
            <a:r>
              <a:rPr lang="en-US" sz="1100" spc="300" kern="0" dirty="0">
                <a:solidFill>
                  <a:srgbClr val="9A938A"/>
                </a:solidFill>
                <a:latin typeface="Calibri" pitchFamily="34" charset="0"/>
                <a:ea typeface="Calibri" pitchFamily="34" charset="-122"/>
                <a:cs typeface="Calibri" pitchFamily="34" charset="-120"/>
              </a:rPr>
              <a:t>DER HEBEL</a:t>
            </a:r>
            <a:endParaRPr lang="en-US" sz="1100" dirty="0"/>
          </a:p>
        </p:txBody>
      </p:sp>
      <p:sp>
        <p:nvSpPr>
          <p:cNvPr id="3" name="Text 1"/>
          <p:cNvSpPr/>
          <p:nvPr/>
        </p:nvSpPr>
        <p:spPr>
          <a:xfrm>
            <a:off x="640080" y="777240"/>
            <a:ext cx="10881360" cy="868680"/>
          </a:xfrm>
          <a:prstGeom prst="rect">
            <a:avLst/>
          </a:prstGeom>
          <a:noFill/>
          <a:ln/>
        </p:spPr>
        <p:txBody>
          <a:bodyPr wrap="square" lIns="0" tIns="0" rIns="0" bIns="0" rtlCol="0" anchor="t"/>
          <a:lstStyle/>
          <a:p>
            <a:pPr indent="0" marL="0">
              <a:buNone/>
            </a:pPr>
            <a:r>
              <a:rPr lang="en-US" sz="3800" dirty="0">
                <a:solidFill>
                  <a:srgbClr val="1A1917"/>
                </a:solidFill>
                <a:latin typeface="Cambria" pitchFamily="34" charset="0"/>
                <a:ea typeface="Cambria" pitchFamily="34" charset="-122"/>
                <a:cs typeface="Cambria" pitchFamily="34" charset="-120"/>
              </a:rPr>
              <a:t>Alles hängt an der Durchverkaufsquote</a:t>
            </a:r>
            <a:endParaRPr lang="en-US" sz="3800" dirty="0"/>
          </a:p>
        </p:txBody>
      </p:sp>
      <p:sp>
        <p:nvSpPr>
          <p:cNvPr id="4" name="Text 2"/>
          <p:cNvSpPr/>
          <p:nvPr/>
        </p:nvSpPr>
        <p:spPr>
          <a:xfrm>
            <a:off x="640080" y="1664208"/>
            <a:ext cx="10058400" cy="640080"/>
          </a:xfrm>
          <a:prstGeom prst="rect">
            <a:avLst/>
          </a:prstGeom>
          <a:noFill/>
          <a:ln/>
        </p:spPr>
        <p:txBody>
          <a:bodyPr wrap="square" lIns="0" tIns="0" rIns="0" bIns="0" rtlCol="0" anchor="ctr"/>
          <a:lstStyle/>
          <a:p>
            <a:pPr indent="0" marL="0">
              <a:lnSpc>
                <a:spcPts val="2200"/>
              </a:lnSpc>
              <a:buNone/>
            </a:pPr>
            <a:r>
              <a:rPr lang="en-US" sz="1600" dirty="0">
                <a:solidFill>
                  <a:srgbClr val="6B655C"/>
                </a:solidFill>
                <a:latin typeface="Calibri" pitchFamily="34" charset="0"/>
                <a:ea typeface="Calibri" pitchFamily="34" charset="-122"/>
                <a:cs typeface="Calibri" pitchFamily="34" charset="-120"/>
              </a:rPr>
              <a:t>Nicht am Preis. Ein höherer Verkaufspreis bringt wenig, wenn die Stücke liegen bleiben — eine höhere Quote verändert alles.</a:t>
            </a:r>
            <a:endParaRPr lang="en-US" sz="1600" dirty="0"/>
          </a:p>
        </p:txBody>
      </p:sp>
      <p:graphicFrame>
        <p:nvGraphicFramePr>
          <p:cNvPr id="5" name="Chart 0" descr=""/>
          <p:cNvGraphicFramePr/>
          <p:nvPr/>
        </p:nvGraphicFramePr>
        <p:xfrm>
          <a:off x="548640" y="2514600"/>
          <a:ext cx="6858000" cy="35204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680960" y="2514600"/>
            <a:ext cx="3840480" cy="1143000"/>
          </a:xfrm>
          <a:prstGeom prst="rect">
            <a:avLst/>
          </a:prstGeom>
          <a:solidFill>
            <a:srgbClr val="FFFFFF"/>
          </a:solidFill>
          <a:ln w="9525">
            <a:solidFill>
              <a:srgbClr val="E4DED3"/>
            </a:solidFill>
            <a:prstDash val="solid"/>
          </a:ln>
        </p:spPr>
      </p:sp>
      <p:sp>
        <p:nvSpPr>
          <p:cNvPr id="7" name="Text 4"/>
          <p:cNvSpPr/>
          <p:nvPr/>
        </p:nvSpPr>
        <p:spPr>
          <a:xfrm>
            <a:off x="7955280" y="2660904"/>
            <a:ext cx="3291840" cy="219456"/>
          </a:xfrm>
          <a:prstGeom prst="rect">
            <a:avLst/>
          </a:prstGeom>
          <a:noFill/>
          <a:ln/>
        </p:spPr>
        <p:txBody>
          <a:bodyPr wrap="square" lIns="0" tIns="0" rIns="0" bIns="0" rtlCol="0" anchor="ctr"/>
          <a:lstStyle/>
          <a:p>
            <a:pPr indent="0" marL="0">
              <a:buNone/>
            </a:pPr>
            <a:r>
              <a:rPr lang="en-US" sz="1000" spc="200" kern="0" dirty="0">
                <a:solidFill>
                  <a:srgbClr val="A33D2E"/>
                </a:solidFill>
                <a:latin typeface="Calibri" pitchFamily="34" charset="0"/>
                <a:ea typeface="Calibri" pitchFamily="34" charset="-122"/>
                <a:cs typeface="Calibri" pitchFamily="34" charset="-120"/>
              </a:rPr>
              <a:t>UNTER 34,6 %</a:t>
            </a:r>
            <a:endParaRPr lang="en-US" sz="1000" dirty="0"/>
          </a:p>
        </p:txBody>
      </p:sp>
      <p:sp>
        <p:nvSpPr>
          <p:cNvPr id="8" name="Text 5"/>
          <p:cNvSpPr/>
          <p:nvPr/>
        </p:nvSpPr>
        <p:spPr>
          <a:xfrm>
            <a:off x="7955280" y="2907792"/>
            <a:ext cx="3291840" cy="329184"/>
          </a:xfrm>
          <a:prstGeom prst="rect">
            <a:avLst/>
          </a:prstGeom>
          <a:noFill/>
          <a:ln/>
        </p:spPr>
        <p:txBody>
          <a:bodyPr wrap="square" lIns="0" tIns="0" rIns="0" bIns="0" rtlCol="0" anchor="ctr"/>
          <a:lstStyle/>
          <a:p>
            <a:pPr indent="0" marL="0">
              <a:buNone/>
            </a:pPr>
            <a:r>
              <a:rPr lang="en-US" sz="1900" dirty="0">
                <a:solidFill>
                  <a:srgbClr val="A33D2E"/>
                </a:solidFill>
                <a:latin typeface="Cambria" pitchFamily="34" charset="0"/>
                <a:ea typeface="Cambria" pitchFamily="34" charset="-122"/>
                <a:cs typeface="Cambria" pitchFamily="34" charset="-120"/>
              </a:rPr>
              <a:t>Verlust</a:t>
            </a:r>
            <a:endParaRPr lang="en-US" sz="1900" dirty="0"/>
          </a:p>
        </p:txBody>
      </p:sp>
      <p:sp>
        <p:nvSpPr>
          <p:cNvPr id="9" name="Text 6"/>
          <p:cNvSpPr/>
          <p:nvPr/>
        </p:nvSpPr>
        <p:spPr>
          <a:xfrm>
            <a:off x="7955280" y="3264408"/>
            <a:ext cx="3291840" cy="310896"/>
          </a:xfrm>
          <a:prstGeom prst="rect">
            <a:avLst/>
          </a:prstGeom>
          <a:noFill/>
          <a:ln/>
        </p:spPr>
        <p:txBody>
          <a:bodyPr wrap="square" lIns="0" tIns="0" rIns="0" bIns="0" rtlCol="0" anchor="ctr"/>
          <a:lstStyle/>
          <a:p>
            <a:pPr indent="0" marL="0">
              <a:buNone/>
            </a:pPr>
            <a:r>
              <a:rPr lang="en-US" sz="1200" dirty="0">
                <a:solidFill>
                  <a:srgbClr val="6B655C"/>
                </a:solidFill>
                <a:latin typeface="Calibri" pitchFamily="34" charset="0"/>
                <a:ea typeface="Calibri" pitchFamily="34" charset="-122"/>
                <a:cs typeface="Calibri" pitchFamily="34" charset="-120"/>
              </a:rPr>
              <a:t>Arbeitszeit noch nicht gezählt.</a:t>
            </a:r>
            <a:endParaRPr lang="en-US" sz="1200" dirty="0"/>
          </a:p>
        </p:txBody>
      </p:sp>
      <p:sp>
        <p:nvSpPr>
          <p:cNvPr id="10" name="Shape 7"/>
          <p:cNvSpPr/>
          <p:nvPr/>
        </p:nvSpPr>
        <p:spPr>
          <a:xfrm>
            <a:off x="7680960" y="3794760"/>
            <a:ext cx="3840480" cy="1143000"/>
          </a:xfrm>
          <a:prstGeom prst="rect">
            <a:avLst/>
          </a:prstGeom>
          <a:solidFill>
            <a:srgbClr val="FFFFFF"/>
          </a:solidFill>
          <a:ln w="9525">
            <a:solidFill>
              <a:srgbClr val="E4DED3"/>
            </a:solidFill>
            <a:prstDash val="solid"/>
          </a:ln>
        </p:spPr>
      </p:sp>
      <p:sp>
        <p:nvSpPr>
          <p:cNvPr id="11" name="Text 8"/>
          <p:cNvSpPr/>
          <p:nvPr/>
        </p:nvSpPr>
        <p:spPr>
          <a:xfrm>
            <a:off x="7955280" y="3941064"/>
            <a:ext cx="3291840" cy="219456"/>
          </a:xfrm>
          <a:prstGeom prst="rect">
            <a:avLst/>
          </a:prstGeom>
          <a:noFill/>
          <a:ln/>
        </p:spPr>
        <p:txBody>
          <a:bodyPr wrap="square" lIns="0" tIns="0" rIns="0" bIns="0" rtlCol="0" anchor="ctr"/>
          <a:lstStyle/>
          <a:p>
            <a:pPr indent="0" marL="0">
              <a:buNone/>
            </a:pPr>
            <a:r>
              <a:rPr lang="en-US" sz="1000" spc="200" kern="0" dirty="0">
                <a:solidFill>
                  <a:srgbClr val="A8761E"/>
                </a:solidFill>
                <a:latin typeface="Calibri" pitchFamily="34" charset="0"/>
                <a:ea typeface="Calibri" pitchFamily="34" charset="-122"/>
                <a:cs typeface="Calibri" pitchFamily="34" charset="-120"/>
              </a:rPr>
              <a:t>UNTER 46,6 %</a:t>
            </a:r>
            <a:endParaRPr lang="en-US" sz="1000" dirty="0"/>
          </a:p>
        </p:txBody>
      </p:sp>
      <p:sp>
        <p:nvSpPr>
          <p:cNvPr id="12" name="Text 9"/>
          <p:cNvSpPr/>
          <p:nvPr/>
        </p:nvSpPr>
        <p:spPr>
          <a:xfrm>
            <a:off x="7955280" y="4187952"/>
            <a:ext cx="3291840" cy="329184"/>
          </a:xfrm>
          <a:prstGeom prst="rect">
            <a:avLst/>
          </a:prstGeom>
          <a:noFill/>
          <a:ln/>
        </p:spPr>
        <p:txBody>
          <a:bodyPr wrap="square" lIns="0" tIns="0" rIns="0" bIns="0" rtlCol="0" anchor="ctr"/>
          <a:lstStyle/>
          <a:p>
            <a:pPr indent="0" marL="0">
              <a:buNone/>
            </a:pPr>
            <a:r>
              <a:rPr lang="en-US" sz="1900" dirty="0">
                <a:solidFill>
                  <a:srgbClr val="A8761E"/>
                </a:solidFill>
                <a:latin typeface="Cambria" pitchFamily="34" charset="0"/>
                <a:ea typeface="Cambria" pitchFamily="34" charset="-122"/>
                <a:cs typeface="Cambria" pitchFamily="34" charset="-120"/>
              </a:rPr>
              <a:t>Wir arbeiten gratis</a:t>
            </a:r>
            <a:endParaRPr lang="en-US" sz="1900" dirty="0"/>
          </a:p>
        </p:txBody>
      </p:sp>
      <p:sp>
        <p:nvSpPr>
          <p:cNvPr id="13" name="Text 10"/>
          <p:cNvSpPr/>
          <p:nvPr/>
        </p:nvSpPr>
        <p:spPr>
          <a:xfrm>
            <a:off x="7955280" y="4544568"/>
            <a:ext cx="3291840" cy="310896"/>
          </a:xfrm>
          <a:prstGeom prst="rect">
            <a:avLst/>
          </a:prstGeom>
          <a:noFill/>
          <a:ln/>
        </p:spPr>
        <p:txBody>
          <a:bodyPr wrap="square" lIns="0" tIns="0" rIns="0" bIns="0" rtlCol="0" anchor="ctr"/>
          <a:lstStyle/>
          <a:p>
            <a:pPr indent="0" marL="0">
              <a:buNone/>
            </a:pPr>
            <a:r>
              <a:rPr lang="en-US" sz="1200" dirty="0">
                <a:solidFill>
                  <a:srgbClr val="6B655C"/>
                </a:solidFill>
                <a:latin typeface="Calibri" pitchFamily="34" charset="0"/>
                <a:ea typeface="Calibri" pitchFamily="34" charset="-122"/>
                <a:cs typeface="Calibri" pitchFamily="34" charset="-120"/>
              </a:rPr>
              <a:t>Eigene Stunde zu CHF 25 gerechnet.</a:t>
            </a:r>
            <a:endParaRPr lang="en-US" sz="1200" dirty="0"/>
          </a:p>
        </p:txBody>
      </p:sp>
      <p:sp>
        <p:nvSpPr>
          <p:cNvPr id="14" name="Shape 11"/>
          <p:cNvSpPr/>
          <p:nvPr/>
        </p:nvSpPr>
        <p:spPr>
          <a:xfrm>
            <a:off x="7680960" y="5074920"/>
            <a:ext cx="3840480" cy="1143000"/>
          </a:xfrm>
          <a:prstGeom prst="rect">
            <a:avLst/>
          </a:prstGeom>
          <a:solidFill>
            <a:srgbClr val="FFFFFF"/>
          </a:solidFill>
          <a:ln w="9525">
            <a:solidFill>
              <a:srgbClr val="E4DED3"/>
            </a:solidFill>
            <a:prstDash val="solid"/>
          </a:ln>
        </p:spPr>
      </p:sp>
      <p:sp>
        <p:nvSpPr>
          <p:cNvPr id="15" name="Text 12"/>
          <p:cNvSpPr/>
          <p:nvPr/>
        </p:nvSpPr>
        <p:spPr>
          <a:xfrm>
            <a:off x="7955280" y="5221224"/>
            <a:ext cx="3291840" cy="219456"/>
          </a:xfrm>
          <a:prstGeom prst="rect">
            <a:avLst/>
          </a:prstGeom>
          <a:noFill/>
          <a:ln/>
        </p:spPr>
        <p:txBody>
          <a:bodyPr wrap="square" lIns="0" tIns="0" rIns="0" bIns="0" rtlCol="0" anchor="ctr"/>
          <a:lstStyle/>
          <a:p>
            <a:pPr indent="0" marL="0">
              <a:buNone/>
            </a:pPr>
            <a:r>
              <a:rPr lang="en-US" sz="1000" spc="200" kern="0" dirty="0">
                <a:solidFill>
                  <a:srgbClr val="3F6B4A"/>
                </a:solidFill>
                <a:latin typeface="Calibri" pitchFamily="34" charset="0"/>
                <a:ea typeface="Calibri" pitchFamily="34" charset="-122"/>
                <a:cs typeface="Calibri" pitchFamily="34" charset="-120"/>
              </a:rPr>
              <a:t>BEI 70 %</a:t>
            </a:r>
            <a:endParaRPr lang="en-US" sz="1000" dirty="0"/>
          </a:p>
        </p:txBody>
      </p:sp>
      <p:sp>
        <p:nvSpPr>
          <p:cNvPr id="16" name="Text 13"/>
          <p:cNvSpPr/>
          <p:nvPr/>
        </p:nvSpPr>
        <p:spPr>
          <a:xfrm>
            <a:off x="7955280" y="5468112"/>
            <a:ext cx="3291840" cy="329184"/>
          </a:xfrm>
          <a:prstGeom prst="rect">
            <a:avLst/>
          </a:prstGeom>
          <a:noFill/>
          <a:ln/>
        </p:spPr>
        <p:txBody>
          <a:bodyPr wrap="square" lIns="0" tIns="0" rIns="0" bIns="0" rtlCol="0" anchor="ctr"/>
          <a:lstStyle/>
          <a:p>
            <a:pPr indent="0" marL="0">
              <a:buNone/>
            </a:pPr>
            <a:r>
              <a:rPr lang="en-US" sz="1900" dirty="0">
                <a:solidFill>
                  <a:srgbClr val="3F6B4A"/>
                </a:solidFill>
                <a:latin typeface="Cambria" pitchFamily="34" charset="0"/>
                <a:ea typeface="Cambria" pitchFamily="34" charset="-122"/>
                <a:cs typeface="Cambria" pitchFamily="34" charset="-120"/>
              </a:rPr>
              <a:t>CHF 74 pro Stunde</a:t>
            </a:r>
            <a:endParaRPr lang="en-US" sz="1900" dirty="0"/>
          </a:p>
        </p:txBody>
      </p:sp>
      <p:sp>
        <p:nvSpPr>
          <p:cNvPr id="17" name="Text 14"/>
          <p:cNvSpPr/>
          <p:nvPr/>
        </p:nvSpPr>
        <p:spPr>
          <a:xfrm>
            <a:off x="7955280" y="5824728"/>
            <a:ext cx="3291840" cy="310896"/>
          </a:xfrm>
          <a:prstGeom prst="rect">
            <a:avLst/>
          </a:prstGeom>
          <a:noFill/>
          <a:ln/>
        </p:spPr>
        <p:txBody>
          <a:bodyPr wrap="square" lIns="0" tIns="0" rIns="0" bIns="0" rtlCol="0" anchor="ctr"/>
          <a:lstStyle/>
          <a:p>
            <a:pPr indent="0" marL="0">
              <a:buNone/>
            </a:pPr>
            <a:r>
              <a:rPr lang="en-US" sz="1200" dirty="0">
                <a:solidFill>
                  <a:srgbClr val="6B655C"/>
                </a:solidFill>
                <a:latin typeface="Calibri" pitchFamily="34" charset="0"/>
                <a:ea typeface="Calibri" pitchFamily="34" charset="-122"/>
                <a:cs typeface="Calibri" pitchFamily="34" charset="-120"/>
              </a:rPr>
              <a:t>Dann trägt sich das Ganze.</a:t>
            </a:r>
            <a:endParaRPr lang="en-US" sz="1200" dirty="0"/>
          </a:p>
        </p:txBody>
      </p:sp>
      <p:sp>
        <p:nvSpPr>
          <p:cNvPr id="18" name="Text 15"/>
          <p:cNvSpPr/>
          <p:nvPr/>
        </p:nvSpPr>
        <p:spPr>
          <a:xfrm>
            <a:off x="548640" y="6400800"/>
            <a:ext cx="10881360" cy="320040"/>
          </a:xfrm>
          <a:prstGeom prst="rect">
            <a:avLst/>
          </a:prstGeom>
          <a:noFill/>
          <a:ln/>
        </p:spPr>
        <p:txBody>
          <a:bodyPr wrap="square" lIns="0" tIns="0" rIns="0" bIns="0" rtlCol="0" anchor="ctr"/>
          <a:lstStyle/>
          <a:p>
            <a:pPr indent="0" marL="0">
              <a:buNone/>
            </a:pPr>
            <a:r>
              <a:rPr lang="en-US" sz="1300" i="1" dirty="0">
                <a:solidFill>
                  <a:srgbClr val="1A1917"/>
                </a:solidFill>
                <a:latin typeface="Calibri" pitchFamily="34" charset="0"/>
                <a:ea typeface="Calibri" pitchFamily="34" charset="-122"/>
                <a:cs typeface="Calibri" pitchFamily="34" charset="-120"/>
              </a:rPr>
              <a:t>Geplant sind 50 %. Das liegt gut drei Punkte über dem Punkt, an dem unsere Arbeit gratis ist.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917"/>
        </a:solidFill>
      </p:bgPr>
    </p:bg>
    <p:spTree>
      <p:nvGrpSpPr>
        <p:cNvPr id="1" name=""/>
        <p:cNvGrpSpPr/>
        <p:nvPr/>
      </p:nvGrpSpPr>
      <p:grpSpPr>
        <a:xfrm>
          <a:off x="0" y="0"/>
          <a:ext cx="0" cy="0"/>
          <a:chOff x="0" y="0"/>
          <a:chExt cx="0" cy="0"/>
        </a:xfrm>
      </p:grpSpPr>
      <p:sp>
        <p:nvSpPr>
          <p:cNvPr id="2" name="Text 0"/>
          <p:cNvSpPr/>
          <p:nvPr/>
        </p:nvSpPr>
        <p:spPr>
          <a:xfrm>
            <a:off x="640080" y="475488"/>
            <a:ext cx="10881360" cy="274320"/>
          </a:xfrm>
          <a:prstGeom prst="rect">
            <a:avLst/>
          </a:prstGeom>
          <a:noFill/>
          <a:ln/>
        </p:spPr>
        <p:txBody>
          <a:bodyPr wrap="square" lIns="0" tIns="0" rIns="0" bIns="0" rtlCol="0" anchor="ctr"/>
          <a:lstStyle/>
          <a:p>
            <a:pPr indent="0" marL="0">
              <a:buNone/>
            </a:pPr>
            <a:r>
              <a:rPr lang="en-US" sz="1100" spc="300" kern="0" dirty="0">
                <a:solidFill>
                  <a:srgbClr val="A9A196"/>
                </a:solidFill>
                <a:latin typeface="Calibri" pitchFamily="34" charset="0"/>
                <a:ea typeface="Calibri" pitchFamily="34" charset="-122"/>
                <a:cs typeface="Calibri" pitchFamily="34" charset="-120"/>
              </a:rPr>
              <a:t>EHRLICH GERECHNET</a:t>
            </a:r>
            <a:endParaRPr lang="en-US" sz="1100" dirty="0"/>
          </a:p>
        </p:txBody>
      </p:sp>
      <p:sp>
        <p:nvSpPr>
          <p:cNvPr id="3" name="Text 1"/>
          <p:cNvSpPr/>
          <p:nvPr/>
        </p:nvSpPr>
        <p:spPr>
          <a:xfrm>
            <a:off x="640080" y="777240"/>
            <a:ext cx="10881360" cy="868680"/>
          </a:xfrm>
          <a:prstGeom prst="rect">
            <a:avLst/>
          </a:prstGeom>
          <a:noFill/>
          <a:ln/>
        </p:spPr>
        <p:txBody>
          <a:bodyPr wrap="square" lIns="0" tIns="0" rIns="0" bIns="0" rtlCol="0" anchor="t"/>
          <a:lstStyle/>
          <a:p>
            <a:pPr indent="0" marL="0">
              <a:buNone/>
            </a:pPr>
            <a:r>
              <a:rPr lang="en-US" sz="3800" dirty="0">
                <a:solidFill>
                  <a:srgbClr val="F0EBE2"/>
                </a:solidFill>
                <a:latin typeface="Cambria" pitchFamily="34" charset="0"/>
                <a:ea typeface="Cambria" pitchFamily="34" charset="-122"/>
                <a:cs typeface="Cambria" pitchFamily="34" charset="-120"/>
              </a:rPr>
              <a:t>Die erste Charge macht uns nicht reich</a:t>
            </a:r>
            <a:endParaRPr lang="en-US" sz="3800" dirty="0"/>
          </a:p>
        </p:txBody>
      </p:sp>
      <p:sp>
        <p:nvSpPr>
          <p:cNvPr id="4" name="Text 2"/>
          <p:cNvSpPr/>
          <p:nvPr/>
        </p:nvSpPr>
        <p:spPr>
          <a:xfrm>
            <a:off x="640080" y="1737360"/>
            <a:ext cx="10058400" cy="640080"/>
          </a:xfrm>
          <a:prstGeom prst="rect">
            <a:avLst/>
          </a:prstGeom>
          <a:noFill/>
          <a:ln/>
        </p:spPr>
        <p:txBody>
          <a:bodyPr wrap="square" lIns="0" tIns="0" rIns="0" bIns="0" rtlCol="0" anchor="ctr"/>
          <a:lstStyle/>
          <a:p>
            <a:pPr indent="0" marL="0">
              <a:lnSpc>
                <a:spcPts val="2200"/>
              </a:lnSpc>
              <a:buNone/>
            </a:pPr>
            <a:r>
              <a:rPr lang="en-US" sz="1700" dirty="0">
                <a:solidFill>
                  <a:srgbClr val="A9A196"/>
                </a:solidFill>
                <a:latin typeface="Calibri" pitchFamily="34" charset="0"/>
                <a:ea typeface="Calibri" pitchFamily="34" charset="-122"/>
                <a:cs typeface="Calibri" pitchFamily="34" charset="-120"/>
              </a:rPr>
              <a:t>Damit niemand nach drei Monaten enttäuscht ist: so sieht der beste realistische Fall aus.</a:t>
            </a:r>
            <a:endParaRPr lang="en-US" sz="1700" dirty="0"/>
          </a:p>
        </p:txBody>
      </p:sp>
      <p:sp>
        <p:nvSpPr>
          <p:cNvPr id="5" name="Shape 3"/>
          <p:cNvSpPr/>
          <p:nvPr/>
        </p:nvSpPr>
        <p:spPr>
          <a:xfrm>
            <a:off x="640080" y="2560320"/>
            <a:ext cx="3520440" cy="1691640"/>
          </a:xfrm>
          <a:prstGeom prst="rect">
            <a:avLst/>
          </a:prstGeom>
          <a:solidFill>
            <a:srgbClr val="241F1B"/>
          </a:solidFill>
          <a:ln w="9525">
            <a:solidFill>
              <a:srgbClr val="3A342C"/>
            </a:solidFill>
            <a:prstDash val="solid"/>
          </a:ln>
        </p:spPr>
      </p:sp>
      <p:sp>
        <p:nvSpPr>
          <p:cNvPr id="6" name="Text 4"/>
          <p:cNvSpPr/>
          <p:nvPr/>
        </p:nvSpPr>
        <p:spPr>
          <a:xfrm>
            <a:off x="914400" y="2816352"/>
            <a:ext cx="2971800" cy="237744"/>
          </a:xfrm>
          <a:prstGeom prst="rect">
            <a:avLst/>
          </a:prstGeom>
          <a:noFill/>
          <a:ln/>
        </p:spPr>
        <p:txBody>
          <a:bodyPr wrap="square" lIns="0" tIns="0" rIns="0" bIns="0" rtlCol="0" anchor="ctr"/>
          <a:lstStyle/>
          <a:p>
            <a:pPr indent="0" marL="0">
              <a:buNone/>
            </a:pPr>
            <a:r>
              <a:rPr lang="en-US" sz="1000" spc="200" kern="0" dirty="0">
                <a:solidFill>
                  <a:srgbClr val="A9A196"/>
                </a:solidFill>
                <a:latin typeface="Calibri" pitchFamily="34" charset="0"/>
                <a:ea typeface="Calibri" pitchFamily="34" charset="-122"/>
                <a:cs typeface="Calibri" pitchFamily="34" charset="-120"/>
              </a:rPr>
              <a:t>DECKUNGSBEITRAG GESAMT</a:t>
            </a:r>
            <a:endParaRPr lang="en-US" sz="1000" dirty="0"/>
          </a:p>
        </p:txBody>
      </p:sp>
      <p:sp>
        <p:nvSpPr>
          <p:cNvPr id="7" name="Text 5"/>
          <p:cNvSpPr/>
          <p:nvPr/>
        </p:nvSpPr>
        <p:spPr>
          <a:xfrm>
            <a:off x="914400" y="3090672"/>
            <a:ext cx="2971800" cy="548640"/>
          </a:xfrm>
          <a:prstGeom prst="rect">
            <a:avLst/>
          </a:prstGeom>
          <a:noFill/>
          <a:ln/>
        </p:spPr>
        <p:txBody>
          <a:bodyPr wrap="square" lIns="0" tIns="0" rIns="0" bIns="0" rtlCol="0" anchor="ctr"/>
          <a:lstStyle/>
          <a:p>
            <a:pPr indent="0" marL="0">
              <a:buNone/>
            </a:pPr>
            <a:r>
              <a:rPr lang="en-US" sz="3400" dirty="0">
                <a:solidFill>
                  <a:srgbClr val="F0EBE2"/>
                </a:solidFill>
                <a:latin typeface="Cambria" pitchFamily="34" charset="0"/>
                <a:ea typeface="Cambria" pitchFamily="34" charset="-122"/>
                <a:cs typeface="Cambria" pitchFamily="34" charset="-120"/>
              </a:rPr>
              <a:t>CHF 1'200</a:t>
            </a:r>
            <a:endParaRPr lang="en-US" sz="3400" dirty="0"/>
          </a:p>
        </p:txBody>
      </p:sp>
      <p:sp>
        <p:nvSpPr>
          <p:cNvPr id="8" name="Text 6"/>
          <p:cNvSpPr/>
          <p:nvPr/>
        </p:nvSpPr>
        <p:spPr>
          <a:xfrm>
            <a:off x="914400" y="3657600"/>
            <a:ext cx="2971800" cy="411480"/>
          </a:xfrm>
          <a:prstGeom prst="rect">
            <a:avLst/>
          </a:prstGeom>
          <a:noFill/>
          <a:ln/>
        </p:spPr>
        <p:txBody>
          <a:bodyPr wrap="square" lIns="0" tIns="0" rIns="0" bIns="0" rtlCol="0" anchor="t"/>
          <a:lstStyle/>
          <a:p>
            <a:pPr indent="0" marL="0">
              <a:lnSpc>
                <a:spcPts val="1500"/>
              </a:lnSpc>
              <a:buNone/>
            </a:pPr>
            <a:r>
              <a:rPr lang="en-US" sz="1200" dirty="0">
                <a:solidFill>
                  <a:srgbClr val="A9A196"/>
                </a:solidFill>
                <a:latin typeface="Calibri" pitchFamily="34" charset="0"/>
                <a:ea typeface="Calibri" pitchFamily="34" charset="-122"/>
                <a:cs typeface="Calibri" pitchFamily="34" charset="-120"/>
              </a:rPr>
              <a:t>über sechs Monate</a:t>
            </a:r>
            <a:endParaRPr lang="en-US" sz="1200" dirty="0"/>
          </a:p>
        </p:txBody>
      </p:sp>
      <p:sp>
        <p:nvSpPr>
          <p:cNvPr id="9" name="Shape 7"/>
          <p:cNvSpPr/>
          <p:nvPr/>
        </p:nvSpPr>
        <p:spPr>
          <a:xfrm>
            <a:off x="4315968" y="2560320"/>
            <a:ext cx="3520440" cy="1691640"/>
          </a:xfrm>
          <a:prstGeom prst="rect">
            <a:avLst/>
          </a:prstGeom>
          <a:solidFill>
            <a:srgbClr val="241F1B"/>
          </a:solidFill>
          <a:ln w="9525">
            <a:solidFill>
              <a:srgbClr val="3A342C"/>
            </a:solidFill>
            <a:prstDash val="solid"/>
          </a:ln>
        </p:spPr>
      </p:sp>
      <p:sp>
        <p:nvSpPr>
          <p:cNvPr id="10" name="Text 8"/>
          <p:cNvSpPr/>
          <p:nvPr/>
        </p:nvSpPr>
        <p:spPr>
          <a:xfrm>
            <a:off x="4590288" y="2816352"/>
            <a:ext cx="2971800" cy="237744"/>
          </a:xfrm>
          <a:prstGeom prst="rect">
            <a:avLst/>
          </a:prstGeom>
          <a:noFill/>
          <a:ln/>
        </p:spPr>
        <p:txBody>
          <a:bodyPr wrap="square" lIns="0" tIns="0" rIns="0" bIns="0" rtlCol="0" anchor="ctr"/>
          <a:lstStyle/>
          <a:p>
            <a:pPr indent="0" marL="0">
              <a:buNone/>
            </a:pPr>
            <a:r>
              <a:rPr lang="en-US" sz="1000" spc="200" kern="0" dirty="0">
                <a:solidFill>
                  <a:srgbClr val="A9A196"/>
                </a:solidFill>
                <a:latin typeface="Calibri" pitchFamily="34" charset="0"/>
                <a:ea typeface="Calibri" pitchFamily="34" charset="-122"/>
                <a:cs typeface="Calibri" pitchFamily="34" charset="-120"/>
              </a:rPr>
              <a:t>PRO KOPF</a:t>
            </a:r>
            <a:endParaRPr lang="en-US" sz="1000" dirty="0"/>
          </a:p>
        </p:txBody>
      </p:sp>
      <p:sp>
        <p:nvSpPr>
          <p:cNvPr id="11" name="Text 9"/>
          <p:cNvSpPr/>
          <p:nvPr/>
        </p:nvSpPr>
        <p:spPr>
          <a:xfrm>
            <a:off x="4590288" y="3090672"/>
            <a:ext cx="2971800" cy="548640"/>
          </a:xfrm>
          <a:prstGeom prst="rect">
            <a:avLst/>
          </a:prstGeom>
          <a:noFill/>
          <a:ln/>
        </p:spPr>
        <p:txBody>
          <a:bodyPr wrap="square" lIns="0" tIns="0" rIns="0" bIns="0" rtlCol="0" anchor="ctr"/>
          <a:lstStyle/>
          <a:p>
            <a:pPr indent="0" marL="0">
              <a:buNone/>
            </a:pPr>
            <a:r>
              <a:rPr lang="en-US" sz="3400" dirty="0">
                <a:solidFill>
                  <a:srgbClr val="F0EBE2"/>
                </a:solidFill>
                <a:latin typeface="Cambria" pitchFamily="34" charset="0"/>
                <a:ea typeface="Cambria" pitchFamily="34" charset="-122"/>
                <a:cs typeface="Cambria" pitchFamily="34" charset="-120"/>
              </a:rPr>
              <a:t>CHF 400</a:t>
            </a:r>
            <a:endParaRPr lang="en-US" sz="3400" dirty="0"/>
          </a:p>
        </p:txBody>
      </p:sp>
      <p:sp>
        <p:nvSpPr>
          <p:cNvPr id="12" name="Text 10"/>
          <p:cNvSpPr/>
          <p:nvPr/>
        </p:nvSpPr>
        <p:spPr>
          <a:xfrm>
            <a:off x="4590288" y="3657600"/>
            <a:ext cx="2971800" cy="411480"/>
          </a:xfrm>
          <a:prstGeom prst="rect">
            <a:avLst/>
          </a:prstGeom>
          <a:noFill/>
          <a:ln/>
        </p:spPr>
        <p:txBody>
          <a:bodyPr wrap="square" lIns="0" tIns="0" rIns="0" bIns="0" rtlCol="0" anchor="t"/>
          <a:lstStyle/>
          <a:p>
            <a:pPr indent="0" marL="0">
              <a:lnSpc>
                <a:spcPts val="1500"/>
              </a:lnSpc>
              <a:buNone/>
            </a:pPr>
            <a:r>
              <a:rPr lang="en-US" sz="1200" dirty="0">
                <a:solidFill>
                  <a:srgbClr val="A9A196"/>
                </a:solidFill>
                <a:latin typeface="Calibri" pitchFamily="34" charset="0"/>
                <a:ea typeface="Calibri" pitchFamily="34" charset="-122"/>
                <a:cs typeface="Calibri" pitchFamily="34" charset="-120"/>
              </a:rPr>
              <a:t>vor Steuern, nach 37 Arbeitsstunden</a:t>
            </a:r>
            <a:endParaRPr lang="en-US" sz="1200" dirty="0"/>
          </a:p>
        </p:txBody>
      </p:sp>
      <p:sp>
        <p:nvSpPr>
          <p:cNvPr id="13" name="Shape 11"/>
          <p:cNvSpPr/>
          <p:nvPr/>
        </p:nvSpPr>
        <p:spPr>
          <a:xfrm>
            <a:off x="8001000" y="2560320"/>
            <a:ext cx="3520440" cy="1691640"/>
          </a:xfrm>
          <a:prstGeom prst="rect">
            <a:avLst/>
          </a:prstGeom>
          <a:solidFill>
            <a:srgbClr val="241F1B"/>
          </a:solidFill>
          <a:ln w="9525">
            <a:solidFill>
              <a:srgbClr val="3A342C"/>
            </a:solidFill>
            <a:prstDash val="solid"/>
          </a:ln>
        </p:spPr>
      </p:sp>
      <p:sp>
        <p:nvSpPr>
          <p:cNvPr id="14" name="Text 12"/>
          <p:cNvSpPr/>
          <p:nvPr/>
        </p:nvSpPr>
        <p:spPr>
          <a:xfrm>
            <a:off x="8275320" y="2816352"/>
            <a:ext cx="2971800" cy="237744"/>
          </a:xfrm>
          <a:prstGeom prst="rect">
            <a:avLst/>
          </a:prstGeom>
          <a:noFill/>
          <a:ln/>
        </p:spPr>
        <p:txBody>
          <a:bodyPr wrap="square" lIns="0" tIns="0" rIns="0" bIns="0" rtlCol="0" anchor="ctr"/>
          <a:lstStyle/>
          <a:p>
            <a:pPr indent="0" marL="0">
              <a:buNone/>
            </a:pPr>
            <a:r>
              <a:rPr lang="en-US" sz="1000" spc="200" kern="0" dirty="0">
                <a:solidFill>
                  <a:srgbClr val="A9A196"/>
                </a:solidFill>
                <a:latin typeface="Calibri" pitchFamily="34" charset="0"/>
                <a:ea typeface="Calibri" pitchFamily="34" charset="-122"/>
                <a:cs typeface="Calibri" pitchFamily="34" charset="-120"/>
              </a:rPr>
              <a:t>WAS SIE WIRKLICH LIEFERT</a:t>
            </a:r>
            <a:endParaRPr lang="en-US" sz="1000" dirty="0"/>
          </a:p>
        </p:txBody>
      </p:sp>
      <p:sp>
        <p:nvSpPr>
          <p:cNvPr id="15" name="Text 13"/>
          <p:cNvSpPr/>
          <p:nvPr/>
        </p:nvSpPr>
        <p:spPr>
          <a:xfrm>
            <a:off x="8275320" y="3090672"/>
            <a:ext cx="2971800" cy="548640"/>
          </a:xfrm>
          <a:prstGeom prst="rect">
            <a:avLst/>
          </a:prstGeom>
          <a:noFill/>
          <a:ln/>
        </p:spPr>
        <p:txBody>
          <a:bodyPr wrap="square" lIns="0" tIns="0" rIns="0" bIns="0" rtlCol="0" anchor="ctr"/>
          <a:lstStyle/>
          <a:p>
            <a:pPr indent="0" marL="0">
              <a:buNone/>
            </a:pPr>
            <a:r>
              <a:rPr lang="en-US" sz="3400" dirty="0">
                <a:solidFill>
                  <a:srgbClr val="F0EBE2"/>
                </a:solidFill>
                <a:latin typeface="Cambria" pitchFamily="34" charset="0"/>
                <a:ea typeface="Cambria" pitchFamily="34" charset="-122"/>
                <a:cs typeface="Cambria" pitchFamily="34" charset="-120"/>
              </a:rPr>
              <a:t>Eine Zahl</a:t>
            </a:r>
            <a:endParaRPr lang="en-US" sz="3400" dirty="0"/>
          </a:p>
        </p:txBody>
      </p:sp>
      <p:sp>
        <p:nvSpPr>
          <p:cNvPr id="16" name="Text 14"/>
          <p:cNvSpPr/>
          <p:nvPr/>
        </p:nvSpPr>
        <p:spPr>
          <a:xfrm>
            <a:off x="8275320" y="3657600"/>
            <a:ext cx="2971800" cy="411480"/>
          </a:xfrm>
          <a:prstGeom prst="rect">
            <a:avLst/>
          </a:prstGeom>
          <a:noFill/>
          <a:ln/>
        </p:spPr>
        <p:txBody>
          <a:bodyPr wrap="square" lIns="0" tIns="0" rIns="0" bIns="0" rtlCol="0" anchor="t"/>
          <a:lstStyle/>
          <a:p>
            <a:pPr indent="0" marL="0">
              <a:lnSpc>
                <a:spcPts val="1500"/>
              </a:lnSpc>
              <a:buNone/>
            </a:pPr>
            <a:r>
              <a:rPr lang="en-US" sz="1200" dirty="0">
                <a:solidFill>
                  <a:srgbClr val="A9A196"/>
                </a:solidFill>
                <a:latin typeface="Calibri" pitchFamily="34" charset="0"/>
                <a:ea typeface="Calibri" pitchFamily="34" charset="-122"/>
                <a:cs typeface="Calibri" pitchFamily="34" charset="-120"/>
              </a:rPr>
              <a:t>die Durchverkaufsquote, die heute niemand kennt</a:t>
            </a:r>
            <a:endParaRPr lang="en-US" sz="1200" dirty="0"/>
          </a:p>
        </p:txBody>
      </p:sp>
      <p:sp>
        <p:nvSpPr>
          <p:cNvPr id="17" name="Shape 15"/>
          <p:cNvSpPr/>
          <p:nvPr/>
        </p:nvSpPr>
        <p:spPr>
          <a:xfrm>
            <a:off x="640080" y="4617720"/>
            <a:ext cx="10881360" cy="1554480"/>
          </a:xfrm>
          <a:prstGeom prst="rect">
            <a:avLst/>
          </a:prstGeom>
          <a:solidFill>
            <a:srgbClr val="C2AD8C"/>
          </a:solidFill>
          <a:ln/>
        </p:spPr>
      </p:sp>
      <p:sp>
        <p:nvSpPr>
          <p:cNvPr id="18" name="Text 16"/>
          <p:cNvSpPr/>
          <p:nvPr/>
        </p:nvSpPr>
        <p:spPr>
          <a:xfrm>
            <a:off x="1005840" y="4864608"/>
            <a:ext cx="10149840" cy="457200"/>
          </a:xfrm>
          <a:prstGeom prst="rect">
            <a:avLst/>
          </a:prstGeom>
          <a:noFill/>
          <a:ln/>
        </p:spPr>
        <p:txBody>
          <a:bodyPr wrap="square" lIns="0" tIns="0" rIns="0" bIns="0" rtlCol="0" anchor="ctr"/>
          <a:lstStyle/>
          <a:p>
            <a:pPr indent="0" marL="0">
              <a:buNone/>
            </a:pPr>
            <a:r>
              <a:rPr lang="en-US" sz="2400" dirty="0">
                <a:solidFill>
                  <a:srgbClr val="241F1B"/>
                </a:solidFill>
                <a:latin typeface="Cambria" pitchFamily="34" charset="0"/>
                <a:ea typeface="Cambria" pitchFamily="34" charset="-122"/>
                <a:cs typeface="Cambria" pitchFamily="34" charset="-120"/>
              </a:rPr>
              <a:t>Die erste Charge ist ein Messinstrument, kein Einkommen.</a:t>
            </a:r>
            <a:endParaRPr lang="en-US" sz="2400" dirty="0"/>
          </a:p>
        </p:txBody>
      </p:sp>
      <p:sp>
        <p:nvSpPr>
          <p:cNvPr id="19" name="Text 17"/>
          <p:cNvSpPr/>
          <p:nvPr/>
        </p:nvSpPr>
        <p:spPr>
          <a:xfrm>
            <a:off x="1005840" y="5376672"/>
            <a:ext cx="10149840" cy="548640"/>
          </a:xfrm>
          <a:prstGeom prst="rect">
            <a:avLst/>
          </a:prstGeom>
          <a:noFill/>
          <a:ln/>
        </p:spPr>
        <p:txBody>
          <a:bodyPr wrap="square" lIns="0" tIns="0" rIns="0" bIns="0" rtlCol="0" anchor="ctr"/>
          <a:lstStyle/>
          <a:p>
            <a:pPr indent="0" marL="0">
              <a:lnSpc>
                <a:spcPts val="1900"/>
              </a:lnSpc>
              <a:buNone/>
            </a:pPr>
            <a:r>
              <a:rPr lang="en-US" sz="1400" dirty="0">
                <a:solidFill>
                  <a:srgbClr val="3A2F22"/>
                </a:solidFill>
                <a:latin typeface="Calibri" pitchFamily="34" charset="0"/>
                <a:ea typeface="Calibri" pitchFamily="34" charset="-122"/>
                <a:cs typeface="Calibri" pitchFamily="34" charset="-120"/>
              </a:rPr>
              <a:t>Verdient wird ab Charge zwei — mit bekannter Quote und geschärften Kriterien. Wer die 400 Franken als Lohn betrachtet, hat den Zweck des Versuchs missverstanden.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640080" y="475488"/>
            <a:ext cx="10881360" cy="274320"/>
          </a:xfrm>
          <a:prstGeom prst="rect">
            <a:avLst/>
          </a:prstGeom>
          <a:noFill/>
          <a:ln/>
        </p:spPr>
        <p:txBody>
          <a:bodyPr wrap="square" lIns="0" tIns="0" rIns="0" bIns="0" rtlCol="0" anchor="ctr"/>
          <a:lstStyle/>
          <a:p>
            <a:pPr indent="0" marL="0">
              <a:buNone/>
            </a:pPr>
            <a:r>
              <a:rPr lang="en-US" sz="1100" spc="300" kern="0" dirty="0">
                <a:solidFill>
                  <a:srgbClr val="9A938A"/>
                </a:solidFill>
                <a:latin typeface="Calibri" pitchFamily="34" charset="0"/>
                <a:ea typeface="Calibri" pitchFamily="34" charset="-122"/>
                <a:cs typeface="Calibri" pitchFamily="34" charset="-120"/>
              </a:rPr>
              <a:t>DER VERKAUF</a:t>
            </a:r>
            <a:endParaRPr lang="en-US" sz="1100" dirty="0"/>
          </a:p>
        </p:txBody>
      </p:sp>
      <p:sp>
        <p:nvSpPr>
          <p:cNvPr id="3" name="Text 1"/>
          <p:cNvSpPr/>
          <p:nvPr/>
        </p:nvSpPr>
        <p:spPr>
          <a:xfrm>
            <a:off x="640080" y="777240"/>
            <a:ext cx="10881360" cy="868680"/>
          </a:xfrm>
          <a:prstGeom prst="rect">
            <a:avLst/>
          </a:prstGeom>
          <a:noFill/>
          <a:ln/>
        </p:spPr>
        <p:txBody>
          <a:bodyPr wrap="square" lIns="0" tIns="0" rIns="0" bIns="0" rtlCol="0" anchor="t"/>
          <a:lstStyle/>
          <a:p>
            <a:pPr indent="0" marL="0">
              <a:buNone/>
            </a:pPr>
            <a:r>
              <a:rPr lang="en-US" sz="3800" dirty="0">
                <a:solidFill>
                  <a:srgbClr val="1A1917"/>
                </a:solidFill>
                <a:latin typeface="Cambria" pitchFamily="34" charset="0"/>
                <a:ea typeface="Cambria" pitchFamily="34" charset="-122"/>
                <a:cs typeface="Cambria" pitchFamily="34" charset="-120"/>
              </a:rPr>
              <a:t>20 Stück im eigenen Shop, 10 auf Ricardo</a:t>
            </a:r>
            <a:endParaRPr lang="en-US" sz="3800" dirty="0"/>
          </a:p>
        </p:txBody>
      </p:sp>
      <p:sp>
        <p:nvSpPr>
          <p:cNvPr id="4" name="Text 2"/>
          <p:cNvSpPr/>
          <p:nvPr/>
        </p:nvSpPr>
        <p:spPr>
          <a:xfrm>
            <a:off x="640080" y="1664208"/>
            <a:ext cx="10058400" cy="640080"/>
          </a:xfrm>
          <a:prstGeom prst="rect">
            <a:avLst/>
          </a:prstGeom>
          <a:noFill/>
          <a:ln/>
        </p:spPr>
        <p:txBody>
          <a:bodyPr wrap="square" lIns="0" tIns="0" rIns="0" bIns="0" rtlCol="0" anchor="ctr"/>
          <a:lstStyle/>
          <a:p>
            <a:pPr indent="0" marL="0">
              <a:lnSpc>
                <a:spcPts val="2200"/>
              </a:lnSpc>
              <a:buNone/>
            </a:pPr>
            <a:r>
              <a:rPr lang="en-US" sz="1600" dirty="0">
                <a:solidFill>
                  <a:srgbClr val="6B655C"/>
                </a:solidFill>
                <a:latin typeface="Calibri" pitchFamily="34" charset="0"/>
                <a:ea typeface="Calibri" pitchFamily="34" charset="-122"/>
                <a:cs typeface="Calibri" pitchFamily="34" charset="-120"/>
              </a:rPr>
              <a:t>Eine neue Website hat am ersten Tag null Besucher. Verkaufen wir dann wenig, wissen wir nicht, ob der Einkauf schlecht war oder ob schlicht niemand da war — und genau dafür machen wir den Versuch.</a:t>
            </a:r>
            <a:endParaRPr lang="en-US" sz="1600" dirty="0"/>
          </a:p>
        </p:txBody>
      </p:sp>
      <p:sp>
        <p:nvSpPr>
          <p:cNvPr id="5" name="Shape 3"/>
          <p:cNvSpPr/>
          <p:nvPr/>
        </p:nvSpPr>
        <p:spPr>
          <a:xfrm>
            <a:off x="640080" y="2651760"/>
            <a:ext cx="5349240" cy="2514600"/>
          </a:xfrm>
          <a:prstGeom prst="rect">
            <a:avLst/>
          </a:prstGeom>
          <a:solidFill>
            <a:srgbClr val="FFFFFF"/>
          </a:solidFill>
          <a:ln w="9525">
            <a:solidFill>
              <a:srgbClr val="E4DED3"/>
            </a:solidFill>
            <a:prstDash val="solid"/>
          </a:ln>
        </p:spPr>
      </p:sp>
      <p:sp>
        <p:nvSpPr>
          <p:cNvPr id="6" name="Text 4"/>
          <p:cNvSpPr/>
          <p:nvPr/>
        </p:nvSpPr>
        <p:spPr>
          <a:xfrm>
            <a:off x="932688" y="2889504"/>
            <a:ext cx="4764024" cy="219456"/>
          </a:xfrm>
          <a:prstGeom prst="rect">
            <a:avLst/>
          </a:prstGeom>
          <a:noFill/>
          <a:ln/>
        </p:spPr>
        <p:txBody>
          <a:bodyPr wrap="square" lIns="0" tIns="0" rIns="0" bIns="0" rtlCol="0" anchor="ctr"/>
          <a:lstStyle/>
          <a:p>
            <a:pPr indent="0" marL="0">
              <a:buNone/>
            </a:pPr>
            <a:r>
              <a:rPr lang="en-US" sz="1000" spc="200" kern="0" dirty="0">
                <a:solidFill>
                  <a:srgbClr val="C2AD8C"/>
                </a:solidFill>
                <a:latin typeface="Calibri" pitchFamily="34" charset="0"/>
                <a:ea typeface="Calibri" pitchFamily="34" charset="-122"/>
                <a:cs typeface="Calibri" pitchFamily="34" charset="-120"/>
              </a:rPr>
              <a:t>20 STÜCK</a:t>
            </a:r>
            <a:endParaRPr lang="en-US" sz="1000" dirty="0"/>
          </a:p>
        </p:txBody>
      </p:sp>
      <p:sp>
        <p:nvSpPr>
          <p:cNvPr id="7" name="Text 5"/>
          <p:cNvSpPr/>
          <p:nvPr/>
        </p:nvSpPr>
        <p:spPr>
          <a:xfrm>
            <a:off x="932688" y="3163824"/>
            <a:ext cx="4764024" cy="438912"/>
          </a:xfrm>
          <a:prstGeom prst="rect">
            <a:avLst/>
          </a:prstGeom>
          <a:noFill/>
          <a:ln/>
        </p:spPr>
        <p:txBody>
          <a:bodyPr wrap="square" lIns="0" tIns="0" rIns="0" bIns="0" rtlCol="0" anchor="ctr"/>
          <a:lstStyle/>
          <a:p>
            <a:pPr indent="0" marL="0">
              <a:buNone/>
            </a:pPr>
            <a:r>
              <a:rPr lang="en-US" sz="2400" dirty="0">
                <a:solidFill>
                  <a:srgbClr val="1A1917"/>
                </a:solidFill>
                <a:latin typeface="Cambria" pitchFamily="34" charset="0"/>
                <a:ea typeface="Cambria" pitchFamily="34" charset="-122"/>
                <a:cs typeface="Cambria" pitchFamily="34" charset="-120"/>
              </a:rPr>
              <a:t>Eigener Shop</a:t>
            </a:r>
            <a:endParaRPr lang="en-US" sz="2400" dirty="0"/>
          </a:p>
        </p:txBody>
      </p:sp>
      <p:sp>
        <p:nvSpPr>
          <p:cNvPr id="8" name="Text 6"/>
          <p:cNvSpPr/>
          <p:nvPr/>
        </p:nvSpPr>
        <p:spPr>
          <a:xfrm>
            <a:off x="932688" y="3694176"/>
            <a:ext cx="4764024" cy="1252728"/>
          </a:xfrm>
          <a:prstGeom prst="rect">
            <a:avLst/>
          </a:prstGeom>
          <a:noFill/>
          <a:ln/>
        </p:spPr>
        <p:txBody>
          <a:bodyPr wrap="square" lIns="0" tIns="0" rIns="0" bIns="0" rtlCol="0" anchor="t"/>
          <a:lstStyle/>
          <a:p>
            <a:pPr indent="0" marL="0">
              <a:lnSpc>
                <a:spcPts val="1900"/>
              </a:lnSpc>
              <a:buNone/>
            </a:pPr>
            <a:r>
              <a:rPr lang="en-US" sz="1350" dirty="0">
                <a:solidFill>
                  <a:srgbClr val="6B655C"/>
                </a:solidFill>
                <a:latin typeface="Calibri" pitchFamily="34" charset="0"/>
                <a:ea typeface="Calibri" pitchFamily="34" charset="-122"/>
                <a:cs typeface="Calibri" pitchFamily="34" charset="-120"/>
              </a:rPr>
              <a:t>Eigene Marke, eigene Kunden, keine Plattformgebühr. Zahlung über Stripe: TWINT 1.9 % plus 30 Rappen, Karten 2.9 % plus 30 Rappen, keine Grundgebühr. Instagram läuft ab Woche 1 mit, nicht erst zum Launch.</a:t>
            </a:r>
            <a:endParaRPr lang="en-US" sz="1350" dirty="0"/>
          </a:p>
        </p:txBody>
      </p:sp>
      <p:sp>
        <p:nvSpPr>
          <p:cNvPr id="9" name="Shape 7"/>
          <p:cNvSpPr/>
          <p:nvPr/>
        </p:nvSpPr>
        <p:spPr>
          <a:xfrm>
            <a:off x="6172200" y="2651760"/>
            <a:ext cx="5349240" cy="2514600"/>
          </a:xfrm>
          <a:prstGeom prst="rect">
            <a:avLst/>
          </a:prstGeom>
          <a:solidFill>
            <a:srgbClr val="FFFFFF"/>
          </a:solidFill>
          <a:ln w="9525">
            <a:solidFill>
              <a:srgbClr val="E4DED3"/>
            </a:solidFill>
            <a:prstDash val="solid"/>
          </a:ln>
        </p:spPr>
      </p:sp>
      <p:sp>
        <p:nvSpPr>
          <p:cNvPr id="10" name="Text 8"/>
          <p:cNvSpPr/>
          <p:nvPr/>
        </p:nvSpPr>
        <p:spPr>
          <a:xfrm>
            <a:off x="6464808" y="2889504"/>
            <a:ext cx="4764024" cy="219456"/>
          </a:xfrm>
          <a:prstGeom prst="rect">
            <a:avLst/>
          </a:prstGeom>
          <a:noFill/>
          <a:ln/>
        </p:spPr>
        <p:txBody>
          <a:bodyPr wrap="square" lIns="0" tIns="0" rIns="0" bIns="0" rtlCol="0" anchor="ctr"/>
          <a:lstStyle/>
          <a:p>
            <a:pPr indent="0" marL="0">
              <a:buNone/>
            </a:pPr>
            <a:r>
              <a:rPr lang="en-US" sz="1000" spc="200" kern="0" dirty="0">
                <a:solidFill>
                  <a:srgbClr val="C2AD8C"/>
                </a:solidFill>
                <a:latin typeface="Calibri" pitchFamily="34" charset="0"/>
                <a:ea typeface="Calibri" pitchFamily="34" charset="-122"/>
                <a:cs typeface="Calibri" pitchFamily="34" charset="-120"/>
              </a:rPr>
              <a:t>10 STÜCK · KONTROLLGRUPPE</a:t>
            </a:r>
            <a:endParaRPr lang="en-US" sz="1000" dirty="0"/>
          </a:p>
        </p:txBody>
      </p:sp>
      <p:sp>
        <p:nvSpPr>
          <p:cNvPr id="11" name="Text 9"/>
          <p:cNvSpPr/>
          <p:nvPr/>
        </p:nvSpPr>
        <p:spPr>
          <a:xfrm>
            <a:off x="6464808" y="3163824"/>
            <a:ext cx="4764024" cy="438912"/>
          </a:xfrm>
          <a:prstGeom prst="rect">
            <a:avLst/>
          </a:prstGeom>
          <a:noFill/>
          <a:ln/>
        </p:spPr>
        <p:txBody>
          <a:bodyPr wrap="square" lIns="0" tIns="0" rIns="0" bIns="0" rtlCol="0" anchor="ctr"/>
          <a:lstStyle/>
          <a:p>
            <a:pPr indent="0" marL="0">
              <a:buNone/>
            </a:pPr>
            <a:r>
              <a:rPr lang="en-US" sz="2400" dirty="0">
                <a:solidFill>
                  <a:srgbClr val="1A1917"/>
                </a:solidFill>
                <a:latin typeface="Cambria" pitchFamily="34" charset="0"/>
                <a:ea typeface="Cambria" pitchFamily="34" charset="-122"/>
                <a:cs typeface="Cambria" pitchFamily="34" charset="-120"/>
              </a:rPr>
              <a:t>Ricardo</a:t>
            </a:r>
            <a:endParaRPr lang="en-US" sz="2400" dirty="0"/>
          </a:p>
        </p:txBody>
      </p:sp>
      <p:sp>
        <p:nvSpPr>
          <p:cNvPr id="12" name="Text 10"/>
          <p:cNvSpPr/>
          <p:nvPr/>
        </p:nvSpPr>
        <p:spPr>
          <a:xfrm>
            <a:off x="6464808" y="3694176"/>
            <a:ext cx="4764024" cy="1252728"/>
          </a:xfrm>
          <a:prstGeom prst="rect">
            <a:avLst/>
          </a:prstGeom>
          <a:noFill/>
          <a:ln/>
        </p:spPr>
        <p:txBody>
          <a:bodyPr wrap="square" lIns="0" tIns="0" rIns="0" bIns="0" rtlCol="0" anchor="t"/>
          <a:lstStyle/>
          <a:p>
            <a:pPr indent="0" marL="0">
              <a:lnSpc>
                <a:spcPts val="1900"/>
              </a:lnSpc>
              <a:buNone/>
            </a:pPr>
            <a:r>
              <a:rPr lang="en-US" sz="1350" dirty="0">
                <a:solidFill>
                  <a:srgbClr val="6B655C"/>
                </a:solidFill>
                <a:latin typeface="Calibri" pitchFamily="34" charset="0"/>
                <a:ea typeface="Calibri" pitchFamily="34" charset="-122"/>
                <a:cs typeface="Calibri" pitchFamily="34" charset="-120"/>
              </a:rPr>
              <a:t>Gleiche Preise, quer durch Marken und Preislagen ausgewählt. Ricardo hat die Nachfrage, die wir noch nicht haben. Wer hier die Ladenhüter abschiebt, macht die Messung wertlos.</a:t>
            </a:r>
            <a:endParaRPr lang="en-US" sz="1350" dirty="0"/>
          </a:p>
        </p:txBody>
      </p:sp>
      <p:sp>
        <p:nvSpPr>
          <p:cNvPr id="13" name="Shape 11"/>
          <p:cNvSpPr/>
          <p:nvPr/>
        </p:nvSpPr>
        <p:spPr>
          <a:xfrm>
            <a:off x="640080" y="5394960"/>
            <a:ext cx="10881360" cy="914400"/>
          </a:xfrm>
          <a:prstGeom prst="rect">
            <a:avLst/>
          </a:prstGeom>
          <a:solidFill>
            <a:srgbClr val="F1EDE6"/>
          </a:solidFill>
          <a:ln/>
        </p:spPr>
      </p:sp>
      <p:sp>
        <p:nvSpPr>
          <p:cNvPr id="14" name="Text 12"/>
          <p:cNvSpPr/>
          <p:nvPr/>
        </p:nvSpPr>
        <p:spPr>
          <a:xfrm>
            <a:off x="960120" y="5577840"/>
            <a:ext cx="10241280" cy="594360"/>
          </a:xfrm>
          <a:prstGeom prst="rect">
            <a:avLst/>
          </a:prstGeom>
          <a:noFill/>
          <a:ln/>
        </p:spPr>
        <p:txBody>
          <a:bodyPr wrap="square" lIns="0" tIns="0" rIns="0" bIns="0" rtlCol="0" anchor="ctr"/>
          <a:lstStyle/>
          <a:p>
            <a:pPr indent="0" marL="0">
              <a:lnSpc>
                <a:spcPts val="1900"/>
              </a:lnSpc>
              <a:buNone/>
            </a:pPr>
            <a:r>
              <a:rPr lang="en-US" sz="1400" dirty="0">
                <a:solidFill>
                  <a:srgbClr val="1A1917"/>
                </a:solidFill>
                <a:latin typeface="Calibri" pitchFamily="34" charset="0"/>
                <a:ea typeface="Calibri" pitchFamily="34" charset="-122"/>
                <a:cs typeface="Calibri" pitchFamily="34" charset="-120"/>
              </a:rPr>
              <a:t>Nach 90 Tagen: verkauft Ricardo deutlich besser, ist unser Problem die Reichweite und der Einkauf stimmt. Verkauft Ricardo auch schlecht, war der Einkauf falsch — und die schönste Website hätte daran nichts geändert.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640080" y="475488"/>
            <a:ext cx="10881360" cy="274320"/>
          </a:xfrm>
          <a:prstGeom prst="rect">
            <a:avLst/>
          </a:prstGeom>
          <a:noFill/>
          <a:ln/>
        </p:spPr>
        <p:txBody>
          <a:bodyPr wrap="square" lIns="0" tIns="0" rIns="0" bIns="0" rtlCol="0" anchor="ctr"/>
          <a:lstStyle/>
          <a:p>
            <a:pPr indent="0" marL="0">
              <a:buNone/>
            </a:pPr>
            <a:r>
              <a:rPr lang="en-US" sz="1100" spc="300" kern="0" dirty="0">
                <a:solidFill>
                  <a:srgbClr val="9A938A"/>
                </a:solidFill>
                <a:latin typeface="Calibri" pitchFamily="34" charset="0"/>
                <a:ea typeface="Calibri" pitchFamily="34" charset="-122"/>
                <a:cs typeface="Calibri" pitchFamily="34" charset="-120"/>
              </a:rPr>
              <a:t>DIE ROLLEN</a:t>
            </a:r>
            <a:endParaRPr lang="en-US" sz="1100" dirty="0"/>
          </a:p>
        </p:txBody>
      </p:sp>
      <p:sp>
        <p:nvSpPr>
          <p:cNvPr id="3" name="Text 1"/>
          <p:cNvSpPr/>
          <p:nvPr/>
        </p:nvSpPr>
        <p:spPr>
          <a:xfrm>
            <a:off x="640080" y="777240"/>
            <a:ext cx="10881360" cy="868680"/>
          </a:xfrm>
          <a:prstGeom prst="rect">
            <a:avLst/>
          </a:prstGeom>
          <a:noFill/>
          <a:ln/>
        </p:spPr>
        <p:txBody>
          <a:bodyPr wrap="square" lIns="0" tIns="0" rIns="0" bIns="0" rtlCol="0" anchor="t"/>
          <a:lstStyle/>
          <a:p>
            <a:pPr indent="0" marL="0">
              <a:buNone/>
            </a:pPr>
            <a:r>
              <a:rPr lang="en-US" sz="3800" dirty="0">
                <a:solidFill>
                  <a:srgbClr val="1A1917"/>
                </a:solidFill>
                <a:latin typeface="Cambria" pitchFamily="34" charset="0"/>
                <a:ea typeface="Cambria" pitchFamily="34" charset="-122"/>
                <a:cs typeface="Cambria" pitchFamily="34" charset="-120"/>
              </a:rPr>
              <a:t>Wer macht was — und wie viel</a:t>
            </a:r>
            <a:endParaRPr lang="en-US" sz="3800" dirty="0"/>
          </a:p>
        </p:txBody>
      </p:sp>
      <p:sp>
        <p:nvSpPr>
          <p:cNvPr id="4" name="Text 2"/>
          <p:cNvSpPr/>
          <p:nvPr/>
        </p:nvSpPr>
        <p:spPr>
          <a:xfrm>
            <a:off x="640080" y="1664208"/>
            <a:ext cx="10058400" cy="640080"/>
          </a:xfrm>
          <a:prstGeom prst="rect">
            <a:avLst/>
          </a:prstGeom>
          <a:noFill/>
          <a:ln/>
        </p:spPr>
        <p:txBody>
          <a:bodyPr wrap="square" lIns="0" tIns="0" rIns="0" bIns="0" rtlCol="0" anchor="ctr"/>
          <a:lstStyle/>
          <a:p>
            <a:pPr indent="0" marL="0">
              <a:lnSpc>
                <a:spcPts val="2200"/>
              </a:lnSpc>
              <a:buNone/>
            </a:pPr>
            <a:r>
              <a:rPr lang="en-US" sz="1600" dirty="0">
                <a:solidFill>
                  <a:srgbClr val="6B655C"/>
                </a:solidFill>
                <a:latin typeface="Calibri" pitchFamily="34" charset="0"/>
                <a:ea typeface="Calibri" pitchFamily="34" charset="-122"/>
                <a:cs typeface="Calibri" pitchFamily="34" charset="-120"/>
              </a:rPr>
              <a:t>Ungleiche Zeit ist kein Problem. Ungeklärte Erwartung schon. Deshalb steht hier, womit jeder rechnen kann.</a:t>
            </a:r>
            <a:endParaRPr lang="en-US" sz="1600" dirty="0"/>
          </a:p>
        </p:txBody>
      </p:sp>
      <p:sp>
        <p:nvSpPr>
          <p:cNvPr id="5" name="Shape 3"/>
          <p:cNvSpPr/>
          <p:nvPr/>
        </p:nvSpPr>
        <p:spPr>
          <a:xfrm>
            <a:off x="640080" y="2651760"/>
            <a:ext cx="3429000" cy="3291840"/>
          </a:xfrm>
          <a:prstGeom prst="rect">
            <a:avLst/>
          </a:prstGeom>
          <a:solidFill>
            <a:srgbClr val="FFFFFF"/>
          </a:solidFill>
          <a:ln w="9525">
            <a:solidFill>
              <a:srgbClr val="E4DED3"/>
            </a:solidFill>
            <a:prstDash val="solid"/>
          </a:ln>
        </p:spPr>
      </p:sp>
      <p:sp>
        <p:nvSpPr>
          <p:cNvPr id="6" name="Text 4"/>
          <p:cNvSpPr/>
          <p:nvPr/>
        </p:nvSpPr>
        <p:spPr>
          <a:xfrm>
            <a:off x="932688" y="2889504"/>
            <a:ext cx="2843784" cy="219456"/>
          </a:xfrm>
          <a:prstGeom prst="rect">
            <a:avLst/>
          </a:prstGeom>
          <a:noFill/>
          <a:ln/>
        </p:spPr>
        <p:txBody>
          <a:bodyPr wrap="square" lIns="0" tIns="0" rIns="0" bIns="0" rtlCol="0" anchor="ctr"/>
          <a:lstStyle/>
          <a:p>
            <a:pPr indent="0" marL="0">
              <a:buNone/>
            </a:pPr>
            <a:r>
              <a:rPr lang="en-US" sz="1000" spc="200" kern="0" dirty="0">
                <a:solidFill>
                  <a:srgbClr val="C2AD8C"/>
                </a:solidFill>
                <a:latin typeface="Calibri" pitchFamily="34" charset="0"/>
                <a:ea typeface="Calibri" pitchFamily="34" charset="-122"/>
                <a:cs typeface="Calibri" pitchFamily="34" charset="-120"/>
              </a:rPr>
              <a:t>MOTOR</a:t>
            </a:r>
            <a:endParaRPr lang="en-US" sz="1000" dirty="0"/>
          </a:p>
        </p:txBody>
      </p:sp>
      <p:sp>
        <p:nvSpPr>
          <p:cNvPr id="7" name="Text 5"/>
          <p:cNvSpPr/>
          <p:nvPr/>
        </p:nvSpPr>
        <p:spPr>
          <a:xfrm>
            <a:off x="932688" y="3163824"/>
            <a:ext cx="2843784" cy="502920"/>
          </a:xfrm>
          <a:prstGeom prst="rect">
            <a:avLst/>
          </a:prstGeom>
          <a:noFill/>
          <a:ln/>
        </p:spPr>
        <p:txBody>
          <a:bodyPr wrap="square" lIns="0" tIns="0" rIns="0" bIns="0" rtlCol="0" anchor="ctr"/>
          <a:lstStyle/>
          <a:p>
            <a:pPr indent="0" marL="0">
              <a:buNone/>
            </a:pPr>
            <a:r>
              <a:rPr lang="en-US" sz="2800" dirty="0">
                <a:solidFill>
                  <a:srgbClr val="1A1917"/>
                </a:solidFill>
                <a:latin typeface="Cambria" pitchFamily="34" charset="0"/>
                <a:ea typeface="Cambria" pitchFamily="34" charset="-122"/>
                <a:cs typeface="Cambria" pitchFamily="34" charset="-120"/>
              </a:rPr>
              <a:t>Jan</a:t>
            </a:r>
            <a:endParaRPr lang="en-US" sz="2800" dirty="0"/>
          </a:p>
        </p:txBody>
      </p:sp>
      <p:sp>
        <p:nvSpPr>
          <p:cNvPr id="8" name="Text 6"/>
          <p:cNvSpPr/>
          <p:nvPr/>
        </p:nvSpPr>
        <p:spPr>
          <a:xfrm>
            <a:off x="932688" y="3758184"/>
            <a:ext cx="2843784" cy="256032"/>
          </a:xfrm>
          <a:prstGeom prst="rect">
            <a:avLst/>
          </a:prstGeom>
          <a:noFill/>
          <a:ln/>
        </p:spPr>
        <p:txBody>
          <a:bodyPr wrap="square" lIns="0" tIns="0" rIns="0" bIns="0" rtlCol="0" anchor="ctr"/>
          <a:lstStyle/>
          <a:p>
            <a:pPr indent="0" marL="0">
              <a:buNone/>
            </a:pPr>
            <a:r>
              <a:rPr lang="en-US" sz="1300" b="1" dirty="0">
                <a:solidFill>
                  <a:srgbClr val="1A1917"/>
                </a:solidFill>
                <a:latin typeface="Calibri" pitchFamily="34" charset="0"/>
                <a:ea typeface="Calibri" pitchFamily="34" charset="-122"/>
                <a:cs typeface="Calibri" pitchFamily="34" charset="-120"/>
              </a:rPr>
              <a:t>15 h / Woche</a:t>
            </a:r>
            <a:endParaRPr lang="en-US" sz="1300" dirty="0"/>
          </a:p>
        </p:txBody>
      </p:sp>
      <p:sp>
        <p:nvSpPr>
          <p:cNvPr id="9" name="Text 7"/>
          <p:cNvSpPr/>
          <p:nvPr/>
        </p:nvSpPr>
        <p:spPr>
          <a:xfrm>
            <a:off x="932688" y="4069080"/>
            <a:ext cx="2843784" cy="1655064"/>
          </a:xfrm>
          <a:prstGeom prst="rect">
            <a:avLst/>
          </a:prstGeom>
          <a:noFill/>
          <a:ln/>
        </p:spPr>
        <p:txBody>
          <a:bodyPr wrap="square" lIns="0" tIns="0" rIns="0" bIns="0" rtlCol="0" anchor="t"/>
          <a:lstStyle/>
          <a:p>
            <a:pPr indent="0" marL="0">
              <a:lnSpc>
                <a:spcPts val="1900"/>
              </a:lnSpc>
              <a:buNone/>
            </a:pPr>
            <a:r>
              <a:rPr lang="en-US" sz="1350" dirty="0">
                <a:solidFill>
                  <a:srgbClr val="6B655C"/>
                </a:solidFill>
                <a:latin typeface="Calibri" pitchFamily="34" charset="0"/>
                <a:ea typeface="Calibri" pitchFamily="34" charset="-122"/>
                <a:cs typeface="Calibri" pitchFamily="34" charset="-120"/>
              </a:rPr>
              <a:t>Alles mit Termindruck: Einkauf, Aufbereitung, Fotografie, Shop-Inhalte, Zahlen, RAV. Hat aktuell am meisten Zeit und macht es gern.</a:t>
            </a:r>
            <a:endParaRPr lang="en-US" sz="1350" dirty="0"/>
          </a:p>
        </p:txBody>
      </p:sp>
      <p:sp>
        <p:nvSpPr>
          <p:cNvPr id="10" name="Shape 8"/>
          <p:cNvSpPr/>
          <p:nvPr/>
        </p:nvSpPr>
        <p:spPr>
          <a:xfrm>
            <a:off x="4343400" y="2651760"/>
            <a:ext cx="3429000" cy="3291840"/>
          </a:xfrm>
          <a:prstGeom prst="rect">
            <a:avLst/>
          </a:prstGeom>
          <a:solidFill>
            <a:srgbClr val="FFFFFF"/>
          </a:solidFill>
          <a:ln w="9525">
            <a:solidFill>
              <a:srgbClr val="E4DED3"/>
            </a:solidFill>
            <a:prstDash val="solid"/>
          </a:ln>
        </p:spPr>
      </p:sp>
      <p:sp>
        <p:nvSpPr>
          <p:cNvPr id="11" name="Text 9"/>
          <p:cNvSpPr/>
          <p:nvPr/>
        </p:nvSpPr>
        <p:spPr>
          <a:xfrm>
            <a:off x="4636008" y="2889504"/>
            <a:ext cx="2843784" cy="219456"/>
          </a:xfrm>
          <a:prstGeom prst="rect">
            <a:avLst/>
          </a:prstGeom>
          <a:noFill/>
          <a:ln/>
        </p:spPr>
        <p:txBody>
          <a:bodyPr wrap="square" lIns="0" tIns="0" rIns="0" bIns="0" rtlCol="0" anchor="ctr"/>
          <a:lstStyle/>
          <a:p>
            <a:pPr indent="0" marL="0">
              <a:buNone/>
            </a:pPr>
            <a:r>
              <a:rPr lang="en-US" sz="1000" spc="200" kern="0" dirty="0">
                <a:solidFill>
                  <a:srgbClr val="C2AD8C"/>
                </a:solidFill>
                <a:latin typeface="Calibri" pitchFamily="34" charset="0"/>
                <a:ea typeface="Calibri" pitchFamily="34" charset="-122"/>
                <a:cs typeface="Calibri" pitchFamily="34" charset="-120"/>
              </a:rPr>
              <a:t>HANDEL</a:t>
            </a:r>
            <a:endParaRPr lang="en-US" sz="1000" dirty="0"/>
          </a:p>
        </p:txBody>
      </p:sp>
      <p:sp>
        <p:nvSpPr>
          <p:cNvPr id="12" name="Text 10"/>
          <p:cNvSpPr/>
          <p:nvPr/>
        </p:nvSpPr>
        <p:spPr>
          <a:xfrm>
            <a:off x="4636008" y="3163824"/>
            <a:ext cx="2843784" cy="502920"/>
          </a:xfrm>
          <a:prstGeom prst="rect">
            <a:avLst/>
          </a:prstGeom>
          <a:noFill/>
          <a:ln/>
        </p:spPr>
        <p:txBody>
          <a:bodyPr wrap="square" lIns="0" tIns="0" rIns="0" bIns="0" rtlCol="0" anchor="ctr"/>
          <a:lstStyle/>
          <a:p>
            <a:pPr indent="0" marL="0">
              <a:buNone/>
            </a:pPr>
            <a:r>
              <a:rPr lang="en-US" sz="2800" dirty="0">
                <a:solidFill>
                  <a:srgbClr val="1A1917"/>
                </a:solidFill>
                <a:latin typeface="Cambria" pitchFamily="34" charset="0"/>
                <a:ea typeface="Cambria" pitchFamily="34" charset="-122"/>
                <a:cs typeface="Cambria" pitchFamily="34" charset="-120"/>
              </a:rPr>
              <a:t>Luan</a:t>
            </a:r>
            <a:endParaRPr lang="en-US" sz="2800" dirty="0"/>
          </a:p>
        </p:txBody>
      </p:sp>
      <p:sp>
        <p:nvSpPr>
          <p:cNvPr id="13" name="Text 11"/>
          <p:cNvSpPr/>
          <p:nvPr/>
        </p:nvSpPr>
        <p:spPr>
          <a:xfrm>
            <a:off x="4636008" y="3758184"/>
            <a:ext cx="2843784" cy="256032"/>
          </a:xfrm>
          <a:prstGeom prst="rect">
            <a:avLst/>
          </a:prstGeom>
          <a:noFill/>
          <a:ln/>
        </p:spPr>
        <p:txBody>
          <a:bodyPr wrap="square" lIns="0" tIns="0" rIns="0" bIns="0" rtlCol="0" anchor="ctr"/>
          <a:lstStyle/>
          <a:p>
            <a:pPr indent="0" marL="0">
              <a:buNone/>
            </a:pPr>
            <a:r>
              <a:rPr lang="en-US" sz="1300" b="1" dirty="0">
                <a:solidFill>
                  <a:srgbClr val="1A1917"/>
                </a:solidFill>
                <a:latin typeface="Calibri" pitchFamily="34" charset="0"/>
                <a:ea typeface="Calibri" pitchFamily="34" charset="-122"/>
                <a:cs typeface="Calibri" pitchFamily="34" charset="-120"/>
              </a:rPr>
              <a:t>5 h / Woche</a:t>
            </a:r>
            <a:endParaRPr lang="en-US" sz="1300" dirty="0"/>
          </a:p>
        </p:txBody>
      </p:sp>
      <p:sp>
        <p:nvSpPr>
          <p:cNvPr id="14" name="Text 12"/>
          <p:cNvSpPr/>
          <p:nvPr/>
        </p:nvSpPr>
        <p:spPr>
          <a:xfrm>
            <a:off x="4636008" y="4069080"/>
            <a:ext cx="2843784" cy="1655064"/>
          </a:xfrm>
          <a:prstGeom prst="rect">
            <a:avLst/>
          </a:prstGeom>
          <a:noFill/>
          <a:ln/>
        </p:spPr>
        <p:txBody>
          <a:bodyPr wrap="square" lIns="0" tIns="0" rIns="0" bIns="0" rtlCol="0" anchor="t"/>
          <a:lstStyle/>
          <a:p>
            <a:pPr indent="0" marL="0">
              <a:lnSpc>
                <a:spcPts val="1900"/>
              </a:lnSpc>
              <a:buNone/>
            </a:pPr>
            <a:r>
              <a:rPr lang="en-US" sz="1350" dirty="0">
                <a:solidFill>
                  <a:srgbClr val="6B655C"/>
                </a:solidFill>
                <a:latin typeface="Calibri" pitchFamily="34" charset="0"/>
                <a:ea typeface="Calibri" pitchFamily="34" charset="-122"/>
                <a:cs typeface="Calibri" pitchFamily="34" charset="-120"/>
              </a:rPr>
              <a:t>Alles, was Verhandlung und Verlässlichkeit braucht, aber planbar terminiert werden kann: der Uhrenhändler, die Verträge, Preise, Buchhaltung. Flexibel gelegt.</a:t>
            </a:r>
            <a:endParaRPr lang="en-US" sz="1350" dirty="0"/>
          </a:p>
        </p:txBody>
      </p:sp>
      <p:sp>
        <p:nvSpPr>
          <p:cNvPr id="15" name="Shape 13"/>
          <p:cNvSpPr/>
          <p:nvPr/>
        </p:nvSpPr>
        <p:spPr>
          <a:xfrm>
            <a:off x="8046720" y="2651760"/>
            <a:ext cx="3429000" cy="3291840"/>
          </a:xfrm>
          <a:prstGeom prst="rect">
            <a:avLst/>
          </a:prstGeom>
          <a:solidFill>
            <a:srgbClr val="FFFFFF"/>
          </a:solidFill>
          <a:ln w="9525">
            <a:solidFill>
              <a:srgbClr val="E4DED3"/>
            </a:solidFill>
            <a:prstDash val="solid"/>
          </a:ln>
        </p:spPr>
      </p:sp>
      <p:sp>
        <p:nvSpPr>
          <p:cNvPr id="16" name="Text 14"/>
          <p:cNvSpPr/>
          <p:nvPr/>
        </p:nvSpPr>
        <p:spPr>
          <a:xfrm>
            <a:off x="8339328" y="2889504"/>
            <a:ext cx="2843784" cy="219456"/>
          </a:xfrm>
          <a:prstGeom prst="rect">
            <a:avLst/>
          </a:prstGeom>
          <a:noFill/>
          <a:ln/>
        </p:spPr>
        <p:txBody>
          <a:bodyPr wrap="square" lIns="0" tIns="0" rIns="0" bIns="0" rtlCol="0" anchor="ctr"/>
          <a:lstStyle/>
          <a:p>
            <a:pPr indent="0" marL="0">
              <a:buNone/>
            </a:pPr>
            <a:r>
              <a:rPr lang="en-US" sz="1000" spc="200" kern="0" dirty="0">
                <a:solidFill>
                  <a:srgbClr val="C2AD8C"/>
                </a:solidFill>
                <a:latin typeface="Calibri" pitchFamily="34" charset="0"/>
                <a:ea typeface="Calibri" pitchFamily="34" charset="-122"/>
                <a:cs typeface="Calibri" pitchFamily="34" charset="-120"/>
              </a:rPr>
              <a:t>PRÜFUNG</a:t>
            </a:r>
            <a:endParaRPr lang="en-US" sz="1000" dirty="0"/>
          </a:p>
        </p:txBody>
      </p:sp>
      <p:sp>
        <p:nvSpPr>
          <p:cNvPr id="17" name="Text 15"/>
          <p:cNvSpPr/>
          <p:nvPr/>
        </p:nvSpPr>
        <p:spPr>
          <a:xfrm>
            <a:off x="8339328" y="3163824"/>
            <a:ext cx="2843784" cy="502920"/>
          </a:xfrm>
          <a:prstGeom prst="rect">
            <a:avLst/>
          </a:prstGeom>
          <a:noFill/>
          <a:ln/>
        </p:spPr>
        <p:txBody>
          <a:bodyPr wrap="square" lIns="0" tIns="0" rIns="0" bIns="0" rtlCol="0" anchor="ctr"/>
          <a:lstStyle/>
          <a:p>
            <a:pPr indent="0" marL="0">
              <a:buNone/>
            </a:pPr>
            <a:r>
              <a:rPr lang="en-US" sz="2800" dirty="0">
                <a:solidFill>
                  <a:srgbClr val="1A1917"/>
                </a:solidFill>
                <a:latin typeface="Cambria" pitchFamily="34" charset="0"/>
                <a:ea typeface="Cambria" pitchFamily="34" charset="-122"/>
                <a:cs typeface="Cambria" pitchFamily="34" charset="-120"/>
              </a:rPr>
              <a:t>Mattia</a:t>
            </a:r>
            <a:endParaRPr lang="en-US" sz="2800" dirty="0"/>
          </a:p>
        </p:txBody>
      </p:sp>
      <p:sp>
        <p:nvSpPr>
          <p:cNvPr id="18" name="Text 16"/>
          <p:cNvSpPr/>
          <p:nvPr/>
        </p:nvSpPr>
        <p:spPr>
          <a:xfrm>
            <a:off x="8339328" y="3758184"/>
            <a:ext cx="2843784" cy="256032"/>
          </a:xfrm>
          <a:prstGeom prst="rect">
            <a:avLst/>
          </a:prstGeom>
          <a:noFill/>
          <a:ln/>
        </p:spPr>
        <p:txBody>
          <a:bodyPr wrap="square" lIns="0" tIns="0" rIns="0" bIns="0" rtlCol="0" anchor="ctr"/>
          <a:lstStyle/>
          <a:p>
            <a:pPr indent="0" marL="0">
              <a:buNone/>
            </a:pPr>
            <a:r>
              <a:rPr lang="en-US" sz="1300" b="1" dirty="0">
                <a:solidFill>
                  <a:srgbClr val="1A1917"/>
                </a:solidFill>
                <a:latin typeface="Calibri" pitchFamily="34" charset="0"/>
                <a:ea typeface="Calibri" pitchFamily="34" charset="-122"/>
                <a:cs typeface="Calibri" pitchFamily="34" charset="-120"/>
              </a:rPr>
              <a:t>3 h / Woche</a:t>
            </a:r>
            <a:endParaRPr lang="en-US" sz="1300" dirty="0"/>
          </a:p>
        </p:txBody>
      </p:sp>
      <p:sp>
        <p:nvSpPr>
          <p:cNvPr id="19" name="Text 17"/>
          <p:cNvSpPr/>
          <p:nvPr/>
        </p:nvSpPr>
        <p:spPr>
          <a:xfrm>
            <a:off x="8339328" y="4069080"/>
            <a:ext cx="2843784" cy="1655064"/>
          </a:xfrm>
          <a:prstGeom prst="rect">
            <a:avLst/>
          </a:prstGeom>
          <a:noFill/>
          <a:ln/>
        </p:spPr>
        <p:txBody>
          <a:bodyPr wrap="square" lIns="0" tIns="0" rIns="0" bIns="0" rtlCol="0" anchor="t"/>
          <a:lstStyle/>
          <a:p>
            <a:pPr indent="0" marL="0">
              <a:lnSpc>
                <a:spcPts val="1900"/>
              </a:lnSpc>
              <a:buNone/>
            </a:pPr>
            <a:r>
              <a:rPr lang="en-US" sz="1350" dirty="0">
                <a:solidFill>
                  <a:srgbClr val="6B655C"/>
                </a:solidFill>
                <a:latin typeface="Calibri" pitchFamily="34" charset="0"/>
                <a:ea typeface="Calibri" pitchFamily="34" charset="-122"/>
                <a:cs typeface="Calibri" pitchFamily="34" charset="-120"/>
              </a:rPr>
              <a:t>Asynchrone Arbeit ohne Frist: Echtheitsrecherche, Vergleichspreise, Produkttexte, Zweitmeinung per Foto bei Einkäufen über CHF 200. In den ersten Wochen auch mal null — so eingeplant.</a:t>
            </a:r>
            <a:endParaRPr lang="en-US" sz="1350" dirty="0"/>
          </a:p>
        </p:txBody>
      </p:sp>
      <p:sp>
        <p:nvSpPr>
          <p:cNvPr id="20" name="Text 18"/>
          <p:cNvSpPr/>
          <p:nvPr/>
        </p:nvSpPr>
        <p:spPr>
          <a:xfrm>
            <a:off x="640080" y="6172200"/>
            <a:ext cx="10881360" cy="320040"/>
          </a:xfrm>
          <a:prstGeom prst="rect">
            <a:avLst/>
          </a:prstGeom>
          <a:noFill/>
          <a:ln/>
        </p:spPr>
        <p:txBody>
          <a:bodyPr wrap="square" lIns="0" tIns="0" rIns="0" bIns="0" rtlCol="0" anchor="ctr"/>
          <a:lstStyle/>
          <a:p>
            <a:pPr indent="0" marL="0">
              <a:buNone/>
            </a:pPr>
            <a:r>
              <a:rPr lang="en-US" sz="1300" i="1" dirty="0">
                <a:solidFill>
                  <a:srgbClr val="9A938A"/>
                </a:solidFill>
                <a:latin typeface="Calibri" pitchFamily="34" charset="0"/>
                <a:ea typeface="Calibri" pitchFamily="34" charset="-122"/>
                <a:cs typeface="Calibri" pitchFamily="34" charset="-120"/>
              </a:rPr>
              <a:t>Fällt jemand aus, wird umverteilt statt nachgetragen. Auch das steht im Gesellschaftsvertrag.</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640080" y="475488"/>
            <a:ext cx="10881360" cy="274320"/>
          </a:xfrm>
          <a:prstGeom prst="rect">
            <a:avLst/>
          </a:prstGeom>
          <a:noFill/>
          <a:ln/>
        </p:spPr>
        <p:txBody>
          <a:bodyPr wrap="square" lIns="0" tIns="0" rIns="0" bIns="0" rtlCol="0" anchor="ctr"/>
          <a:lstStyle/>
          <a:p>
            <a:pPr indent="0" marL="0">
              <a:buNone/>
            </a:pPr>
            <a:r>
              <a:rPr lang="en-US" sz="1100" spc="300" kern="0" dirty="0">
                <a:solidFill>
                  <a:srgbClr val="9A938A"/>
                </a:solidFill>
                <a:latin typeface="Calibri" pitchFamily="34" charset="0"/>
                <a:ea typeface="Calibri" pitchFamily="34" charset="-122"/>
                <a:cs typeface="Calibri" pitchFamily="34" charset="-120"/>
              </a:rPr>
              <a:t>DAS GELD</a:t>
            </a:r>
            <a:endParaRPr lang="en-US" sz="1100" dirty="0"/>
          </a:p>
        </p:txBody>
      </p:sp>
      <p:sp>
        <p:nvSpPr>
          <p:cNvPr id="3" name="Text 1"/>
          <p:cNvSpPr/>
          <p:nvPr/>
        </p:nvSpPr>
        <p:spPr>
          <a:xfrm>
            <a:off x="640080" y="777240"/>
            <a:ext cx="10881360" cy="868680"/>
          </a:xfrm>
          <a:prstGeom prst="rect">
            <a:avLst/>
          </a:prstGeom>
          <a:noFill/>
          <a:ln/>
        </p:spPr>
        <p:txBody>
          <a:bodyPr wrap="square" lIns="0" tIns="0" rIns="0" bIns="0" rtlCol="0" anchor="t"/>
          <a:lstStyle/>
          <a:p>
            <a:pPr indent="0" marL="0">
              <a:buNone/>
            </a:pPr>
            <a:r>
              <a:rPr lang="en-US" sz="3800" dirty="0">
                <a:solidFill>
                  <a:srgbClr val="1A1917"/>
                </a:solidFill>
                <a:latin typeface="Cambria" pitchFamily="34" charset="0"/>
                <a:ea typeface="Cambria" pitchFamily="34" charset="-122"/>
                <a:cs typeface="Cambria" pitchFamily="34" charset="-120"/>
              </a:rPr>
              <a:t>Wie wir teilen bei ungleicher Arbeit</a:t>
            </a:r>
            <a:endParaRPr lang="en-US" sz="3800" dirty="0"/>
          </a:p>
        </p:txBody>
      </p:sp>
      <p:sp>
        <p:nvSpPr>
          <p:cNvPr id="4" name="Text 2"/>
          <p:cNvSpPr/>
          <p:nvPr/>
        </p:nvSpPr>
        <p:spPr>
          <a:xfrm>
            <a:off x="640080" y="1664208"/>
            <a:ext cx="10058400" cy="640080"/>
          </a:xfrm>
          <a:prstGeom prst="rect">
            <a:avLst/>
          </a:prstGeom>
          <a:noFill/>
          <a:ln/>
        </p:spPr>
        <p:txBody>
          <a:bodyPr wrap="square" lIns="0" tIns="0" rIns="0" bIns="0" rtlCol="0" anchor="ctr"/>
          <a:lstStyle/>
          <a:p>
            <a:pPr indent="0" marL="0">
              <a:lnSpc>
                <a:spcPts val="2200"/>
              </a:lnSpc>
              <a:buNone/>
            </a:pPr>
            <a:r>
              <a:rPr lang="en-US" sz="1600" dirty="0">
                <a:solidFill>
                  <a:srgbClr val="6B655C"/>
                </a:solidFill>
                <a:latin typeface="Calibri" pitchFamily="34" charset="0"/>
                <a:ea typeface="Calibri" pitchFamily="34" charset="-122"/>
                <a:cs typeface="Calibri" pitchFamily="34" charset="-120"/>
              </a:rPr>
              <a:t>Gleiche Anteile bei ungleicher Arbeit halten genau so lange, bis der Erste rechnet. Deshalb zwei getrennte Töpfe und eine feste Reihenfolge.</a:t>
            </a:r>
            <a:endParaRPr lang="en-US" sz="1600" dirty="0"/>
          </a:p>
        </p:txBody>
      </p:sp>
      <p:sp>
        <p:nvSpPr>
          <p:cNvPr id="5" name="Shape 3"/>
          <p:cNvSpPr/>
          <p:nvPr/>
        </p:nvSpPr>
        <p:spPr>
          <a:xfrm>
            <a:off x="640080" y="2651760"/>
            <a:ext cx="3429000" cy="3017520"/>
          </a:xfrm>
          <a:prstGeom prst="rect">
            <a:avLst/>
          </a:prstGeom>
          <a:solidFill>
            <a:srgbClr val="FFFFFF"/>
          </a:solidFill>
          <a:ln w="9525">
            <a:solidFill>
              <a:srgbClr val="E4DED3"/>
            </a:solidFill>
            <a:prstDash val="solid"/>
          </a:ln>
        </p:spPr>
      </p:sp>
      <p:sp>
        <p:nvSpPr>
          <p:cNvPr id="6" name="Text 4"/>
          <p:cNvSpPr/>
          <p:nvPr/>
        </p:nvSpPr>
        <p:spPr>
          <a:xfrm>
            <a:off x="932688" y="2889504"/>
            <a:ext cx="2843784" cy="219456"/>
          </a:xfrm>
          <a:prstGeom prst="rect">
            <a:avLst/>
          </a:prstGeom>
          <a:noFill/>
          <a:ln/>
        </p:spPr>
        <p:txBody>
          <a:bodyPr wrap="square" lIns="0" tIns="0" rIns="0" bIns="0" rtlCol="0" anchor="ctr"/>
          <a:lstStyle/>
          <a:p>
            <a:pPr indent="0" marL="0">
              <a:buNone/>
            </a:pPr>
            <a:r>
              <a:rPr lang="en-US" sz="1000" spc="200" kern="0" dirty="0">
                <a:solidFill>
                  <a:srgbClr val="C2AD8C"/>
                </a:solidFill>
                <a:latin typeface="Calibri" pitchFamily="34" charset="0"/>
                <a:ea typeface="Calibri" pitchFamily="34" charset="-122"/>
                <a:cs typeface="Calibri" pitchFamily="34" charset="-120"/>
              </a:rPr>
              <a:t>ZUERST</a:t>
            </a:r>
            <a:endParaRPr lang="en-US" sz="1000" dirty="0"/>
          </a:p>
        </p:txBody>
      </p:sp>
      <p:sp>
        <p:nvSpPr>
          <p:cNvPr id="7" name="Text 5"/>
          <p:cNvSpPr/>
          <p:nvPr/>
        </p:nvSpPr>
        <p:spPr>
          <a:xfrm>
            <a:off x="932688" y="3163824"/>
            <a:ext cx="2843784" cy="658368"/>
          </a:xfrm>
          <a:prstGeom prst="rect">
            <a:avLst/>
          </a:prstGeom>
          <a:noFill/>
          <a:ln/>
        </p:spPr>
        <p:txBody>
          <a:bodyPr wrap="square" lIns="0" tIns="0" rIns="0" bIns="0" rtlCol="0" anchor="ctr"/>
          <a:lstStyle/>
          <a:p>
            <a:pPr indent="0" marL="0">
              <a:buNone/>
            </a:pPr>
            <a:r>
              <a:rPr lang="en-US" sz="2100" dirty="0">
                <a:solidFill>
                  <a:srgbClr val="1A1917"/>
                </a:solidFill>
                <a:latin typeface="Cambria" pitchFamily="34" charset="0"/>
                <a:ea typeface="Cambria" pitchFamily="34" charset="-122"/>
                <a:cs typeface="Cambria" pitchFamily="34" charset="-120"/>
              </a:rPr>
              <a:t>Einlagen zurück</a:t>
            </a:r>
            <a:endParaRPr lang="en-US" sz="2100" dirty="0"/>
          </a:p>
        </p:txBody>
      </p:sp>
      <p:sp>
        <p:nvSpPr>
          <p:cNvPr id="8" name="Text 6"/>
          <p:cNvSpPr/>
          <p:nvPr/>
        </p:nvSpPr>
        <p:spPr>
          <a:xfrm>
            <a:off x="932688" y="3913632"/>
            <a:ext cx="2843784" cy="1536192"/>
          </a:xfrm>
          <a:prstGeom prst="rect">
            <a:avLst/>
          </a:prstGeom>
          <a:noFill/>
          <a:ln/>
        </p:spPr>
        <p:txBody>
          <a:bodyPr wrap="square" lIns="0" tIns="0" rIns="0" bIns="0" rtlCol="0" anchor="t"/>
          <a:lstStyle/>
          <a:p>
            <a:pPr indent="0" marL="0">
              <a:lnSpc>
                <a:spcPts val="1900"/>
              </a:lnSpc>
              <a:buNone/>
            </a:pPr>
            <a:r>
              <a:rPr lang="en-US" sz="1350" dirty="0">
                <a:solidFill>
                  <a:srgbClr val="6B655C"/>
                </a:solidFill>
                <a:latin typeface="Calibri" pitchFamily="34" charset="0"/>
                <a:ea typeface="Calibri" pitchFamily="34" charset="-122"/>
                <a:cs typeface="Calibri" pitchFamily="34" charset="-120"/>
              </a:rPr>
              <a:t>Jeder bekommt seine CHF 900 zurück, bevor von Gewinn die Rede ist. Das Kapital ist bei allen gleich, also bleibt es gleich behandelt.</a:t>
            </a:r>
            <a:endParaRPr lang="en-US" sz="1350" dirty="0"/>
          </a:p>
        </p:txBody>
      </p:sp>
      <p:sp>
        <p:nvSpPr>
          <p:cNvPr id="9" name="Shape 7"/>
          <p:cNvSpPr/>
          <p:nvPr/>
        </p:nvSpPr>
        <p:spPr>
          <a:xfrm>
            <a:off x="4343400" y="2651760"/>
            <a:ext cx="3429000" cy="3017520"/>
          </a:xfrm>
          <a:prstGeom prst="rect">
            <a:avLst/>
          </a:prstGeom>
          <a:solidFill>
            <a:srgbClr val="FFFFFF"/>
          </a:solidFill>
          <a:ln w="9525">
            <a:solidFill>
              <a:srgbClr val="E4DED3"/>
            </a:solidFill>
            <a:prstDash val="solid"/>
          </a:ln>
        </p:spPr>
      </p:sp>
      <p:sp>
        <p:nvSpPr>
          <p:cNvPr id="10" name="Text 8"/>
          <p:cNvSpPr/>
          <p:nvPr/>
        </p:nvSpPr>
        <p:spPr>
          <a:xfrm>
            <a:off x="4636008" y="2889504"/>
            <a:ext cx="2843784" cy="219456"/>
          </a:xfrm>
          <a:prstGeom prst="rect">
            <a:avLst/>
          </a:prstGeom>
          <a:noFill/>
          <a:ln/>
        </p:spPr>
        <p:txBody>
          <a:bodyPr wrap="square" lIns="0" tIns="0" rIns="0" bIns="0" rtlCol="0" anchor="ctr"/>
          <a:lstStyle/>
          <a:p>
            <a:pPr indent="0" marL="0">
              <a:buNone/>
            </a:pPr>
            <a:r>
              <a:rPr lang="en-US" sz="1000" spc="200" kern="0" dirty="0">
                <a:solidFill>
                  <a:srgbClr val="C2AD8C"/>
                </a:solidFill>
                <a:latin typeface="Calibri" pitchFamily="34" charset="0"/>
                <a:ea typeface="Calibri" pitchFamily="34" charset="-122"/>
                <a:cs typeface="Calibri" pitchFamily="34" charset="-120"/>
              </a:rPr>
              <a:t>DANN</a:t>
            </a:r>
            <a:endParaRPr lang="en-US" sz="1000" dirty="0"/>
          </a:p>
        </p:txBody>
      </p:sp>
      <p:sp>
        <p:nvSpPr>
          <p:cNvPr id="11" name="Text 9"/>
          <p:cNvSpPr/>
          <p:nvPr/>
        </p:nvSpPr>
        <p:spPr>
          <a:xfrm>
            <a:off x="4636008" y="3163824"/>
            <a:ext cx="2843784" cy="658368"/>
          </a:xfrm>
          <a:prstGeom prst="rect">
            <a:avLst/>
          </a:prstGeom>
          <a:noFill/>
          <a:ln/>
        </p:spPr>
        <p:txBody>
          <a:bodyPr wrap="square" lIns="0" tIns="0" rIns="0" bIns="0" rtlCol="0" anchor="ctr"/>
          <a:lstStyle/>
          <a:p>
            <a:pPr indent="0" marL="0">
              <a:buNone/>
            </a:pPr>
            <a:r>
              <a:rPr lang="en-US" sz="2100" dirty="0">
                <a:solidFill>
                  <a:srgbClr val="1A1917"/>
                </a:solidFill>
                <a:latin typeface="Cambria" pitchFamily="34" charset="0"/>
                <a:ea typeface="Cambria" pitchFamily="34" charset="-122"/>
                <a:cs typeface="Cambria" pitchFamily="34" charset="-120"/>
              </a:rPr>
              <a:t>Stunden × CHF 25</a:t>
            </a:r>
            <a:endParaRPr lang="en-US" sz="2100" dirty="0"/>
          </a:p>
        </p:txBody>
      </p:sp>
      <p:sp>
        <p:nvSpPr>
          <p:cNvPr id="12" name="Text 10"/>
          <p:cNvSpPr/>
          <p:nvPr/>
        </p:nvSpPr>
        <p:spPr>
          <a:xfrm>
            <a:off x="4636008" y="3913632"/>
            <a:ext cx="2843784" cy="1536192"/>
          </a:xfrm>
          <a:prstGeom prst="rect">
            <a:avLst/>
          </a:prstGeom>
          <a:noFill/>
          <a:ln/>
        </p:spPr>
        <p:txBody>
          <a:bodyPr wrap="square" lIns="0" tIns="0" rIns="0" bIns="0" rtlCol="0" anchor="t"/>
          <a:lstStyle/>
          <a:p>
            <a:pPr indent="0" marL="0">
              <a:lnSpc>
                <a:spcPts val="1900"/>
              </a:lnSpc>
              <a:buNone/>
            </a:pPr>
            <a:r>
              <a:rPr lang="en-US" sz="1350" dirty="0">
                <a:solidFill>
                  <a:srgbClr val="6B655C"/>
                </a:solidFill>
                <a:latin typeface="Calibri" pitchFamily="34" charset="0"/>
                <a:ea typeface="Calibri" pitchFamily="34" charset="-122"/>
                <a:cs typeface="Calibri" pitchFamily="34" charset="-120"/>
              </a:rPr>
              <a:t>Jeder erfasst seine Zeit in der App. Die Stunden werden als Vorwegvergütung aus dem Gewinn abgegolten. Kein Gewinn, keine Vergütung — es entsteht nie eine Lohnschuld.</a:t>
            </a:r>
            <a:endParaRPr lang="en-US" sz="1350" dirty="0"/>
          </a:p>
        </p:txBody>
      </p:sp>
      <p:sp>
        <p:nvSpPr>
          <p:cNvPr id="13" name="Shape 11"/>
          <p:cNvSpPr/>
          <p:nvPr/>
        </p:nvSpPr>
        <p:spPr>
          <a:xfrm>
            <a:off x="8046720" y="2651760"/>
            <a:ext cx="3429000" cy="3017520"/>
          </a:xfrm>
          <a:prstGeom prst="rect">
            <a:avLst/>
          </a:prstGeom>
          <a:solidFill>
            <a:srgbClr val="FFFFFF"/>
          </a:solidFill>
          <a:ln w="9525">
            <a:solidFill>
              <a:srgbClr val="E4DED3"/>
            </a:solidFill>
            <a:prstDash val="solid"/>
          </a:ln>
        </p:spPr>
      </p:sp>
      <p:sp>
        <p:nvSpPr>
          <p:cNvPr id="14" name="Text 12"/>
          <p:cNvSpPr/>
          <p:nvPr/>
        </p:nvSpPr>
        <p:spPr>
          <a:xfrm>
            <a:off x="8339328" y="2889504"/>
            <a:ext cx="2843784" cy="219456"/>
          </a:xfrm>
          <a:prstGeom prst="rect">
            <a:avLst/>
          </a:prstGeom>
          <a:noFill/>
          <a:ln/>
        </p:spPr>
        <p:txBody>
          <a:bodyPr wrap="square" lIns="0" tIns="0" rIns="0" bIns="0" rtlCol="0" anchor="ctr"/>
          <a:lstStyle/>
          <a:p>
            <a:pPr indent="0" marL="0">
              <a:buNone/>
            </a:pPr>
            <a:r>
              <a:rPr lang="en-US" sz="1000" spc="200" kern="0" dirty="0">
                <a:solidFill>
                  <a:srgbClr val="C2AD8C"/>
                </a:solidFill>
                <a:latin typeface="Calibri" pitchFamily="34" charset="0"/>
                <a:ea typeface="Calibri" pitchFamily="34" charset="-122"/>
                <a:cs typeface="Calibri" pitchFamily="34" charset="-120"/>
              </a:rPr>
              <a:t>ZULETZT</a:t>
            </a:r>
            <a:endParaRPr lang="en-US" sz="1000" dirty="0"/>
          </a:p>
        </p:txBody>
      </p:sp>
      <p:sp>
        <p:nvSpPr>
          <p:cNvPr id="15" name="Text 13"/>
          <p:cNvSpPr/>
          <p:nvPr/>
        </p:nvSpPr>
        <p:spPr>
          <a:xfrm>
            <a:off x="8339328" y="3163824"/>
            <a:ext cx="2843784" cy="658368"/>
          </a:xfrm>
          <a:prstGeom prst="rect">
            <a:avLst/>
          </a:prstGeom>
          <a:noFill/>
          <a:ln/>
        </p:spPr>
        <p:txBody>
          <a:bodyPr wrap="square" lIns="0" tIns="0" rIns="0" bIns="0" rtlCol="0" anchor="ctr"/>
          <a:lstStyle/>
          <a:p>
            <a:pPr indent="0" marL="0">
              <a:buNone/>
            </a:pPr>
            <a:r>
              <a:rPr lang="en-US" sz="2100" dirty="0">
                <a:solidFill>
                  <a:srgbClr val="1A1917"/>
                </a:solidFill>
                <a:latin typeface="Cambria" pitchFamily="34" charset="0"/>
                <a:ea typeface="Cambria" pitchFamily="34" charset="-122"/>
                <a:cs typeface="Cambria" pitchFamily="34" charset="-120"/>
              </a:rPr>
              <a:t>Rest zu je einem Drittel</a:t>
            </a:r>
            <a:endParaRPr lang="en-US" sz="2100" dirty="0"/>
          </a:p>
        </p:txBody>
      </p:sp>
      <p:sp>
        <p:nvSpPr>
          <p:cNvPr id="16" name="Text 14"/>
          <p:cNvSpPr/>
          <p:nvPr/>
        </p:nvSpPr>
        <p:spPr>
          <a:xfrm>
            <a:off x="8339328" y="3913632"/>
            <a:ext cx="2843784" cy="1536192"/>
          </a:xfrm>
          <a:prstGeom prst="rect">
            <a:avLst/>
          </a:prstGeom>
          <a:noFill/>
          <a:ln/>
        </p:spPr>
        <p:txBody>
          <a:bodyPr wrap="square" lIns="0" tIns="0" rIns="0" bIns="0" rtlCol="0" anchor="t"/>
          <a:lstStyle/>
          <a:p>
            <a:pPr indent="0" marL="0">
              <a:lnSpc>
                <a:spcPts val="1900"/>
              </a:lnSpc>
              <a:buNone/>
            </a:pPr>
            <a:r>
              <a:rPr lang="en-US" sz="1350" dirty="0">
                <a:solidFill>
                  <a:srgbClr val="6B655C"/>
                </a:solidFill>
                <a:latin typeface="Calibri" pitchFamily="34" charset="0"/>
                <a:ea typeface="Calibri" pitchFamily="34" charset="-122"/>
                <a:cs typeface="Calibri" pitchFamily="34" charset="-120"/>
              </a:rPr>
              <a:t>Was übrig bleibt, wird gedrittelt. Wer mehr gearbeitet hat, hat das über die Stunden schon bekommen; wer weniger konnte, verliert seinen Anteil nicht.</a:t>
            </a:r>
            <a:endParaRPr lang="en-US" sz="1350" dirty="0"/>
          </a:p>
        </p:txBody>
      </p:sp>
      <p:sp>
        <p:nvSpPr>
          <p:cNvPr id="17" name="Text 15"/>
          <p:cNvSpPr/>
          <p:nvPr/>
        </p:nvSpPr>
        <p:spPr>
          <a:xfrm>
            <a:off x="640080" y="5897880"/>
            <a:ext cx="10881360" cy="320040"/>
          </a:xfrm>
          <a:prstGeom prst="rect">
            <a:avLst/>
          </a:prstGeom>
          <a:noFill/>
          <a:ln/>
        </p:spPr>
        <p:txBody>
          <a:bodyPr wrap="square" lIns="0" tIns="0" rIns="0" bIns="0" rtlCol="0" anchor="ctr"/>
          <a:lstStyle/>
          <a:p>
            <a:pPr indent="0" marL="0">
              <a:buNone/>
            </a:pPr>
            <a:r>
              <a:rPr lang="en-US" sz="1300" i="1" dirty="0">
                <a:solidFill>
                  <a:srgbClr val="9A938A"/>
                </a:solidFill>
                <a:latin typeface="Calibri" pitchFamily="34" charset="0"/>
                <a:ea typeface="Calibri" pitchFamily="34" charset="-122"/>
                <a:cs typeface="Calibri" pitchFamily="34" charset="-120"/>
              </a:rPr>
              <a:t>Für Jan zusätzlich: diese Vergütung ist gegenüber dem RAV Zwischenverdienst und wird gemeldet.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640080" y="475488"/>
            <a:ext cx="10881360" cy="274320"/>
          </a:xfrm>
          <a:prstGeom prst="rect">
            <a:avLst/>
          </a:prstGeom>
          <a:noFill/>
          <a:ln/>
        </p:spPr>
        <p:txBody>
          <a:bodyPr wrap="square" lIns="0" tIns="0" rIns="0" bIns="0" rtlCol="0" anchor="ctr"/>
          <a:lstStyle/>
          <a:p>
            <a:pPr indent="0" marL="0">
              <a:buNone/>
            </a:pPr>
            <a:r>
              <a:rPr lang="en-US" sz="1100" spc="300" kern="0" dirty="0">
                <a:solidFill>
                  <a:srgbClr val="9A938A"/>
                </a:solidFill>
                <a:latin typeface="Calibri" pitchFamily="34" charset="0"/>
                <a:ea typeface="Calibri" pitchFamily="34" charset="-122"/>
                <a:cs typeface="Calibri" pitchFamily="34" charset="-120"/>
              </a:rPr>
              <a:t>DER PLAN</a:t>
            </a:r>
            <a:endParaRPr lang="en-US" sz="1100" dirty="0"/>
          </a:p>
        </p:txBody>
      </p:sp>
      <p:sp>
        <p:nvSpPr>
          <p:cNvPr id="3" name="Text 1"/>
          <p:cNvSpPr/>
          <p:nvPr/>
        </p:nvSpPr>
        <p:spPr>
          <a:xfrm>
            <a:off x="640080" y="777240"/>
            <a:ext cx="10881360" cy="868680"/>
          </a:xfrm>
          <a:prstGeom prst="rect">
            <a:avLst/>
          </a:prstGeom>
          <a:noFill/>
          <a:ln/>
        </p:spPr>
        <p:txBody>
          <a:bodyPr wrap="square" lIns="0" tIns="0" rIns="0" bIns="0" rtlCol="0" anchor="t"/>
          <a:lstStyle/>
          <a:p>
            <a:pPr indent="0" marL="0">
              <a:buNone/>
            </a:pPr>
            <a:r>
              <a:rPr lang="en-US" sz="3800" dirty="0">
                <a:solidFill>
                  <a:srgbClr val="1A1917"/>
                </a:solidFill>
                <a:latin typeface="Cambria" pitchFamily="34" charset="0"/>
                <a:ea typeface="Cambria" pitchFamily="34" charset="-122"/>
                <a:cs typeface="Cambria" pitchFamily="34" charset="-120"/>
              </a:rPr>
              <a:t>Von heute bis zum Entscheid</a:t>
            </a:r>
            <a:endParaRPr lang="en-US" sz="3800" dirty="0"/>
          </a:p>
        </p:txBody>
      </p:sp>
      <p:sp>
        <p:nvSpPr>
          <p:cNvPr id="4" name="Shape 2"/>
          <p:cNvSpPr/>
          <p:nvPr/>
        </p:nvSpPr>
        <p:spPr>
          <a:xfrm>
            <a:off x="640080" y="1874520"/>
            <a:ext cx="10881360" cy="685800"/>
          </a:xfrm>
          <a:prstGeom prst="rect">
            <a:avLst/>
          </a:prstGeom>
          <a:solidFill>
            <a:srgbClr val="FFFFFF"/>
          </a:solidFill>
          <a:ln/>
        </p:spPr>
      </p:sp>
      <p:sp>
        <p:nvSpPr>
          <p:cNvPr id="5" name="Text 3"/>
          <p:cNvSpPr/>
          <p:nvPr/>
        </p:nvSpPr>
        <p:spPr>
          <a:xfrm>
            <a:off x="868680" y="2020824"/>
            <a:ext cx="1005840" cy="274320"/>
          </a:xfrm>
          <a:prstGeom prst="rect">
            <a:avLst/>
          </a:prstGeom>
          <a:noFill/>
          <a:ln/>
        </p:spPr>
        <p:txBody>
          <a:bodyPr wrap="square" lIns="0" tIns="0" rIns="0" bIns="0" rtlCol="0" anchor="ctr"/>
          <a:lstStyle/>
          <a:p>
            <a:pPr indent="0" marL="0">
              <a:buNone/>
            </a:pPr>
            <a:r>
              <a:rPr lang="en-US" sz="1000" spc="150" kern="0" dirty="0">
                <a:solidFill>
                  <a:srgbClr val="9A938A"/>
                </a:solidFill>
                <a:latin typeface="Calibri" pitchFamily="34" charset="0"/>
                <a:ea typeface="Calibri" pitchFamily="34" charset="-122"/>
                <a:cs typeface="Calibri" pitchFamily="34" charset="-120"/>
              </a:rPr>
              <a:t>Phase 0</a:t>
            </a:r>
            <a:endParaRPr lang="en-US" sz="1000" dirty="0"/>
          </a:p>
        </p:txBody>
      </p:sp>
      <p:sp>
        <p:nvSpPr>
          <p:cNvPr id="6" name="Text 4"/>
          <p:cNvSpPr/>
          <p:nvPr/>
        </p:nvSpPr>
        <p:spPr>
          <a:xfrm>
            <a:off x="1874520" y="1965960"/>
            <a:ext cx="2377440" cy="384048"/>
          </a:xfrm>
          <a:prstGeom prst="rect">
            <a:avLst/>
          </a:prstGeom>
          <a:noFill/>
          <a:ln/>
        </p:spPr>
        <p:txBody>
          <a:bodyPr wrap="square" lIns="0" tIns="0" rIns="0" bIns="0" rtlCol="0" anchor="ctr"/>
          <a:lstStyle/>
          <a:p>
            <a:pPr indent="0" marL="0">
              <a:buNone/>
            </a:pPr>
            <a:r>
              <a:rPr lang="en-US" sz="1700" dirty="0">
                <a:solidFill>
                  <a:srgbClr val="1A1917"/>
                </a:solidFill>
                <a:latin typeface="Cambria" pitchFamily="34" charset="0"/>
                <a:ea typeface="Cambria" pitchFamily="34" charset="-122"/>
                <a:cs typeface="Cambria" pitchFamily="34" charset="-120"/>
              </a:rPr>
              <a:t>Fundament</a:t>
            </a:r>
            <a:endParaRPr lang="en-US" sz="1700" dirty="0"/>
          </a:p>
        </p:txBody>
      </p:sp>
      <p:sp>
        <p:nvSpPr>
          <p:cNvPr id="7" name="Text 5"/>
          <p:cNvSpPr/>
          <p:nvPr/>
        </p:nvSpPr>
        <p:spPr>
          <a:xfrm>
            <a:off x="4297680" y="2029968"/>
            <a:ext cx="1828800" cy="329184"/>
          </a:xfrm>
          <a:prstGeom prst="rect">
            <a:avLst/>
          </a:prstGeom>
          <a:noFill/>
          <a:ln/>
        </p:spPr>
        <p:txBody>
          <a:bodyPr wrap="square" lIns="0" tIns="0" rIns="0" bIns="0" rtlCol="0" anchor="ctr"/>
          <a:lstStyle/>
          <a:p>
            <a:pPr indent="0" marL="0">
              <a:buNone/>
            </a:pPr>
            <a:r>
              <a:rPr lang="en-US" sz="1250" b="1" dirty="0">
                <a:solidFill>
                  <a:srgbClr val="1A1917"/>
                </a:solidFill>
                <a:latin typeface="Calibri" pitchFamily="34" charset="0"/>
                <a:ea typeface="Calibri" pitchFamily="34" charset="-122"/>
                <a:cs typeface="Calibri" pitchFamily="34" charset="-120"/>
              </a:rPr>
              <a:t>10. – 16. Aug</a:t>
            </a:r>
            <a:endParaRPr lang="en-US" sz="1250" dirty="0"/>
          </a:p>
        </p:txBody>
      </p:sp>
      <p:sp>
        <p:nvSpPr>
          <p:cNvPr id="8" name="Text 6"/>
          <p:cNvSpPr/>
          <p:nvPr/>
        </p:nvSpPr>
        <p:spPr>
          <a:xfrm>
            <a:off x="6217920" y="2002536"/>
            <a:ext cx="5120640" cy="457200"/>
          </a:xfrm>
          <a:prstGeom prst="rect">
            <a:avLst/>
          </a:prstGeom>
          <a:noFill/>
          <a:ln/>
        </p:spPr>
        <p:txBody>
          <a:bodyPr wrap="square" lIns="0" tIns="0" rIns="0" bIns="0" rtlCol="0" anchor="ctr"/>
          <a:lstStyle/>
          <a:p>
            <a:pPr indent="0" marL="0">
              <a:lnSpc>
                <a:spcPts val="1600"/>
              </a:lnSpc>
              <a:buNone/>
            </a:pPr>
            <a:r>
              <a:rPr lang="en-US" sz="1250" dirty="0">
                <a:solidFill>
                  <a:srgbClr val="6B655C"/>
                </a:solidFill>
                <a:latin typeface="Calibri" pitchFamily="34" charset="0"/>
                <a:ea typeface="Calibri" pitchFamily="34" charset="-122"/>
                <a:cs typeface="Calibri" pitchFamily="34" charset="-120"/>
              </a:rPr>
              <a:t>RAV, Kriterien, Rollen, Domain. Kein Franken ausgegeben.</a:t>
            </a:r>
            <a:endParaRPr lang="en-US" sz="1250" dirty="0"/>
          </a:p>
        </p:txBody>
      </p:sp>
      <p:sp>
        <p:nvSpPr>
          <p:cNvPr id="9" name="Text 7"/>
          <p:cNvSpPr/>
          <p:nvPr/>
        </p:nvSpPr>
        <p:spPr>
          <a:xfrm>
            <a:off x="868680" y="2706624"/>
            <a:ext cx="1005840" cy="274320"/>
          </a:xfrm>
          <a:prstGeom prst="rect">
            <a:avLst/>
          </a:prstGeom>
          <a:noFill/>
          <a:ln/>
        </p:spPr>
        <p:txBody>
          <a:bodyPr wrap="square" lIns="0" tIns="0" rIns="0" bIns="0" rtlCol="0" anchor="ctr"/>
          <a:lstStyle/>
          <a:p>
            <a:pPr indent="0" marL="0">
              <a:buNone/>
            </a:pPr>
            <a:r>
              <a:rPr lang="en-US" sz="1000" spc="150" kern="0" dirty="0">
                <a:solidFill>
                  <a:srgbClr val="9A938A"/>
                </a:solidFill>
                <a:latin typeface="Calibri" pitchFamily="34" charset="0"/>
                <a:ea typeface="Calibri" pitchFamily="34" charset="-122"/>
                <a:cs typeface="Calibri" pitchFamily="34" charset="-120"/>
              </a:rPr>
              <a:t>Phase 1</a:t>
            </a:r>
            <a:endParaRPr lang="en-US" sz="1000" dirty="0"/>
          </a:p>
        </p:txBody>
      </p:sp>
      <p:sp>
        <p:nvSpPr>
          <p:cNvPr id="10" name="Text 8"/>
          <p:cNvSpPr/>
          <p:nvPr/>
        </p:nvSpPr>
        <p:spPr>
          <a:xfrm>
            <a:off x="1874520" y="2651760"/>
            <a:ext cx="2377440" cy="384048"/>
          </a:xfrm>
          <a:prstGeom prst="rect">
            <a:avLst/>
          </a:prstGeom>
          <a:noFill/>
          <a:ln/>
        </p:spPr>
        <p:txBody>
          <a:bodyPr wrap="square" lIns="0" tIns="0" rIns="0" bIns="0" rtlCol="0" anchor="ctr"/>
          <a:lstStyle/>
          <a:p>
            <a:pPr indent="0" marL="0">
              <a:buNone/>
            </a:pPr>
            <a:r>
              <a:rPr lang="en-US" sz="1700" dirty="0">
                <a:solidFill>
                  <a:srgbClr val="1A1917"/>
                </a:solidFill>
                <a:latin typeface="Cambria" pitchFamily="34" charset="0"/>
                <a:ea typeface="Cambria" pitchFamily="34" charset="-122"/>
                <a:cs typeface="Cambria" pitchFamily="34" charset="-120"/>
              </a:rPr>
              <a:t>Verträge und Struktur</a:t>
            </a:r>
            <a:endParaRPr lang="en-US" sz="1700" dirty="0"/>
          </a:p>
        </p:txBody>
      </p:sp>
      <p:sp>
        <p:nvSpPr>
          <p:cNvPr id="11" name="Text 9"/>
          <p:cNvSpPr/>
          <p:nvPr/>
        </p:nvSpPr>
        <p:spPr>
          <a:xfrm>
            <a:off x="4297680" y="2715768"/>
            <a:ext cx="1828800" cy="329184"/>
          </a:xfrm>
          <a:prstGeom prst="rect">
            <a:avLst/>
          </a:prstGeom>
          <a:noFill/>
          <a:ln/>
        </p:spPr>
        <p:txBody>
          <a:bodyPr wrap="square" lIns="0" tIns="0" rIns="0" bIns="0" rtlCol="0" anchor="ctr"/>
          <a:lstStyle/>
          <a:p>
            <a:pPr indent="0" marL="0">
              <a:buNone/>
            </a:pPr>
            <a:r>
              <a:rPr lang="en-US" sz="1250" b="1" dirty="0">
                <a:solidFill>
                  <a:srgbClr val="1A1917"/>
                </a:solidFill>
                <a:latin typeface="Calibri" pitchFamily="34" charset="0"/>
                <a:ea typeface="Calibri" pitchFamily="34" charset="-122"/>
                <a:cs typeface="Calibri" pitchFamily="34" charset="-120"/>
              </a:rPr>
              <a:t>17. – 30. Aug</a:t>
            </a:r>
            <a:endParaRPr lang="en-US" sz="1250" dirty="0"/>
          </a:p>
        </p:txBody>
      </p:sp>
      <p:sp>
        <p:nvSpPr>
          <p:cNvPr id="12" name="Text 10"/>
          <p:cNvSpPr/>
          <p:nvPr/>
        </p:nvSpPr>
        <p:spPr>
          <a:xfrm>
            <a:off x="6217920" y="2688336"/>
            <a:ext cx="5120640" cy="457200"/>
          </a:xfrm>
          <a:prstGeom prst="rect">
            <a:avLst/>
          </a:prstGeom>
          <a:noFill/>
          <a:ln/>
        </p:spPr>
        <p:txBody>
          <a:bodyPr wrap="square" lIns="0" tIns="0" rIns="0" bIns="0" rtlCol="0" anchor="ctr"/>
          <a:lstStyle/>
          <a:p>
            <a:pPr indent="0" marL="0">
              <a:lnSpc>
                <a:spcPts val="1600"/>
              </a:lnSpc>
              <a:buNone/>
            </a:pPr>
            <a:r>
              <a:rPr lang="en-US" sz="1250" dirty="0">
                <a:solidFill>
                  <a:srgbClr val="6B655C"/>
                </a:solidFill>
                <a:latin typeface="Calibri" pitchFamily="34" charset="0"/>
                <a:ea typeface="Calibri" pitchFamily="34" charset="-122"/>
                <a:cs typeface="Calibri" pitchFamily="34" charset="-120"/>
              </a:rPr>
              <a:t>Gesellschaftsvertrag, Uhrenmodell, Konto, Echtheitsprotokoll.</a:t>
            </a:r>
            <a:endParaRPr lang="en-US" sz="1250" dirty="0"/>
          </a:p>
        </p:txBody>
      </p:sp>
      <p:sp>
        <p:nvSpPr>
          <p:cNvPr id="13" name="Shape 11"/>
          <p:cNvSpPr/>
          <p:nvPr/>
        </p:nvSpPr>
        <p:spPr>
          <a:xfrm>
            <a:off x="640080" y="3246120"/>
            <a:ext cx="10881360" cy="685800"/>
          </a:xfrm>
          <a:prstGeom prst="rect">
            <a:avLst/>
          </a:prstGeom>
          <a:solidFill>
            <a:srgbClr val="FFFFFF"/>
          </a:solidFill>
          <a:ln/>
        </p:spPr>
      </p:sp>
      <p:sp>
        <p:nvSpPr>
          <p:cNvPr id="14" name="Text 12"/>
          <p:cNvSpPr/>
          <p:nvPr/>
        </p:nvSpPr>
        <p:spPr>
          <a:xfrm>
            <a:off x="868680" y="3392424"/>
            <a:ext cx="1005840" cy="274320"/>
          </a:xfrm>
          <a:prstGeom prst="rect">
            <a:avLst/>
          </a:prstGeom>
          <a:noFill/>
          <a:ln/>
        </p:spPr>
        <p:txBody>
          <a:bodyPr wrap="square" lIns="0" tIns="0" rIns="0" bIns="0" rtlCol="0" anchor="ctr"/>
          <a:lstStyle/>
          <a:p>
            <a:pPr indent="0" marL="0">
              <a:buNone/>
            </a:pPr>
            <a:r>
              <a:rPr lang="en-US" sz="1000" spc="150" kern="0" dirty="0">
                <a:solidFill>
                  <a:srgbClr val="9A938A"/>
                </a:solidFill>
                <a:latin typeface="Calibri" pitchFamily="34" charset="0"/>
                <a:ea typeface="Calibri" pitchFamily="34" charset="-122"/>
                <a:cs typeface="Calibri" pitchFamily="34" charset="-120"/>
              </a:rPr>
              <a:t>Phase 2</a:t>
            </a:r>
            <a:endParaRPr lang="en-US" sz="1000" dirty="0"/>
          </a:p>
        </p:txBody>
      </p:sp>
      <p:sp>
        <p:nvSpPr>
          <p:cNvPr id="15" name="Text 13"/>
          <p:cNvSpPr/>
          <p:nvPr/>
        </p:nvSpPr>
        <p:spPr>
          <a:xfrm>
            <a:off x="1874520" y="3337560"/>
            <a:ext cx="2377440" cy="384048"/>
          </a:xfrm>
          <a:prstGeom prst="rect">
            <a:avLst/>
          </a:prstGeom>
          <a:noFill/>
          <a:ln/>
        </p:spPr>
        <p:txBody>
          <a:bodyPr wrap="square" lIns="0" tIns="0" rIns="0" bIns="0" rtlCol="0" anchor="ctr"/>
          <a:lstStyle/>
          <a:p>
            <a:pPr indent="0" marL="0">
              <a:buNone/>
            </a:pPr>
            <a:r>
              <a:rPr lang="en-US" sz="1700" dirty="0">
                <a:solidFill>
                  <a:srgbClr val="1A1917"/>
                </a:solidFill>
                <a:latin typeface="Cambria" pitchFamily="34" charset="0"/>
                <a:ea typeface="Cambria" pitchFamily="34" charset="-122"/>
                <a:cs typeface="Cambria" pitchFamily="34" charset="-120"/>
              </a:rPr>
              <a:t>Ware und Shop</a:t>
            </a:r>
            <a:endParaRPr lang="en-US" sz="1700" dirty="0"/>
          </a:p>
        </p:txBody>
      </p:sp>
      <p:sp>
        <p:nvSpPr>
          <p:cNvPr id="16" name="Text 14"/>
          <p:cNvSpPr/>
          <p:nvPr/>
        </p:nvSpPr>
        <p:spPr>
          <a:xfrm>
            <a:off x="4297680" y="3401568"/>
            <a:ext cx="1828800" cy="329184"/>
          </a:xfrm>
          <a:prstGeom prst="rect">
            <a:avLst/>
          </a:prstGeom>
          <a:noFill/>
          <a:ln/>
        </p:spPr>
        <p:txBody>
          <a:bodyPr wrap="square" lIns="0" tIns="0" rIns="0" bIns="0" rtlCol="0" anchor="ctr"/>
          <a:lstStyle/>
          <a:p>
            <a:pPr indent="0" marL="0">
              <a:buNone/>
            </a:pPr>
            <a:r>
              <a:rPr lang="en-US" sz="1250" b="1" dirty="0">
                <a:solidFill>
                  <a:srgbClr val="1A1917"/>
                </a:solidFill>
                <a:latin typeface="Calibri" pitchFamily="34" charset="0"/>
                <a:ea typeface="Calibri" pitchFamily="34" charset="-122"/>
                <a:cs typeface="Calibri" pitchFamily="34" charset="-120"/>
              </a:rPr>
              <a:t>31. Aug – 27. Sep</a:t>
            </a:r>
            <a:endParaRPr lang="en-US" sz="1250" dirty="0"/>
          </a:p>
        </p:txBody>
      </p:sp>
      <p:sp>
        <p:nvSpPr>
          <p:cNvPr id="17" name="Text 15"/>
          <p:cNvSpPr/>
          <p:nvPr/>
        </p:nvSpPr>
        <p:spPr>
          <a:xfrm>
            <a:off x="6217920" y="3374136"/>
            <a:ext cx="5120640" cy="457200"/>
          </a:xfrm>
          <a:prstGeom prst="rect">
            <a:avLst/>
          </a:prstGeom>
          <a:noFill/>
          <a:ln/>
        </p:spPr>
        <p:txBody>
          <a:bodyPr wrap="square" lIns="0" tIns="0" rIns="0" bIns="0" rtlCol="0" anchor="ctr"/>
          <a:lstStyle/>
          <a:p>
            <a:pPr indent="0" marL="0">
              <a:lnSpc>
                <a:spcPts val="1600"/>
              </a:lnSpc>
              <a:buNone/>
            </a:pPr>
            <a:r>
              <a:rPr lang="en-US" sz="1250" dirty="0">
                <a:solidFill>
                  <a:srgbClr val="6B655C"/>
                </a:solidFill>
                <a:latin typeface="Calibri" pitchFamily="34" charset="0"/>
                <a:ea typeface="Calibri" pitchFamily="34" charset="-122"/>
                <a:cs typeface="Calibri" pitchFamily="34" charset="-120"/>
              </a:rPr>
              <a:t>30 Stück beschaffen und fotografieren. Website entsteht parallel.</a:t>
            </a:r>
            <a:endParaRPr lang="en-US" sz="1250" dirty="0"/>
          </a:p>
        </p:txBody>
      </p:sp>
      <p:sp>
        <p:nvSpPr>
          <p:cNvPr id="18" name="Text 16"/>
          <p:cNvSpPr/>
          <p:nvPr/>
        </p:nvSpPr>
        <p:spPr>
          <a:xfrm>
            <a:off x="868680" y="4078224"/>
            <a:ext cx="1005840" cy="274320"/>
          </a:xfrm>
          <a:prstGeom prst="rect">
            <a:avLst/>
          </a:prstGeom>
          <a:noFill/>
          <a:ln/>
        </p:spPr>
        <p:txBody>
          <a:bodyPr wrap="square" lIns="0" tIns="0" rIns="0" bIns="0" rtlCol="0" anchor="ctr"/>
          <a:lstStyle/>
          <a:p>
            <a:pPr indent="0" marL="0">
              <a:buNone/>
            </a:pPr>
            <a:r>
              <a:rPr lang="en-US" sz="1000" spc="150" kern="0" dirty="0">
                <a:solidFill>
                  <a:srgbClr val="9A938A"/>
                </a:solidFill>
                <a:latin typeface="Calibri" pitchFamily="34" charset="0"/>
                <a:ea typeface="Calibri" pitchFamily="34" charset="-122"/>
                <a:cs typeface="Calibri" pitchFamily="34" charset="-120"/>
              </a:rPr>
              <a:t>Phase 3</a:t>
            </a:r>
            <a:endParaRPr lang="en-US" sz="1000" dirty="0"/>
          </a:p>
        </p:txBody>
      </p:sp>
      <p:sp>
        <p:nvSpPr>
          <p:cNvPr id="19" name="Text 17"/>
          <p:cNvSpPr/>
          <p:nvPr/>
        </p:nvSpPr>
        <p:spPr>
          <a:xfrm>
            <a:off x="1874520" y="4023360"/>
            <a:ext cx="2377440" cy="384048"/>
          </a:xfrm>
          <a:prstGeom prst="rect">
            <a:avLst/>
          </a:prstGeom>
          <a:noFill/>
          <a:ln/>
        </p:spPr>
        <p:txBody>
          <a:bodyPr wrap="square" lIns="0" tIns="0" rIns="0" bIns="0" rtlCol="0" anchor="ctr"/>
          <a:lstStyle/>
          <a:p>
            <a:pPr indent="0" marL="0">
              <a:buNone/>
            </a:pPr>
            <a:r>
              <a:rPr lang="en-US" sz="1700" dirty="0">
                <a:solidFill>
                  <a:srgbClr val="1A1917"/>
                </a:solidFill>
                <a:latin typeface="Cambria" pitchFamily="34" charset="0"/>
                <a:ea typeface="Cambria" pitchFamily="34" charset="-122"/>
                <a:cs typeface="Cambria" pitchFamily="34" charset="-120"/>
              </a:rPr>
              <a:t>Launch</a:t>
            </a:r>
            <a:endParaRPr lang="en-US" sz="1700" dirty="0"/>
          </a:p>
        </p:txBody>
      </p:sp>
      <p:sp>
        <p:nvSpPr>
          <p:cNvPr id="20" name="Text 18"/>
          <p:cNvSpPr/>
          <p:nvPr/>
        </p:nvSpPr>
        <p:spPr>
          <a:xfrm>
            <a:off x="4297680" y="4087368"/>
            <a:ext cx="1828800" cy="329184"/>
          </a:xfrm>
          <a:prstGeom prst="rect">
            <a:avLst/>
          </a:prstGeom>
          <a:noFill/>
          <a:ln/>
        </p:spPr>
        <p:txBody>
          <a:bodyPr wrap="square" lIns="0" tIns="0" rIns="0" bIns="0" rtlCol="0" anchor="ctr"/>
          <a:lstStyle/>
          <a:p>
            <a:pPr indent="0" marL="0">
              <a:buNone/>
            </a:pPr>
            <a:r>
              <a:rPr lang="en-US" sz="1250" b="1" dirty="0">
                <a:solidFill>
                  <a:srgbClr val="1A1917"/>
                </a:solidFill>
                <a:latin typeface="Calibri" pitchFamily="34" charset="0"/>
                <a:ea typeface="Calibri" pitchFamily="34" charset="-122"/>
                <a:cs typeface="Calibri" pitchFamily="34" charset="-120"/>
              </a:rPr>
              <a:t>28. Sep – 4. Okt</a:t>
            </a:r>
            <a:endParaRPr lang="en-US" sz="1250" dirty="0"/>
          </a:p>
        </p:txBody>
      </p:sp>
      <p:sp>
        <p:nvSpPr>
          <p:cNvPr id="21" name="Text 19"/>
          <p:cNvSpPr/>
          <p:nvPr/>
        </p:nvSpPr>
        <p:spPr>
          <a:xfrm>
            <a:off x="6217920" y="4059936"/>
            <a:ext cx="5120640" cy="457200"/>
          </a:xfrm>
          <a:prstGeom prst="rect">
            <a:avLst/>
          </a:prstGeom>
          <a:noFill/>
          <a:ln/>
        </p:spPr>
        <p:txBody>
          <a:bodyPr wrap="square" lIns="0" tIns="0" rIns="0" bIns="0" rtlCol="0" anchor="ctr"/>
          <a:lstStyle/>
          <a:p>
            <a:pPr indent="0" marL="0">
              <a:lnSpc>
                <a:spcPts val="1600"/>
              </a:lnSpc>
              <a:buNone/>
            </a:pPr>
            <a:r>
              <a:rPr lang="en-US" sz="1250" dirty="0">
                <a:solidFill>
                  <a:srgbClr val="6B655C"/>
                </a:solidFill>
                <a:latin typeface="Calibri" pitchFamily="34" charset="0"/>
                <a:ea typeface="Calibri" pitchFamily="34" charset="-122"/>
                <a:cs typeface="Calibri" pitchFamily="34" charset="-120"/>
              </a:rPr>
              <a:t>Alles online. Tag 0 der Messung.</a:t>
            </a:r>
            <a:endParaRPr lang="en-US" sz="1250" dirty="0"/>
          </a:p>
        </p:txBody>
      </p:sp>
      <p:sp>
        <p:nvSpPr>
          <p:cNvPr id="22" name="Shape 20"/>
          <p:cNvSpPr/>
          <p:nvPr/>
        </p:nvSpPr>
        <p:spPr>
          <a:xfrm>
            <a:off x="640080" y="4617720"/>
            <a:ext cx="10881360" cy="685800"/>
          </a:xfrm>
          <a:prstGeom prst="rect">
            <a:avLst/>
          </a:prstGeom>
          <a:solidFill>
            <a:srgbClr val="FFFFFF"/>
          </a:solidFill>
          <a:ln/>
        </p:spPr>
      </p:sp>
      <p:sp>
        <p:nvSpPr>
          <p:cNvPr id="23" name="Text 21"/>
          <p:cNvSpPr/>
          <p:nvPr/>
        </p:nvSpPr>
        <p:spPr>
          <a:xfrm>
            <a:off x="868680" y="4764024"/>
            <a:ext cx="1005840" cy="274320"/>
          </a:xfrm>
          <a:prstGeom prst="rect">
            <a:avLst/>
          </a:prstGeom>
          <a:noFill/>
          <a:ln/>
        </p:spPr>
        <p:txBody>
          <a:bodyPr wrap="square" lIns="0" tIns="0" rIns="0" bIns="0" rtlCol="0" anchor="ctr"/>
          <a:lstStyle/>
          <a:p>
            <a:pPr indent="0" marL="0">
              <a:buNone/>
            </a:pPr>
            <a:r>
              <a:rPr lang="en-US" sz="1000" spc="150" kern="0" dirty="0">
                <a:solidFill>
                  <a:srgbClr val="9A938A"/>
                </a:solidFill>
                <a:latin typeface="Calibri" pitchFamily="34" charset="0"/>
                <a:ea typeface="Calibri" pitchFamily="34" charset="-122"/>
                <a:cs typeface="Calibri" pitchFamily="34" charset="-120"/>
              </a:rPr>
              <a:t>Phase 4</a:t>
            </a:r>
            <a:endParaRPr lang="en-US" sz="1000" dirty="0"/>
          </a:p>
        </p:txBody>
      </p:sp>
      <p:sp>
        <p:nvSpPr>
          <p:cNvPr id="24" name="Text 22"/>
          <p:cNvSpPr/>
          <p:nvPr/>
        </p:nvSpPr>
        <p:spPr>
          <a:xfrm>
            <a:off x="1874520" y="4709160"/>
            <a:ext cx="2377440" cy="384048"/>
          </a:xfrm>
          <a:prstGeom prst="rect">
            <a:avLst/>
          </a:prstGeom>
          <a:noFill/>
          <a:ln/>
        </p:spPr>
        <p:txBody>
          <a:bodyPr wrap="square" lIns="0" tIns="0" rIns="0" bIns="0" rtlCol="0" anchor="ctr"/>
          <a:lstStyle/>
          <a:p>
            <a:pPr indent="0" marL="0">
              <a:buNone/>
            </a:pPr>
            <a:r>
              <a:rPr lang="en-US" sz="1700" dirty="0">
                <a:solidFill>
                  <a:srgbClr val="1A1917"/>
                </a:solidFill>
                <a:latin typeface="Cambria" pitchFamily="34" charset="0"/>
                <a:ea typeface="Cambria" pitchFamily="34" charset="-122"/>
                <a:cs typeface="Cambria" pitchFamily="34" charset="-120"/>
              </a:rPr>
              <a:t>Verkaufen und messen</a:t>
            </a:r>
            <a:endParaRPr lang="en-US" sz="1700" dirty="0"/>
          </a:p>
        </p:txBody>
      </p:sp>
      <p:sp>
        <p:nvSpPr>
          <p:cNvPr id="25" name="Text 23"/>
          <p:cNvSpPr/>
          <p:nvPr/>
        </p:nvSpPr>
        <p:spPr>
          <a:xfrm>
            <a:off x="4297680" y="4773168"/>
            <a:ext cx="1828800" cy="329184"/>
          </a:xfrm>
          <a:prstGeom prst="rect">
            <a:avLst/>
          </a:prstGeom>
          <a:noFill/>
          <a:ln/>
        </p:spPr>
        <p:txBody>
          <a:bodyPr wrap="square" lIns="0" tIns="0" rIns="0" bIns="0" rtlCol="0" anchor="ctr"/>
          <a:lstStyle/>
          <a:p>
            <a:pPr indent="0" marL="0">
              <a:buNone/>
            </a:pPr>
            <a:r>
              <a:rPr lang="en-US" sz="1250" b="1" dirty="0">
                <a:solidFill>
                  <a:srgbClr val="1A1917"/>
                </a:solidFill>
                <a:latin typeface="Calibri" pitchFamily="34" charset="0"/>
                <a:ea typeface="Calibri" pitchFamily="34" charset="-122"/>
                <a:cs typeface="Calibri" pitchFamily="34" charset="-120"/>
              </a:rPr>
              <a:t>5. Okt – 27. Dez</a:t>
            </a:r>
            <a:endParaRPr lang="en-US" sz="1250" dirty="0"/>
          </a:p>
        </p:txBody>
      </p:sp>
      <p:sp>
        <p:nvSpPr>
          <p:cNvPr id="26" name="Text 24"/>
          <p:cNvSpPr/>
          <p:nvPr/>
        </p:nvSpPr>
        <p:spPr>
          <a:xfrm>
            <a:off x="6217920" y="4745736"/>
            <a:ext cx="5120640" cy="457200"/>
          </a:xfrm>
          <a:prstGeom prst="rect">
            <a:avLst/>
          </a:prstGeom>
          <a:noFill/>
          <a:ln/>
        </p:spPr>
        <p:txBody>
          <a:bodyPr wrap="square" lIns="0" tIns="0" rIns="0" bIns="0" rtlCol="0" anchor="ctr"/>
          <a:lstStyle/>
          <a:p>
            <a:pPr indent="0" marL="0">
              <a:lnSpc>
                <a:spcPts val="1600"/>
              </a:lnSpc>
              <a:buNone/>
            </a:pPr>
            <a:r>
              <a:rPr lang="en-US" sz="1250" dirty="0">
                <a:solidFill>
                  <a:srgbClr val="6B655C"/>
                </a:solidFill>
                <a:latin typeface="Calibri" pitchFamily="34" charset="0"/>
                <a:ea typeface="Calibri" pitchFamily="34" charset="-122"/>
                <a:cs typeface="Calibri" pitchFamily="34" charset="-120"/>
              </a:rPr>
              <a:t>90 Tage Daten. Kein Nachkauf. Uhren ab November, Bänder-Recherche ab November.</a:t>
            </a:r>
            <a:endParaRPr lang="en-US" sz="1250" dirty="0"/>
          </a:p>
        </p:txBody>
      </p:sp>
      <p:sp>
        <p:nvSpPr>
          <p:cNvPr id="27" name="Text 25"/>
          <p:cNvSpPr/>
          <p:nvPr/>
        </p:nvSpPr>
        <p:spPr>
          <a:xfrm>
            <a:off x="868680" y="5449824"/>
            <a:ext cx="1005840" cy="274320"/>
          </a:xfrm>
          <a:prstGeom prst="rect">
            <a:avLst/>
          </a:prstGeom>
          <a:noFill/>
          <a:ln/>
        </p:spPr>
        <p:txBody>
          <a:bodyPr wrap="square" lIns="0" tIns="0" rIns="0" bIns="0" rtlCol="0" anchor="ctr"/>
          <a:lstStyle/>
          <a:p>
            <a:pPr indent="0" marL="0">
              <a:buNone/>
            </a:pPr>
            <a:r>
              <a:rPr lang="en-US" sz="1000" spc="150" kern="0" dirty="0">
                <a:solidFill>
                  <a:srgbClr val="9A938A"/>
                </a:solidFill>
                <a:latin typeface="Calibri" pitchFamily="34" charset="0"/>
                <a:ea typeface="Calibri" pitchFamily="34" charset="-122"/>
                <a:cs typeface="Calibri" pitchFamily="34" charset="-120"/>
              </a:rPr>
              <a:t>Phase 5</a:t>
            </a:r>
            <a:endParaRPr lang="en-US" sz="1000" dirty="0"/>
          </a:p>
        </p:txBody>
      </p:sp>
      <p:sp>
        <p:nvSpPr>
          <p:cNvPr id="28" name="Text 26"/>
          <p:cNvSpPr/>
          <p:nvPr/>
        </p:nvSpPr>
        <p:spPr>
          <a:xfrm>
            <a:off x="1874520" y="5394960"/>
            <a:ext cx="2377440" cy="384048"/>
          </a:xfrm>
          <a:prstGeom prst="rect">
            <a:avLst/>
          </a:prstGeom>
          <a:noFill/>
          <a:ln/>
        </p:spPr>
        <p:txBody>
          <a:bodyPr wrap="square" lIns="0" tIns="0" rIns="0" bIns="0" rtlCol="0" anchor="ctr"/>
          <a:lstStyle/>
          <a:p>
            <a:pPr indent="0" marL="0">
              <a:buNone/>
            </a:pPr>
            <a:r>
              <a:rPr lang="en-US" sz="1700" dirty="0">
                <a:solidFill>
                  <a:srgbClr val="1A1917"/>
                </a:solidFill>
                <a:latin typeface="Cambria" pitchFamily="34" charset="0"/>
                <a:ea typeface="Cambria" pitchFamily="34" charset="-122"/>
                <a:cs typeface="Cambria" pitchFamily="34" charset="-120"/>
              </a:rPr>
              <a:t>Gate</a:t>
            </a:r>
            <a:endParaRPr lang="en-US" sz="1700" dirty="0"/>
          </a:p>
        </p:txBody>
      </p:sp>
      <p:sp>
        <p:nvSpPr>
          <p:cNvPr id="29" name="Text 27"/>
          <p:cNvSpPr/>
          <p:nvPr/>
        </p:nvSpPr>
        <p:spPr>
          <a:xfrm>
            <a:off x="4297680" y="5458968"/>
            <a:ext cx="1828800" cy="329184"/>
          </a:xfrm>
          <a:prstGeom prst="rect">
            <a:avLst/>
          </a:prstGeom>
          <a:noFill/>
          <a:ln/>
        </p:spPr>
        <p:txBody>
          <a:bodyPr wrap="square" lIns="0" tIns="0" rIns="0" bIns="0" rtlCol="0" anchor="ctr"/>
          <a:lstStyle/>
          <a:p>
            <a:pPr indent="0" marL="0">
              <a:buNone/>
            </a:pPr>
            <a:r>
              <a:rPr lang="en-US" sz="1250" b="1" dirty="0">
                <a:solidFill>
                  <a:srgbClr val="1A1917"/>
                </a:solidFill>
                <a:latin typeface="Calibri" pitchFamily="34" charset="0"/>
                <a:ea typeface="Calibri" pitchFamily="34" charset="-122"/>
                <a:cs typeface="Calibri" pitchFamily="34" charset="-120"/>
              </a:rPr>
              <a:t>4. Januar 2027</a:t>
            </a:r>
            <a:endParaRPr lang="en-US" sz="1250" dirty="0"/>
          </a:p>
        </p:txBody>
      </p:sp>
      <p:sp>
        <p:nvSpPr>
          <p:cNvPr id="30" name="Text 28"/>
          <p:cNvSpPr/>
          <p:nvPr/>
        </p:nvSpPr>
        <p:spPr>
          <a:xfrm>
            <a:off x="6217920" y="5431536"/>
            <a:ext cx="5120640" cy="457200"/>
          </a:xfrm>
          <a:prstGeom prst="rect">
            <a:avLst/>
          </a:prstGeom>
          <a:noFill/>
          <a:ln/>
        </p:spPr>
        <p:txBody>
          <a:bodyPr wrap="square" lIns="0" tIns="0" rIns="0" bIns="0" rtlCol="0" anchor="ctr"/>
          <a:lstStyle/>
          <a:p>
            <a:pPr indent="0" marL="0">
              <a:lnSpc>
                <a:spcPts val="1600"/>
              </a:lnSpc>
              <a:buNone/>
            </a:pPr>
            <a:r>
              <a:rPr lang="en-US" sz="1250" dirty="0">
                <a:solidFill>
                  <a:srgbClr val="6B655C"/>
                </a:solidFill>
                <a:latin typeface="Calibri" pitchFamily="34" charset="0"/>
                <a:ea typeface="Calibri" pitchFamily="34" charset="-122"/>
                <a:cs typeface="Calibri" pitchFamily="34" charset="-120"/>
              </a:rPr>
              <a:t>Entscheid nach der Regel, die wir heute festlegen.</a:t>
            </a:r>
            <a:endParaRPr lang="en-US" sz="1250" dirty="0"/>
          </a:p>
        </p:txBody>
      </p:sp>
      <p:sp>
        <p:nvSpPr>
          <p:cNvPr id="31" name="Shape 29"/>
          <p:cNvSpPr/>
          <p:nvPr/>
        </p:nvSpPr>
        <p:spPr>
          <a:xfrm>
            <a:off x="640080" y="5989320"/>
            <a:ext cx="10881360" cy="18288"/>
          </a:xfrm>
          <a:prstGeom prst="rect">
            <a:avLst/>
          </a:prstGeom>
          <a:solidFill>
            <a:srgbClr val="E4DED3"/>
          </a:solidFill>
          <a:ln/>
        </p:spPr>
      </p:sp>
      <p:sp>
        <p:nvSpPr>
          <p:cNvPr id="32" name="Text 30"/>
          <p:cNvSpPr/>
          <p:nvPr/>
        </p:nvSpPr>
        <p:spPr>
          <a:xfrm>
            <a:off x="640080" y="6263640"/>
            <a:ext cx="10881360" cy="320040"/>
          </a:xfrm>
          <a:prstGeom prst="rect">
            <a:avLst/>
          </a:prstGeom>
          <a:noFill/>
          <a:ln/>
        </p:spPr>
        <p:txBody>
          <a:bodyPr wrap="square" lIns="0" tIns="0" rIns="0" bIns="0" rtlCol="0" anchor="ctr"/>
          <a:lstStyle/>
          <a:p>
            <a:pPr indent="0" marL="0">
              <a:buNone/>
            </a:pPr>
            <a:r>
              <a:rPr lang="en-US" sz="1300" i="1" dirty="0">
                <a:solidFill>
                  <a:srgbClr val="9A938A"/>
                </a:solidFill>
                <a:latin typeface="Calibri" pitchFamily="34" charset="0"/>
                <a:ea typeface="Calibri" pitchFamily="34" charset="-122"/>
                <a:cs typeface="Calibri" pitchFamily="34" charset="-120"/>
              </a:rPr>
              <a:t>53 Aufgaben mit Namen, Frist und Aufwand liegen in der App. Änderbar — ein Plan, den niemand anfasst, ist keiner.</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640080" y="475488"/>
            <a:ext cx="10881360" cy="274320"/>
          </a:xfrm>
          <a:prstGeom prst="rect">
            <a:avLst/>
          </a:prstGeom>
          <a:noFill/>
          <a:ln/>
        </p:spPr>
        <p:txBody>
          <a:bodyPr wrap="square" lIns="0" tIns="0" rIns="0" bIns="0" rtlCol="0" anchor="ctr"/>
          <a:lstStyle/>
          <a:p>
            <a:pPr indent="0" marL="0">
              <a:buNone/>
            </a:pPr>
            <a:r>
              <a:rPr lang="en-US" sz="1100" spc="300" kern="0" dirty="0">
                <a:solidFill>
                  <a:srgbClr val="9A938A"/>
                </a:solidFill>
                <a:latin typeface="Calibri" pitchFamily="34" charset="0"/>
                <a:ea typeface="Calibri" pitchFamily="34" charset="-122"/>
                <a:cs typeface="Calibri" pitchFamily="34" charset="-120"/>
              </a:rPr>
              <a:t>DIE BREMSE</a:t>
            </a:r>
            <a:endParaRPr lang="en-US" sz="1100" dirty="0"/>
          </a:p>
        </p:txBody>
      </p:sp>
      <p:sp>
        <p:nvSpPr>
          <p:cNvPr id="3" name="Text 1"/>
          <p:cNvSpPr/>
          <p:nvPr/>
        </p:nvSpPr>
        <p:spPr>
          <a:xfrm>
            <a:off x="640080" y="777240"/>
            <a:ext cx="10881360" cy="868680"/>
          </a:xfrm>
          <a:prstGeom prst="rect">
            <a:avLst/>
          </a:prstGeom>
          <a:noFill/>
          <a:ln/>
        </p:spPr>
        <p:txBody>
          <a:bodyPr wrap="square" lIns="0" tIns="0" rIns="0" bIns="0" rtlCol="0" anchor="t"/>
          <a:lstStyle/>
          <a:p>
            <a:pPr indent="0" marL="0">
              <a:buNone/>
            </a:pPr>
            <a:r>
              <a:rPr lang="en-US" sz="3800" dirty="0">
                <a:solidFill>
                  <a:srgbClr val="1A1917"/>
                </a:solidFill>
                <a:latin typeface="Cambria" pitchFamily="34" charset="0"/>
                <a:ea typeface="Cambria" pitchFamily="34" charset="-122"/>
                <a:cs typeface="Cambria" pitchFamily="34" charset="-120"/>
              </a:rPr>
              <a:t>Die Abbruchregel legen wir heute fest</a:t>
            </a:r>
            <a:endParaRPr lang="en-US" sz="3800" dirty="0"/>
          </a:p>
        </p:txBody>
      </p:sp>
      <p:sp>
        <p:nvSpPr>
          <p:cNvPr id="4" name="Text 2"/>
          <p:cNvSpPr/>
          <p:nvPr/>
        </p:nvSpPr>
        <p:spPr>
          <a:xfrm>
            <a:off x="640080" y="1664208"/>
            <a:ext cx="10058400" cy="640080"/>
          </a:xfrm>
          <a:prstGeom prst="rect">
            <a:avLst/>
          </a:prstGeom>
          <a:noFill/>
          <a:ln/>
        </p:spPr>
        <p:txBody>
          <a:bodyPr wrap="square" lIns="0" tIns="0" rIns="0" bIns="0" rtlCol="0" anchor="ctr"/>
          <a:lstStyle/>
          <a:p>
            <a:pPr indent="0" marL="0">
              <a:lnSpc>
                <a:spcPts val="2200"/>
              </a:lnSpc>
              <a:buNone/>
            </a:pPr>
            <a:r>
              <a:rPr lang="en-US" sz="1600" dirty="0">
                <a:solidFill>
                  <a:srgbClr val="6B655C"/>
                </a:solidFill>
                <a:latin typeface="Calibri" pitchFamily="34" charset="0"/>
                <a:ea typeface="Calibri" pitchFamily="34" charset="-122"/>
                <a:cs typeface="Calibri" pitchFamily="34" charset="-120"/>
              </a:rPr>
              <a:t>Im Januar ist jede Zahl verhandelbar, wenn man sie erst dann bewertet. Deshalb steht die Regel vorher — dann ist sie im Januar noch etwas wert.</a:t>
            </a:r>
            <a:endParaRPr lang="en-US" sz="1600" dirty="0"/>
          </a:p>
        </p:txBody>
      </p:sp>
      <p:sp>
        <p:nvSpPr>
          <p:cNvPr id="5" name="Shape 3"/>
          <p:cNvSpPr/>
          <p:nvPr/>
        </p:nvSpPr>
        <p:spPr>
          <a:xfrm>
            <a:off x="640080" y="2697480"/>
            <a:ext cx="3429000" cy="2377440"/>
          </a:xfrm>
          <a:prstGeom prst="rect">
            <a:avLst/>
          </a:prstGeom>
          <a:solidFill>
            <a:srgbClr val="FFFFFF"/>
          </a:solidFill>
          <a:ln w="9525">
            <a:solidFill>
              <a:srgbClr val="E4DED3"/>
            </a:solidFill>
            <a:prstDash val="solid"/>
          </a:ln>
        </p:spPr>
      </p:sp>
      <p:sp>
        <p:nvSpPr>
          <p:cNvPr id="6" name="Text 4"/>
          <p:cNvSpPr/>
          <p:nvPr/>
        </p:nvSpPr>
        <p:spPr>
          <a:xfrm>
            <a:off x="932688" y="2935224"/>
            <a:ext cx="2843784" cy="219456"/>
          </a:xfrm>
          <a:prstGeom prst="rect">
            <a:avLst/>
          </a:prstGeom>
          <a:noFill/>
          <a:ln/>
        </p:spPr>
        <p:txBody>
          <a:bodyPr wrap="square" lIns="0" tIns="0" rIns="0" bIns="0" rtlCol="0" anchor="ctr"/>
          <a:lstStyle/>
          <a:p>
            <a:pPr indent="0" marL="0">
              <a:buNone/>
            </a:pPr>
            <a:r>
              <a:rPr lang="en-US" sz="1000" spc="200" kern="0" dirty="0">
                <a:solidFill>
                  <a:srgbClr val="3F6B4A"/>
                </a:solidFill>
                <a:latin typeface="Calibri" pitchFamily="34" charset="0"/>
                <a:ea typeface="Calibri" pitchFamily="34" charset="-122"/>
                <a:cs typeface="Calibri" pitchFamily="34" charset="-120"/>
              </a:rPr>
              <a:t>AB 9 VON 30 VERKAUFT</a:t>
            </a:r>
            <a:endParaRPr lang="en-US" sz="1000" dirty="0"/>
          </a:p>
        </p:txBody>
      </p:sp>
      <p:sp>
        <p:nvSpPr>
          <p:cNvPr id="7" name="Text 5"/>
          <p:cNvSpPr/>
          <p:nvPr/>
        </p:nvSpPr>
        <p:spPr>
          <a:xfrm>
            <a:off x="932688" y="3209544"/>
            <a:ext cx="2843784" cy="502920"/>
          </a:xfrm>
          <a:prstGeom prst="rect">
            <a:avLst/>
          </a:prstGeom>
          <a:noFill/>
          <a:ln/>
        </p:spPr>
        <p:txBody>
          <a:bodyPr wrap="square" lIns="0" tIns="0" rIns="0" bIns="0" rtlCol="0" anchor="ctr"/>
          <a:lstStyle/>
          <a:p>
            <a:pPr indent="0" marL="0">
              <a:buNone/>
            </a:pPr>
            <a:r>
              <a:rPr lang="en-US" sz="2700" dirty="0">
                <a:solidFill>
                  <a:srgbClr val="3F6B4A"/>
                </a:solidFill>
                <a:latin typeface="Cambria" pitchFamily="34" charset="0"/>
                <a:ea typeface="Cambria" pitchFamily="34" charset="-122"/>
                <a:cs typeface="Cambria" pitchFamily="34" charset="-120"/>
              </a:rPr>
              <a:t>Weiter</a:t>
            </a:r>
            <a:endParaRPr lang="en-US" sz="2700" dirty="0"/>
          </a:p>
        </p:txBody>
      </p:sp>
      <p:sp>
        <p:nvSpPr>
          <p:cNvPr id="8" name="Text 6"/>
          <p:cNvSpPr/>
          <p:nvPr/>
        </p:nvSpPr>
        <p:spPr>
          <a:xfrm>
            <a:off x="932688" y="3803904"/>
            <a:ext cx="2843784" cy="1051560"/>
          </a:xfrm>
          <a:prstGeom prst="rect">
            <a:avLst/>
          </a:prstGeom>
          <a:noFill/>
          <a:ln/>
        </p:spPr>
        <p:txBody>
          <a:bodyPr wrap="square" lIns="0" tIns="0" rIns="0" bIns="0" rtlCol="0" anchor="t"/>
          <a:lstStyle/>
          <a:p>
            <a:pPr indent="0" marL="0">
              <a:lnSpc>
                <a:spcPts val="1900"/>
              </a:lnSpc>
              <a:buNone/>
            </a:pPr>
            <a:r>
              <a:rPr lang="en-US" sz="1350" dirty="0">
                <a:solidFill>
                  <a:srgbClr val="6B655C"/>
                </a:solidFill>
                <a:latin typeface="Calibri" pitchFamily="34" charset="0"/>
                <a:ea typeface="Calibri" pitchFamily="34" charset="-122"/>
                <a:cs typeface="Calibri" pitchFamily="34" charset="-120"/>
              </a:rPr>
              <a:t>Charge 2 mit doppelter Menge und den gleichen Kriterien. Der Kurs stimmt.</a:t>
            </a:r>
            <a:endParaRPr lang="en-US" sz="1350" dirty="0"/>
          </a:p>
        </p:txBody>
      </p:sp>
      <p:sp>
        <p:nvSpPr>
          <p:cNvPr id="9" name="Shape 7"/>
          <p:cNvSpPr/>
          <p:nvPr/>
        </p:nvSpPr>
        <p:spPr>
          <a:xfrm>
            <a:off x="4343400" y="2697480"/>
            <a:ext cx="3429000" cy="2377440"/>
          </a:xfrm>
          <a:prstGeom prst="rect">
            <a:avLst/>
          </a:prstGeom>
          <a:solidFill>
            <a:srgbClr val="FFFFFF"/>
          </a:solidFill>
          <a:ln w="9525">
            <a:solidFill>
              <a:srgbClr val="E4DED3"/>
            </a:solidFill>
            <a:prstDash val="solid"/>
          </a:ln>
        </p:spPr>
      </p:sp>
      <p:sp>
        <p:nvSpPr>
          <p:cNvPr id="10" name="Text 8"/>
          <p:cNvSpPr/>
          <p:nvPr/>
        </p:nvSpPr>
        <p:spPr>
          <a:xfrm>
            <a:off x="4636008" y="2935224"/>
            <a:ext cx="2843784" cy="219456"/>
          </a:xfrm>
          <a:prstGeom prst="rect">
            <a:avLst/>
          </a:prstGeom>
          <a:noFill/>
          <a:ln/>
        </p:spPr>
        <p:txBody>
          <a:bodyPr wrap="square" lIns="0" tIns="0" rIns="0" bIns="0" rtlCol="0" anchor="ctr"/>
          <a:lstStyle/>
          <a:p>
            <a:pPr indent="0" marL="0">
              <a:buNone/>
            </a:pPr>
            <a:r>
              <a:rPr lang="en-US" sz="1000" spc="200" kern="0" dirty="0">
                <a:solidFill>
                  <a:srgbClr val="A8761E"/>
                </a:solidFill>
                <a:latin typeface="Calibri" pitchFamily="34" charset="0"/>
                <a:ea typeface="Calibri" pitchFamily="34" charset="-122"/>
                <a:cs typeface="Calibri" pitchFamily="34" charset="-120"/>
              </a:rPr>
              <a:t>5 BIS 8 VERKAUFT</a:t>
            </a:r>
            <a:endParaRPr lang="en-US" sz="1000" dirty="0"/>
          </a:p>
        </p:txBody>
      </p:sp>
      <p:sp>
        <p:nvSpPr>
          <p:cNvPr id="11" name="Text 9"/>
          <p:cNvSpPr/>
          <p:nvPr/>
        </p:nvSpPr>
        <p:spPr>
          <a:xfrm>
            <a:off x="4636008" y="3209544"/>
            <a:ext cx="2843784" cy="502920"/>
          </a:xfrm>
          <a:prstGeom prst="rect">
            <a:avLst/>
          </a:prstGeom>
          <a:noFill/>
          <a:ln/>
        </p:spPr>
        <p:txBody>
          <a:bodyPr wrap="square" lIns="0" tIns="0" rIns="0" bIns="0" rtlCol="0" anchor="ctr"/>
          <a:lstStyle/>
          <a:p>
            <a:pPr indent="0" marL="0">
              <a:buNone/>
            </a:pPr>
            <a:r>
              <a:rPr lang="en-US" sz="2700" dirty="0">
                <a:solidFill>
                  <a:srgbClr val="A8761E"/>
                </a:solidFill>
                <a:latin typeface="Cambria" pitchFamily="34" charset="0"/>
                <a:ea typeface="Cambria" pitchFamily="34" charset="-122"/>
                <a:cs typeface="Cambria" pitchFamily="34" charset="-120"/>
              </a:rPr>
              <a:t>Korrigieren</a:t>
            </a:r>
            <a:endParaRPr lang="en-US" sz="2700" dirty="0"/>
          </a:p>
        </p:txBody>
      </p:sp>
      <p:sp>
        <p:nvSpPr>
          <p:cNvPr id="12" name="Text 10"/>
          <p:cNvSpPr/>
          <p:nvPr/>
        </p:nvSpPr>
        <p:spPr>
          <a:xfrm>
            <a:off x="4636008" y="3803904"/>
            <a:ext cx="2843784" cy="1051560"/>
          </a:xfrm>
          <a:prstGeom prst="rect">
            <a:avLst/>
          </a:prstGeom>
          <a:noFill/>
          <a:ln/>
        </p:spPr>
        <p:txBody>
          <a:bodyPr wrap="square" lIns="0" tIns="0" rIns="0" bIns="0" rtlCol="0" anchor="t"/>
          <a:lstStyle/>
          <a:p>
            <a:pPr indent="0" marL="0">
              <a:lnSpc>
                <a:spcPts val="1900"/>
              </a:lnSpc>
              <a:buNone/>
            </a:pPr>
            <a:r>
              <a:rPr lang="en-US" sz="1350" dirty="0">
                <a:solidFill>
                  <a:srgbClr val="6B655C"/>
                </a:solidFill>
                <a:latin typeface="Calibri" pitchFamily="34" charset="0"/>
                <a:ea typeface="Calibri" pitchFamily="34" charset="-122"/>
                <a:cs typeface="Calibri" pitchFamily="34" charset="-120"/>
              </a:rPr>
              <a:t>Kein Nachkauf. Erst Kanal und Preis anpassen, Restbestand abverkaufen, dann neu messen.</a:t>
            </a:r>
            <a:endParaRPr lang="en-US" sz="1350" dirty="0"/>
          </a:p>
        </p:txBody>
      </p:sp>
      <p:sp>
        <p:nvSpPr>
          <p:cNvPr id="13" name="Shape 11"/>
          <p:cNvSpPr/>
          <p:nvPr/>
        </p:nvSpPr>
        <p:spPr>
          <a:xfrm>
            <a:off x="8046720" y="2697480"/>
            <a:ext cx="3429000" cy="2377440"/>
          </a:xfrm>
          <a:prstGeom prst="rect">
            <a:avLst/>
          </a:prstGeom>
          <a:solidFill>
            <a:srgbClr val="FFFFFF"/>
          </a:solidFill>
          <a:ln w="9525">
            <a:solidFill>
              <a:srgbClr val="E4DED3"/>
            </a:solidFill>
            <a:prstDash val="solid"/>
          </a:ln>
        </p:spPr>
      </p:sp>
      <p:sp>
        <p:nvSpPr>
          <p:cNvPr id="14" name="Text 12"/>
          <p:cNvSpPr/>
          <p:nvPr/>
        </p:nvSpPr>
        <p:spPr>
          <a:xfrm>
            <a:off x="8339328" y="2935224"/>
            <a:ext cx="2843784" cy="219456"/>
          </a:xfrm>
          <a:prstGeom prst="rect">
            <a:avLst/>
          </a:prstGeom>
          <a:noFill/>
          <a:ln/>
        </p:spPr>
        <p:txBody>
          <a:bodyPr wrap="square" lIns="0" tIns="0" rIns="0" bIns="0" rtlCol="0" anchor="ctr"/>
          <a:lstStyle/>
          <a:p>
            <a:pPr indent="0" marL="0">
              <a:buNone/>
            </a:pPr>
            <a:r>
              <a:rPr lang="en-US" sz="1000" spc="200" kern="0" dirty="0">
                <a:solidFill>
                  <a:srgbClr val="A33D2E"/>
                </a:solidFill>
                <a:latin typeface="Calibri" pitchFamily="34" charset="0"/>
                <a:ea typeface="Calibri" pitchFamily="34" charset="-122"/>
                <a:cs typeface="Calibri" pitchFamily="34" charset="-120"/>
              </a:rPr>
              <a:t>UNTER 5 VERKAUFT</a:t>
            </a:r>
            <a:endParaRPr lang="en-US" sz="1000" dirty="0"/>
          </a:p>
        </p:txBody>
      </p:sp>
      <p:sp>
        <p:nvSpPr>
          <p:cNvPr id="15" name="Text 13"/>
          <p:cNvSpPr/>
          <p:nvPr/>
        </p:nvSpPr>
        <p:spPr>
          <a:xfrm>
            <a:off x="8339328" y="3209544"/>
            <a:ext cx="2843784" cy="502920"/>
          </a:xfrm>
          <a:prstGeom prst="rect">
            <a:avLst/>
          </a:prstGeom>
          <a:noFill/>
          <a:ln/>
        </p:spPr>
        <p:txBody>
          <a:bodyPr wrap="square" lIns="0" tIns="0" rIns="0" bIns="0" rtlCol="0" anchor="ctr"/>
          <a:lstStyle/>
          <a:p>
            <a:pPr indent="0" marL="0">
              <a:buNone/>
            </a:pPr>
            <a:r>
              <a:rPr lang="en-US" sz="2700" dirty="0">
                <a:solidFill>
                  <a:srgbClr val="A33D2E"/>
                </a:solidFill>
                <a:latin typeface="Cambria" pitchFamily="34" charset="0"/>
                <a:ea typeface="Cambria" pitchFamily="34" charset="-122"/>
                <a:cs typeface="Cambria" pitchFamily="34" charset="-120"/>
              </a:rPr>
              <a:t>Stopp</a:t>
            </a:r>
            <a:endParaRPr lang="en-US" sz="2700" dirty="0"/>
          </a:p>
        </p:txBody>
      </p:sp>
      <p:sp>
        <p:nvSpPr>
          <p:cNvPr id="16" name="Text 14"/>
          <p:cNvSpPr/>
          <p:nvPr/>
        </p:nvSpPr>
        <p:spPr>
          <a:xfrm>
            <a:off x="8339328" y="3803904"/>
            <a:ext cx="2843784" cy="1051560"/>
          </a:xfrm>
          <a:prstGeom prst="rect">
            <a:avLst/>
          </a:prstGeom>
          <a:noFill/>
          <a:ln/>
        </p:spPr>
        <p:txBody>
          <a:bodyPr wrap="square" lIns="0" tIns="0" rIns="0" bIns="0" rtlCol="0" anchor="t"/>
          <a:lstStyle/>
          <a:p>
            <a:pPr indent="0" marL="0">
              <a:lnSpc>
                <a:spcPts val="1900"/>
              </a:lnSpc>
              <a:buNone/>
            </a:pPr>
            <a:r>
              <a:rPr lang="en-US" sz="1350" dirty="0">
                <a:solidFill>
                  <a:srgbClr val="6B655C"/>
                </a:solidFill>
                <a:latin typeface="Calibri" pitchFamily="34" charset="0"/>
                <a:ea typeface="Calibri" pitchFamily="34" charset="-122"/>
                <a:cs typeface="Calibri" pitchFamily="34" charset="-120"/>
              </a:rPr>
              <a:t>Der Einkauf war falsch. Restbestand abverkaufen und entweder Kriterien komplett neu — oder wir lassen es.</a:t>
            </a:r>
            <a:endParaRPr lang="en-US" sz="1350" dirty="0"/>
          </a:p>
        </p:txBody>
      </p:sp>
      <p:sp>
        <p:nvSpPr>
          <p:cNvPr id="17" name="Shape 15"/>
          <p:cNvSpPr/>
          <p:nvPr/>
        </p:nvSpPr>
        <p:spPr>
          <a:xfrm>
            <a:off x="640080" y="5349240"/>
            <a:ext cx="10881360" cy="822960"/>
          </a:xfrm>
          <a:prstGeom prst="rect">
            <a:avLst/>
          </a:prstGeom>
          <a:solidFill>
            <a:srgbClr val="F1EDE6"/>
          </a:solidFill>
          <a:ln/>
        </p:spPr>
      </p:sp>
      <p:sp>
        <p:nvSpPr>
          <p:cNvPr id="18" name="Text 16"/>
          <p:cNvSpPr/>
          <p:nvPr/>
        </p:nvSpPr>
        <p:spPr>
          <a:xfrm>
            <a:off x="960120" y="5532120"/>
            <a:ext cx="10241280" cy="457200"/>
          </a:xfrm>
          <a:prstGeom prst="rect">
            <a:avLst/>
          </a:prstGeom>
          <a:noFill/>
          <a:ln/>
        </p:spPr>
        <p:txBody>
          <a:bodyPr wrap="square" lIns="0" tIns="0" rIns="0" bIns="0" rtlCol="0" anchor="ctr"/>
          <a:lstStyle/>
          <a:p>
            <a:pPr indent="0" marL="0">
              <a:buNone/>
            </a:pPr>
            <a:r>
              <a:rPr lang="en-US" sz="1400" dirty="0">
                <a:solidFill>
                  <a:srgbClr val="1A1917"/>
                </a:solidFill>
                <a:latin typeface="Calibri" pitchFamily="34" charset="0"/>
                <a:ea typeface="Calibri" pitchFamily="34" charset="-122"/>
                <a:cs typeface="Calibri" pitchFamily="34" charset="-120"/>
              </a:rPr>
              <a:t>Und unabhängig davon: liegt der Stundenlohn unter CHF 25, schlägt das Projekt keinen Nebenjob. Auch das gehört im Januar ausgesprochen.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640080" y="475488"/>
            <a:ext cx="10881360" cy="274320"/>
          </a:xfrm>
          <a:prstGeom prst="rect">
            <a:avLst/>
          </a:prstGeom>
          <a:noFill/>
          <a:ln/>
        </p:spPr>
        <p:txBody>
          <a:bodyPr wrap="square" lIns="0" tIns="0" rIns="0" bIns="0" rtlCol="0" anchor="ctr"/>
          <a:lstStyle/>
          <a:p>
            <a:pPr indent="0" marL="0">
              <a:buNone/>
            </a:pPr>
            <a:r>
              <a:rPr lang="en-US" sz="1100" spc="300" kern="0" dirty="0">
                <a:solidFill>
                  <a:srgbClr val="9A938A"/>
                </a:solidFill>
                <a:latin typeface="Calibri" pitchFamily="34" charset="0"/>
                <a:ea typeface="Calibri" pitchFamily="34" charset="-122"/>
                <a:cs typeface="Calibri" pitchFamily="34" charset="-120"/>
              </a:rPr>
              <a:t>BEVOR GELD FLIESST</a:t>
            </a:r>
            <a:endParaRPr lang="en-US" sz="1100" dirty="0"/>
          </a:p>
        </p:txBody>
      </p:sp>
      <p:sp>
        <p:nvSpPr>
          <p:cNvPr id="3" name="Text 1"/>
          <p:cNvSpPr/>
          <p:nvPr/>
        </p:nvSpPr>
        <p:spPr>
          <a:xfrm>
            <a:off x="640080" y="777240"/>
            <a:ext cx="10881360" cy="868680"/>
          </a:xfrm>
          <a:prstGeom prst="rect">
            <a:avLst/>
          </a:prstGeom>
          <a:noFill/>
          <a:ln/>
        </p:spPr>
        <p:txBody>
          <a:bodyPr wrap="square" lIns="0" tIns="0" rIns="0" bIns="0" rtlCol="0" anchor="t"/>
          <a:lstStyle/>
          <a:p>
            <a:pPr indent="0" marL="0">
              <a:buNone/>
            </a:pPr>
            <a:r>
              <a:rPr lang="en-US" sz="3800" dirty="0">
                <a:solidFill>
                  <a:srgbClr val="1A1917"/>
                </a:solidFill>
                <a:latin typeface="Cambria" pitchFamily="34" charset="0"/>
                <a:ea typeface="Cambria" pitchFamily="34" charset="-122"/>
                <a:cs typeface="Cambria" pitchFamily="34" charset="-120"/>
              </a:rPr>
              <a:t>Vier Dinge, die geklärt sein müssen</a:t>
            </a:r>
            <a:endParaRPr lang="en-US" sz="3800" dirty="0"/>
          </a:p>
        </p:txBody>
      </p:sp>
      <p:sp>
        <p:nvSpPr>
          <p:cNvPr id="4" name="Shape 2"/>
          <p:cNvSpPr/>
          <p:nvPr/>
        </p:nvSpPr>
        <p:spPr>
          <a:xfrm>
            <a:off x="640080" y="1828800"/>
            <a:ext cx="5349240" cy="2103120"/>
          </a:xfrm>
          <a:prstGeom prst="rect">
            <a:avLst/>
          </a:prstGeom>
          <a:solidFill>
            <a:srgbClr val="FFFFFF"/>
          </a:solidFill>
          <a:ln w="9525">
            <a:solidFill>
              <a:srgbClr val="E4DED3"/>
            </a:solidFill>
            <a:prstDash val="solid"/>
          </a:ln>
        </p:spPr>
      </p:sp>
      <p:sp>
        <p:nvSpPr>
          <p:cNvPr id="5" name="Text 3"/>
          <p:cNvSpPr/>
          <p:nvPr/>
        </p:nvSpPr>
        <p:spPr>
          <a:xfrm>
            <a:off x="932688" y="2066544"/>
            <a:ext cx="4764024" cy="411480"/>
          </a:xfrm>
          <a:prstGeom prst="rect">
            <a:avLst/>
          </a:prstGeom>
          <a:noFill/>
          <a:ln/>
        </p:spPr>
        <p:txBody>
          <a:bodyPr wrap="square" lIns="0" tIns="0" rIns="0" bIns="0" rtlCol="0" anchor="ctr"/>
          <a:lstStyle/>
          <a:p>
            <a:pPr indent="0" marL="0">
              <a:buNone/>
            </a:pPr>
            <a:r>
              <a:rPr lang="en-US" sz="2200" dirty="0">
                <a:solidFill>
                  <a:srgbClr val="1A1917"/>
                </a:solidFill>
                <a:latin typeface="Cambria" pitchFamily="34" charset="0"/>
                <a:ea typeface="Cambria" pitchFamily="34" charset="-122"/>
                <a:cs typeface="Cambria" pitchFamily="34" charset="-120"/>
              </a:rPr>
              <a:t>Rechtsform</a:t>
            </a:r>
            <a:endParaRPr lang="en-US" sz="2200" dirty="0"/>
          </a:p>
        </p:txBody>
      </p:sp>
      <p:sp>
        <p:nvSpPr>
          <p:cNvPr id="6" name="Text 4"/>
          <p:cNvSpPr/>
          <p:nvPr/>
        </p:nvSpPr>
        <p:spPr>
          <a:xfrm>
            <a:off x="932688" y="2569464"/>
            <a:ext cx="4764024" cy="1143000"/>
          </a:xfrm>
          <a:prstGeom prst="rect">
            <a:avLst/>
          </a:prstGeom>
          <a:noFill/>
          <a:ln/>
        </p:spPr>
        <p:txBody>
          <a:bodyPr wrap="square" lIns="0" tIns="0" rIns="0" bIns="0" rtlCol="0" anchor="t"/>
          <a:lstStyle/>
          <a:p>
            <a:pPr indent="0" marL="0">
              <a:lnSpc>
                <a:spcPts val="1900"/>
              </a:lnSpc>
              <a:buNone/>
            </a:pPr>
            <a:r>
              <a:rPr lang="en-US" sz="1300" dirty="0">
                <a:solidFill>
                  <a:srgbClr val="6B655C"/>
                </a:solidFill>
                <a:latin typeface="Calibri" pitchFamily="34" charset="0"/>
                <a:ea typeface="Calibri" pitchFamily="34" charset="-122"/>
                <a:cs typeface="Calibri" pitchFamily="34" charset="-120"/>
              </a:rPr>
              <a:t>Ohne schriftlichen Vertrag sind wir eine einfache Gesellschaft nach Art. 530 ff. OR: unbeschränkte, solidarische Haftung mit dem Privatvermögen. Jeder haftet für alles — auch für das, was die anderen entscheiden.</a:t>
            </a:r>
            <a:endParaRPr lang="en-US" sz="1300" dirty="0"/>
          </a:p>
        </p:txBody>
      </p:sp>
      <p:sp>
        <p:nvSpPr>
          <p:cNvPr id="7" name="Shape 5"/>
          <p:cNvSpPr/>
          <p:nvPr/>
        </p:nvSpPr>
        <p:spPr>
          <a:xfrm>
            <a:off x="6172200" y="1828800"/>
            <a:ext cx="5349240" cy="2103120"/>
          </a:xfrm>
          <a:prstGeom prst="rect">
            <a:avLst/>
          </a:prstGeom>
          <a:solidFill>
            <a:srgbClr val="FFFFFF"/>
          </a:solidFill>
          <a:ln w="9525">
            <a:solidFill>
              <a:srgbClr val="E4DED3"/>
            </a:solidFill>
            <a:prstDash val="solid"/>
          </a:ln>
        </p:spPr>
      </p:sp>
      <p:sp>
        <p:nvSpPr>
          <p:cNvPr id="8" name="Text 6"/>
          <p:cNvSpPr/>
          <p:nvPr/>
        </p:nvSpPr>
        <p:spPr>
          <a:xfrm>
            <a:off x="6464808" y="2066544"/>
            <a:ext cx="4764024" cy="411480"/>
          </a:xfrm>
          <a:prstGeom prst="rect">
            <a:avLst/>
          </a:prstGeom>
          <a:noFill/>
          <a:ln/>
        </p:spPr>
        <p:txBody>
          <a:bodyPr wrap="square" lIns="0" tIns="0" rIns="0" bIns="0" rtlCol="0" anchor="ctr"/>
          <a:lstStyle/>
          <a:p>
            <a:pPr indent="0" marL="0">
              <a:buNone/>
            </a:pPr>
            <a:r>
              <a:rPr lang="en-US" sz="2200" dirty="0">
                <a:solidFill>
                  <a:srgbClr val="1A1917"/>
                </a:solidFill>
                <a:latin typeface="Cambria" pitchFamily="34" charset="0"/>
                <a:ea typeface="Cambria" pitchFamily="34" charset="-122"/>
                <a:cs typeface="Cambria" pitchFamily="34" charset="-120"/>
              </a:rPr>
              <a:t>Uhrenvertrag</a:t>
            </a:r>
            <a:endParaRPr lang="en-US" sz="2200" dirty="0"/>
          </a:p>
        </p:txBody>
      </p:sp>
      <p:sp>
        <p:nvSpPr>
          <p:cNvPr id="9" name="Text 7"/>
          <p:cNvSpPr/>
          <p:nvPr/>
        </p:nvSpPr>
        <p:spPr>
          <a:xfrm>
            <a:off x="6464808" y="2569464"/>
            <a:ext cx="4764024" cy="1143000"/>
          </a:xfrm>
          <a:prstGeom prst="rect">
            <a:avLst/>
          </a:prstGeom>
          <a:noFill/>
          <a:ln/>
        </p:spPr>
        <p:txBody>
          <a:bodyPr wrap="square" lIns="0" tIns="0" rIns="0" bIns="0" rtlCol="0" anchor="t"/>
          <a:lstStyle/>
          <a:p>
            <a:pPr indent="0" marL="0">
              <a:lnSpc>
                <a:spcPts val="1900"/>
              </a:lnSpc>
              <a:buNone/>
            </a:pPr>
            <a:r>
              <a:rPr lang="en-US" sz="1300" dirty="0">
                <a:solidFill>
                  <a:srgbClr val="6B655C"/>
                </a:solidFill>
                <a:latin typeface="Calibri" pitchFamily="34" charset="0"/>
                <a:ea typeface="Calibri" pitchFamily="34" charset="-122"/>
                <a:cs typeface="Calibri" pitchFamily="34" charset="-120"/>
              </a:rPr>
              <a:t>Provision, Echtheitsgarantie mit Rückgriff, Versicherung während der Lagerung, und die Frage, wer bei Zahlungsausfall haftet. Bei Stückpreisen über CHF 2'000 einmal 60 Minuten Rechtsberatung, CHF 300 bis 500.</a:t>
            </a:r>
            <a:endParaRPr lang="en-US" sz="1300" dirty="0"/>
          </a:p>
        </p:txBody>
      </p:sp>
      <p:sp>
        <p:nvSpPr>
          <p:cNvPr id="10" name="Shape 8"/>
          <p:cNvSpPr/>
          <p:nvPr/>
        </p:nvSpPr>
        <p:spPr>
          <a:xfrm>
            <a:off x="640080" y="4114800"/>
            <a:ext cx="5349240" cy="2103120"/>
          </a:xfrm>
          <a:prstGeom prst="rect">
            <a:avLst/>
          </a:prstGeom>
          <a:solidFill>
            <a:srgbClr val="FFFFFF"/>
          </a:solidFill>
          <a:ln w="9525">
            <a:solidFill>
              <a:srgbClr val="E4DED3"/>
            </a:solidFill>
            <a:prstDash val="solid"/>
          </a:ln>
        </p:spPr>
      </p:sp>
      <p:sp>
        <p:nvSpPr>
          <p:cNvPr id="11" name="Text 9"/>
          <p:cNvSpPr/>
          <p:nvPr/>
        </p:nvSpPr>
        <p:spPr>
          <a:xfrm>
            <a:off x="932688" y="4352544"/>
            <a:ext cx="4764024" cy="411480"/>
          </a:xfrm>
          <a:prstGeom prst="rect">
            <a:avLst/>
          </a:prstGeom>
          <a:noFill/>
          <a:ln/>
        </p:spPr>
        <p:txBody>
          <a:bodyPr wrap="square" lIns="0" tIns="0" rIns="0" bIns="0" rtlCol="0" anchor="ctr"/>
          <a:lstStyle/>
          <a:p>
            <a:pPr indent="0" marL="0">
              <a:buNone/>
            </a:pPr>
            <a:r>
              <a:rPr lang="en-US" sz="2200" dirty="0">
                <a:solidFill>
                  <a:srgbClr val="1A1917"/>
                </a:solidFill>
                <a:latin typeface="Cambria" pitchFamily="34" charset="0"/>
                <a:ea typeface="Cambria" pitchFamily="34" charset="-122"/>
                <a:cs typeface="Cambria" pitchFamily="34" charset="-120"/>
              </a:rPr>
              <a:t>RAV</a:t>
            </a:r>
            <a:endParaRPr lang="en-US" sz="2200" dirty="0"/>
          </a:p>
        </p:txBody>
      </p:sp>
      <p:sp>
        <p:nvSpPr>
          <p:cNvPr id="12" name="Text 10"/>
          <p:cNvSpPr/>
          <p:nvPr/>
        </p:nvSpPr>
        <p:spPr>
          <a:xfrm>
            <a:off x="932688" y="4855464"/>
            <a:ext cx="4764024" cy="1143000"/>
          </a:xfrm>
          <a:prstGeom prst="rect">
            <a:avLst/>
          </a:prstGeom>
          <a:noFill/>
          <a:ln/>
        </p:spPr>
        <p:txBody>
          <a:bodyPr wrap="square" lIns="0" tIns="0" rIns="0" bIns="0" rtlCol="0" anchor="t"/>
          <a:lstStyle/>
          <a:p>
            <a:pPr indent="0" marL="0">
              <a:lnSpc>
                <a:spcPts val="1900"/>
              </a:lnSpc>
              <a:buNone/>
            </a:pPr>
            <a:r>
              <a:rPr lang="en-US" sz="1300" dirty="0">
                <a:solidFill>
                  <a:srgbClr val="6B655C"/>
                </a:solidFill>
                <a:latin typeface="Calibri" pitchFamily="34" charset="0"/>
                <a:ea typeface="Calibri" pitchFamily="34" charset="-122"/>
                <a:cs typeface="Calibri" pitchFamily="34" charset="-120"/>
              </a:rPr>
              <a:t>Jans selbständige Nebentätigkeit ist meldepflichtig. Das Gespräch gehört vor die Anmeldung und vor das erste Inserat — nicht danach.</a:t>
            </a:r>
            <a:endParaRPr lang="en-US" sz="1300" dirty="0"/>
          </a:p>
        </p:txBody>
      </p:sp>
      <p:sp>
        <p:nvSpPr>
          <p:cNvPr id="13" name="Shape 11"/>
          <p:cNvSpPr/>
          <p:nvPr/>
        </p:nvSpPr>
        <p:spPr>
          <a:xfrm>
            <a:off x="6172200" y="4114800"/>
            <a:ext cx="5349240" cy="2103120"/>
          </a:xfrm>
          <a:prstGeom prst="rect">
            <a:avLst/>
          </a:prstGeom>
          <a:solidFill>
            <a:srgbClr val="FFFFFF"/>
          </a:solidFill>
          <a:ln w="9525">
            <a:solidFill>
              <a:srgbClr val="E4DED3"/>
            </a:solidFill>
            <a:prstDash val="solid"/>
          </a:ln>
        </p:spPr>
      </p:sp>
      <p:sp>
        <p:nvSpPr>
          <p:cNvPr id="14" name="Text 12"/>
          <p:cNvSpPr/>
          <p:nvPr/>
        </p:nvSpPr>
        <p:spPr>
          <a:xfrm>
            <a:off x="6464808" y="4352544"/>
            <a:ext cx="4764024" cy="411480"/>
          </a:xfrm>
          <a:prstGeom prst="rect">
            <a:avLst/>
          </a:prstGeom>
          <a:noFill/>
          <a:ln/>
        </p:spPr>
        <p:txBody>
          <a:bodyPr wrap="square" lIns="0" tIns="0" rIns="0" bIns="0" rtlCol="0" anchor="ctr"/>
          <a:lstStyle/>
          <a:p>
            <a:pPr indent="0" marL="0">
              <a:buNone/>
            </a:pPr>
            <a:r>
              <a:rPr lang="en-US" sz="2200" dirty="0">
                <a:solidFill>
                  <a:srgbClr val="1A1917"/>
                </a:solidFill>
                <a:latin typeface="Cambria" pitchFamily="34" charset="0"/>
                <a:ea typeface="Cambria" pitchFamily="34" charset="-122"/>
                <a:cs typeface="Cambria" pitchFamily="34" charset="-120"/>
              </a:rPr>
              <a:t>Echtheit</a:t>
            </a:r>
            <a:endParaRPr lang="en-US" sz="2200" dirty="0"/>
          </a:p>
        </p:txBody>
      </p:sp>
      <p:sp>
        <p:nvSpPr>
          <p:cNvPr id="15" name="Text 13"/>
          <p:cNvSpPr/>
          <p:nvPr/>
        </p:nvSpPr>
        <p:spPr>
          <a:xfrm>
            <a:off x="6464808" y="4855464"/>
            <a:ext cx="4764024" cy="1143000"/>
          </a:xfrm>
          <a:prstGeom prst="rect">
            <a:avLst/>
          </a:prstGeom>
          <a:noFill/>
          <a:ln/>
        </p:spPr>
        <p:txBody>
          <a:bodyPr wrap="square" lIns="0" tIns="0" rIns="0" bIns="0" rtlCol="0" anchor="t"/>
          <a:lstStyle/>
          <a:p>
            <a:pPr indent="0" marL="0">
              <a:lnSpc>
                <a:spcPts val="1900"/>
              </a:lnSpc>
              <a:buNone/>
            </a:pPr>
            <a:r>
              <a:rPr lang="en-US" sz="1300" dirty="0">
                <a:solidFill>
                  <a:srgbClr val="6B655C"/>
                </a:solidFill>
                <a:latin typeface="Calibri" pitchFamily="34" charset="0"/>
                <a:ea typeface="Calibri" pitchFamily="34" charset="-122"/>
                <a:cs typeface="Calibri" pitchFamily="34" charset="-120"/>
              </a:rPr>
              <a:t>Im Designer-Segment ist die Authentifizierung das eigentliche Geschäft. Prüfprotokoll mit sieben Punkten je Artikel, klare Formulierung im Shop, und eine namentlich benannte Person, die freigibt.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640080" y="475488"/>
            <a:ext cx="10881360" cy="274320"/>
          </a:xfrm>
          <a:prstGeom prst="rect">
            <a:avLst/>
          </a:prstGeom>
          <a:noFill/>
          <a:ln/>
        </p:spPr>
        <p:txBody>
          <a:bodyPr wrap="square" lIns="0" tIns="0" rIns="0" bIns="0" rtlCol="0" anchor="ctr"/>
          <a:lstStyle/>
          <a:p>
            <a:pPr indent="0" marL="0">
              <a:buNone/>
            </a:pPr>
            <a:r>
              <a:rPr lang="en-US" sz="1100" spc="300" kern="0" dirty="0">
                <a:solidFill>
                  <a:srgbClr val="9A938A"/>
                </a:solidFill>
                <a:latin typeface="Calibri" pitchFamily="34" charset="0"/>
                <a:ea typeface="Calibri" pitchFamily="34" charset="-122"/>
                <a:cs typeface="Calibri" pitchFamily="34" charset="-120"/>
              </a:rPr>
              <a:t>DAS GRÖSSTE RISIKO</a:t>
            </a:r>
            <a:endParaRPr lang="en-US" sz="1100" dirty="0"/>
          </a:p>
        </p:txBody>
      </p:sp>
      <p:sp>
        <p:nvSpPr>
          <p:cNvPr id="3" name="Text 1"/>
          <p:cNvSpPr/>
          <p:nvPr/>
        </p:nvSpPr>
        <p:spPr>
          <a:xfrm>
            <a:off x="640080" y="777240"/>
            <a:ext cx="10881360" cy="868680"/>
          </a:xfrm>
          <a:prstGeom prst="rect">
            <a:avLst/>
          </a:prstGeom>
          <a:noFill/>
          <a:ln/>
        </p:spPr>
        <p:txBody>
          <a:bodyPr wrap="square" lIns="0" tIns="0" rIns="0" bIns="0" rtlCol="0" anchor="t"/>
          <a:lstStyle/>
          <a:p>
            <a:pPr indent="0" marL="0">
              <a:buNone/>
            </a:pPr>
            <a:r>
              <a:rPr lang="en-US" sz="3800" dirty="0">
                <a:solidFill>
                  <a:srgbClr val="1A1917"/>
                </a:solidFill>
                <a:latin typeface="Cambria" pitchFamily="34" charset="0"/>
                <a:ea typeface="Cambria" pitchFamily="34" charset="-122"/>
                <a:cs typeface="Cambria" pitchFamily="34" charset="-120"/>
              </a:rPr>
              <a:t>Bei den Uhren entscheidet eine Frage</a:t>
            </a:r>
            <a:endParaRPr lang="en-US" sz="3800" dirty="0"/>
          </a:p>
        </p:txBody>
      </p:sp>
      <p:sp>
        <p:nvSpPr>
          <p:cNvPr id="4" name="Text 2"/>
          <p:cNvSpPr/>
          <p:nvPr/>
        </p:nvSpPr>
        <p:spPr>
          <a:xfrm>
            <a:off x="640080" y="1664208"/>
            <a:ext cx="10058400" cy="640080"/>
          </a:xfrm>
          <a:prstGeom prst="rect">
            <a:avLst/>
          </a:prstGeom>
          <a:noFill/>
          <a:ln/>
        </p:spPr>
        <p:txBody>
          <a:bodyPr wrap="square" lIns="0" tIns="0" rIns="0" bIns="0" rtlCol="0" anchor="ctr"/>
          <a:lstStyle/>
          <a:p>
            <a:pPr indent="0" marL="0">
              <a:lnSpc>
                <a:spcPts val="2200"/>
              </a:lnSpc>
              <a:buNone/>
            </a:pPr>
            <a:r>
              <a:rPr lang="en-US" sz="1600" dirty="0">
                <a:solidFill>
                  <a:srgbClr val="6B655C"/>
                </a:solidFill>
                <a:latin typeface="Calibri" pitchFamily="34" charset="0"/>
                <a:ea typeface="Calibri" pitchFamily="34" charset="-122"/>
                <a:cs typeface="Calibri" pitchFamily="34" charset="-120"/>
              </a:rPr>
              <a:t>Wer stellt die Rechnung an den Kunden? Entscheidend ist der Auftritt nach aussen, nicht die Bezeichnung im Vertrag: eigener Checkout und eigene Rechnung machen uns zum Verkäufer, egal was auf dem Papier steht.</a:t>
            </a:r>
            <a:endParaRPr lang="en-US" sz="1600" dirty="0"/>
          </a:p>
        </p:txBody>
      </p:sp>
      <p:sp>
        <p:nvSpPr>
          <p:cNvPr id="5" name="Shape 3"/>
          <p:cNvSpPr/>
          <p:nvPr/>
        </p:nvSpPr>
        <p:spPr>
          <a:xfrm>
            <a:off x="640080" y="2743200"/>
            <a:ext cx="5349240" cy="2331720"/>
          </a:xfrm>
          <a:prstGeom prst="rect">
            <a:avLst/>
          </a:prstGeom>
          <a:solidFill>
            <a:srgbClr val="FFFFFF"/>
          </a:solidFill>
          <a:ln w="9525">
            <a:solidFill>
              <a:srgbClr val="E4DED3"/>
            </a:solidFill>
            <a:prstDash val="solid"/>
          </a:ln>
        </p:spPr>
      </p:sp>
      <p:sp>
        <p:nvSpPr>
          <p:cNvPr id="6" name="Text 4"/>
          <p:cNvSpPr/>
          <p:nvPr/>
        </p:nvSpPr>
        <p:spPr>
          <a:xfrm>
            <a:off x="932688" y="2980944"/>
            <a:ext cx="4764024" cy="219456"/>
          </a:xfrm>
          <a:prstGeom prst="rect">
            <a:avLst/>
          </a:prstGeom>
          <a:noFill/>
          <a:ln/>
        </p:spPr>
        <p:txBody>
          <a:bodyPr wrap="square" lIns="0" tIns="0" rIns="0" bIns="0" rtlCol="0" anchor="ctr"/>
          <a:lstStyle/>
          <a:p>
            <a:pPr indent="0" marL="0">
              <a:buNone/>
            </a:pPr>
            <a:r>
              <a:rPr lang="en-US" sz="1000" spc="200" kern="0" dirty="0">
                <a:solidFill>
                  <a:srgbClr val="3F6B4A"/>
                </a:solidFill>
                <a:latin typeface="Calibri" pitchFamily="34" charset="0"/>
                <a:ea typeface="Calibri" pitchFamily="34" charset="-122"/>
                <a:cs typeface="Calibri" pitchFamily="34" charset="-120"/>
              </a:rPr>
              <a:t>EMPFEHLUNG FÜR DEN START</a:t>
            </a:r>
            <a:endParaRPr lang="en-US" sz="1000" dirty="0"/>
          </a:p>
        </p:txBody>
      </p:sp>
      <p:sp>
        <p:nvSpPr>
          <p:cNvPr id="7" name="Text 5"/>
          <p:cNvSpPr/>
          <p:nvPr/>
        </p:nvSpPr>
        <p:spPr>
          <a:xfrm>
            <a:off x="932688" y="3255264"/>
            <a:ext cx="4764024" cy="457200"/>
          </a:xfrm>
          <a:prstGeom prst="rect">
            <a:avLst/>
          </a:prstGeom>
          <a:noFill/>
          <a:ln/>
        </p:spPr>
        <p:txBody>
          <a:bodyPr wrap="square" lIns="0" tIns="0" rIns="0" bIns="0" rtlCol="0" anchor="ctr"/>
          <a:lstStyle/>
          <a:p>
            <a:pPr indent="0" marL="0">
              <a:buNone/>
            </a:pPr>
            <a:r>
              <a:rPr lang="en-US" sz="2600" dirty="0">
                <a:solidFill>
                  <a:srgbClr val="3F6B4A"/>
                </a:solidFill>
                <a:latin typeface="Cambria" pitchFamily="34" charset="0"/>
                <a:ea typeface="Cambria" pitchFamily="34" charset="-122"/>
                <a:cs typeface="Cambria" pitchFamily="34" charset="-120"/>
              </a:rPr>
              <a:t>Vermittlung</a:t>
            </a:r>
            <a:endParaRPr lang="en-US" sz="2600" dirty="0"/>
          </a:p>
        </p:txBody>
      </p:sp>
      <p:sp>
        <p:nvSpPr>
          <p:cNvPr id="8" name="Text 6"/>
          <p:cNvSpPr/>
          <p:nvPr/>
        </p:nvSpPr>
        <p:spPr>
          <a:xfrm>
            <a:off x="932688" y="3803904"/>
            <a:ext cx="4764024" cy="1051560"/>
          </a:xfrm>
          <a:prstGeom prst="rect">
            <a:avLst/>
          </a:prstGeom>
          <a:noFill/>
          <a:ln/>
        </p:spPr>
        <p:txBody>
          <a:bodyPr wrap="square" lIns="0" tIns="0" rIns="0" bIns="0" rtlCol="0" anchor="t"/>
          <a:lstStyle/>
          <a:p>
            <a:pPr indent="0" marL="0">
              <a:lnSpc>
                <a:spcPts val="1900"/>
              </a:lnSpc>
              <a:buNone/>
            </a:pPr>
            <a:r>
              <a:rPr lang="en-US" sz="1350" dirty="0">
                <a:solidFill>
                  <a:srgbClr val="6B655C"/>
                </a:solidFill>
                <a:latin typeface="Calibri" pitchFamily="34" charset="0"/>
                <a:ea typeface="Calibri" pitchFamily="34" charset="-122"/>
                <a:cs typeface="Calibri" pitchFamily="34" charset="-120"/>
              </a:rPr>
              <a:t>Der Händler ist Verkäufer und haftet. Wir vermitteln und kassieren Provision. Kostet Konversion — der Kunde wechselt zu seinem Checkout — und spart die Haftung.</a:t>
            </a:r>
            <a:endParaRPr lang="en-US" sz="1350" dirty="0"/>
          </a:p>
        </p:txBody>
      </p:sp>
      <p:sp>
        <p:nvSpPr>
          <p:cNvPr id="9" name="Shape 7"/>
          <p:cNvSpPr/>
          <p:nvPr/>
        </p:nvSpPr>
        <p:spPr>
          <a:xfrm>
            <a:off x="6172200" y="2743200"/>
            <a:ext cx="5349240" cy="2331720"/>
          </a:xfrm>
          <a:prstGeom prst="rect">
            <a:avLst/>
          </a:prstGeom>
          <a:solidFill>
            <a:srgbClr val="FFFFFF"/>
          </a:solidFill>
          <a:ln w="9525">
            <a:solidFill>
              <a:srgbClr val="E4DED3"/>
            </a:solidFill>
            <a:prstDash val="solid"/>
          </a:ln>
        </p:spPr>
      </p:sp>
      <p:sp>
        <p:nvSpPr>
          <p:cNvPr id="10" name="Text 8"/>
          <p:cNvSpPr/>
          <p:nvPr/>
        </p:nvSpPr>
        <p:spPr>
          <a:xfrm>
            <a:off x="6464808" y="2980944"/>
            <a:ext cx="4764024" cy="219456"/>
          </a:xfrm>
          <a:prstGeom prst="rect">
            <a:avLst/>
          </a:prstGeom>
          <a:noFill/>
          <a:ln/>
        </p:spPr>
        <p:txBody>
          <a:bodyPr wrap="square" lIns="0" tIns="0" rIns="0" bIns="0" rtlCol="0" anchor="ctr"/>
          <a:lstStyle/>
          <a:p>
            <a:pPr indent="0" marL="0">
              <a:buNone/>
            </a:pPr>
            <a:r>
              <a:rPr lang="en-US" sz="1000" spc="200" kern="0" dirty="0">
                <a:solidFill>
                  <a:srgbClr val="A33D2E"/>
                </a:solidFill>
                <a:latin typeface="Calibri" pitchFamily="34" charset="0"/>
                <a:ea typeface="Calibri" pitchFamily="34" charset="-122"/>
                <a:cs typeface="Calibri" pitchFamily="34" charset="-120"/>
              </a:rPr>
              <a:t>SPÄTER, WENN DIE STRUKTUR TRÄGT</a:t>
            </a:r>
            <a:endParaRPr lang="en-US" sz="1000" dirty="0"/>
          </a:p>
        </p:txBody>
      </p:sp>
      <p:sp>
        <p:nvSpPr>
          <p:cNvPr id="11" name="Text 9"/>
          <p:cNvSpPr/>
          <p:nvPr/>
        </p:nvSpPr>
        <p:spPr>
          <a:xfrm>
            <a:off x="6464808" y="3255264"/>
            <a:ext cx="4764024" cy="457200"/>
          </a:xfrm>
          <a:prstGeom prst="rect">
            <a:avLst/>
          </a:prstGeom>
          <a:noFill/>
          <a:ln/>
        </p:spPr>
        <p:txBody>
          <a:bodyPr wrap="square" lIns="0" tIns="0" rIns="0" bIns="0" rtlCol="0" anchor="ctr"/>
          <a:lstStyle/>
          <a:p>
            <a:pPr indent="0" marL="0">
              <a:buNone/>
            </a:pPr>
            <a:r>
              <a:rPr lang="en-US" sz="2600" dirty="0">
                <a:solidFill>
                  <a:srgbClr val="1A1917"/>
                </a:solidFill>
                <a:latin typeface="Cambria" pitchFamily="34" charset="0"/>
                <a:ea typeface="Cambria" pitchFamily="34" charset="-122"/>
                <a:cs typeface="Cambria" pitchFamily="34" charset="-120"/>
              </a:rPr>
              <a:t>Kommission</a:t>
            </a:r>
            <a:endParaRPr lang="en-US" sz="2600" dirty="0"/>
          </a:p>
        </p:txBody>
      </p:sp>
      <p:sp>
        <p:nvSpPr>
          <p:cNvPr id="12" name="Text 10"/>
          <p:cNvSpPr/>
          <p:nvPr/>
        </p:nvSpPr>
        <p:spPr>
          <a:xfrm>
            <a:off x="6464808" y="3803904"/>
            <a:ext cx="4764024" cy="1051560"/>
          </a:xfrm>
          <a:prstGeom prst="rect">
            <a:avLst/>
          </a:prstGeom>
          <a:noFill/>
          <a:ln/>
        </p:spPr>
        <p:txBody>
          <a:bodyPr wrap="square" lIns="0" tIns="0" rIns="0" bIns="0" rtlCol="0" anchor="t"/>
          <a:lstStyle/>
          <a:p>
            <a:pPr indent="0" marL="0">
              <a:lnSpc>
                <a:spcPts val="1900"/>
              </a:lnSpc>
              <a:buNone/>
            </a:pPr>
            <a:r>
              <a:rPr lang="en-US" sz="1350" dirty="0">
                <a:solidFill>
                  <a:srgbClr val="6B655C"/>
                </a:solidFill>
                <a:latin typeface="Calibri" pitchFamily="34" charset="0"/>
                <a:ea typeface="Calibri" pitchFamily="34" charset="-122"/>
                <a:cs typeface="Calibri" pitchFamily="34" charset="-120"/>
              </a:rPr>
              <a:t>Wir verkaufen in eigenem Namen nach Art. 425 ff. OR und haften gegenüber dem Kunden für Echtheit und Mängel. Bessere Marge, volles Risiko.</a:t>
            </a:r>
            <a:endParaRPr lang="en-US" sz="1350" dirty="0"/>
          </a:p>
        </p:txBody>
      </p:sp>
      <p:sp>
        <p:nvSpPr>
          <p:cNvPr id="13" name="Shape 11"/>
          <p:cNvSpPr/>
          <p:nvPr/>
        </p:nvSpPr>
        <p:spPr>
          <a:xfrm>
            <a:off x="640080" y="5349240"/>
            <a:ext cx="10881360" cy="868680"/>
          </a:xfrm>
          <a:prstGeom prst="rect">
            <a:avLst/>
          </a:prstGeom>
          <a:solidFill>
            <a:srgbClr val="F7E5E0"/>
          </a:solidFill>
          <a:ln/>
        </p:spPr>
      </p:sp>
      <p:sp>
        <p:nvSpPr>
          <p:cNvPr id="14" name="Text 12"/>
          <p:cNvSpPr/>
          <p:nvPr/>
        </p:nvSpPr>
        <p:spPr>
          <a:xfrm>
            <a:off x="960120" y="5532120"/>
            <a:ext cx="10241280" cy="502920"/>
          </a:xfrm>
          <a:prstGeom prst="rect">
            <a:avLst/>
          </a:prstGeom>
          <a:noFill/>
          <a:ln/>
        </p:spPr>
        <p:txBody>
          <a:bodyPr wrap="square" lIns="0" tIns="0" rIns="0" bIns="0" rtlCol="0" anchor="ctr"/>
          <a:lstStyle/>
          <a:p>
            <a:pPr indent="0" marL="0">
              <a:buNone/>
            </a:pPr>
            <a:r>
              <a:rPr lang="en-US" sz="1450" dirty="0">
                <a:solidFill>
                  <a:srgbClr val="6B2418"/>
                </a:solidFill>
                <a:latin typeface="Calibri" pitchFamily="34" charset="0"/>
                <a:ea typeface="Calibri" pitchFamily="34" charset="-122"/>
                <a:cs typeface="Calibri" pitchFamily="34" charset="-120"/>
              </a:rPr>
              <a:t>Bei CHF 2'700 Eigenkapital und Haftung mit dem Privatvermögen kann ein einziger strittiger Uhrenverkauf mehr kosten, als das ganze Projekt je einbringt.</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640080" y="475488"/>
            <a:ext cx="10881360" cy="274320"/>
          </a:xfrm>
          <a:prstGeom prst="rect">
            <a:avLst/>
          </a:prstGeom>
          <a:noFill/>
          <a:ln/>
        </p:spPr>
        <p:txBody>
          <a:bodyPr wrap="square" lIns="0" tIns="0" rIns="0" bIns="0" rtlCol="0" anchor="ctr"/>
          <a:lstStyle/>
          <a:p>
            <a:pPr indent="0" marL="0">
              <a:buNone/>
            </a:pPr>
            <a:r>
              <a:rPr lang="en-US" sz="1100" spc="300" kern="0" dirty="0">
                <a:solidFill>
                  <a:srgbClr val="9A938A"/>
                </a:solidFill>
                <a:latin typeface="Calibri" pitchFamily="34" charset="0"/>
                <a:ea typeface="Calibri" pitchFamily="34" charset="-122"/>
                <a:cs typeface="Calibri" pitchFamily="34" charset="-120"/>
              </a:rPr>
              <a:t>DER AUSBLICK</a:t>
            </a:r>
            <a:endParaRPr lang="en-US" sz="1100" dirty="0"/>
          </a:p>
        </p:txBody>
      </p:sp>
      <p:sp>
        <p:nvSpPr>
          <p:cNvPr id="3" name="Text 1"/>
          <p:cNvSpPr/>
          <p:nvPr/>
        </p:nvSpPr>
        <p:spPr>
          <a:xfrm>
            <a:off x="640080" y="777240"/>
            <a:ext cx="10881360" cy="868680"/>
          </a:xfrm>
          <a:prstGeom prst="rect">
            <a:avLst/>
          </a:prstGeom>
          <a:noFill/>
          <a:ln/>
        </p:spPr>
        <p:txBody>
          <a:bodyPr wrap="square" lIns="0" tIns="0" rIns="0" bIns="0" rtlCol="0" anchor="t"/>
          <a:lstStyle/>
          <a:p>
            <a:pPr indent="0" marL="0">
              <a:buNone/>
            </a:pPr>
            <a:r>
              <a:rPr lang="en-US" sz="3800" dirty="0">
                <a:solidFill>
                  <a:srgbClr val="1A1917"/>
                </a:solidFill>
                <a:latin typeface="Cambria" pitchFamily="34" charset="0"/>
                <a:ea typeface="Cambria" pitchFamily="34" charset="-122"/>
                <a:cs typeface="Cambria" pitchFamily="34" charset="-120"/>
              </a:rPr>
              <a:t>Bänder: die Mindestmenge entscheidet</a:t>
            </a:r>
            <a:endParaRPr lang="en-US" sz="3800" dirty="0"/>
          </a:p>
        </p:txBody>
      </p:sp>
      <p:sp>
        <p:nvSpPr>
          <p:cNvPr id="4" name="Text 2"/>
          <p:cNvSpPr/>
          <p:nvPr/>
        </p:nvSpPr>
        <p:spPr>
          <a:xfrm>
            <a:off x="640080" y="1664208"/>
            <a:ext cx="10058400" cy="640080"/>
          </a:xfrm>
          <a:prstGeom prst="rect">
            <a:avLst/>
          </a:prstGeom>
          <a:noFill/>
          <a:ln/>
        </p:spPr>
        <p:txBody>
          <a:bodyPr wrap="square" lIns="0" tIns="0" rIns="0" bIns="0" rtlCol="0" anchor="ctr"/>
          <a:lstStyle/>
          <a:p>
            <a:pPr indent="0" marL="0">
              <a:lnSpc>
                <a:spcPts val="2200"/>
              </a:lnSpc>
              <a:buNone/>
            </a:pPr>
            <a:r>
              <a:rPr lang="en-US" sz="1600" dirty="0">
                <a:solidFill>
                  <a:srgbClr val="6B655C"/>
                </a:solidFill>
                <a:latin typeface="Calibri" pitchFamily="34" charset="0"/>
                <a:ea typeface="Calibri" pitchFamily="34" charset="-122"/>
                <a:cs typeface="Calibri" pitchFamily="34" charset="-120"/>
              </a:rPr>
              <a:t>Eigene Marke, extern produziert, vier Artikel zum Start. Klingt nach dem kleinsten Strang und ist finanziell der grösste.</a:t>
            </a:r>
            <a:endParaRPr lang="en-US" sz="1600" dirty="0"/>
          </a:p>
        </p:txBody>
      </p:sp>
      <p:sp>
        <p:nvSpPr>
          <p:cNvPr id="5" name="Shape 3"/>
          <p:cNvSpPr/>
          <p:nvPr/>
        </p:nvSpPr>
        <p:spPr>
          <a:xfrm>
            <a:off x="640080" y="2606040"/>
            <a:ext cx="3520440" cy="1828800"/>
          </a:xfrm>
          <a:prstGeom prst="rect">
            <a:avLst/>
          </a:prstGeom>
          <a:solidFill>
            <a:srgbClr val="FFFFFF"/>
          </a:solidFill>
          <a:ln w="9525">
            <a:solidFill>
              <a:srgbClr val="E4DED3"/>
            </a:solidFill>
            <a:prstDash val="solid"/>
          </a:ln>
        </p:spPr>
      </p:sp>
      <p:sp>
        <p:nvSpPr>
          <p:cNvPr id="6" name="Text 4"/>
          <p:cNvSpPr/>
          <p:nvPr/>
        </p:nvSpPr>
        <p:spPr>
          <a:xfrm>
            <a:off x="914400" y="2862072"/>
            <a:ext cx="2971800" cy="237744"/>
          </a:xfrm>
          <a:prstGeom prst="rect">
            <a:avLst/>
          </a:prstGeom>
          <a:noFill/>
          <a:ln/>
        </p:spPr>
        <p:txBody>
          <a:bodyPr wrap="square" lIns="0" tIns="0" rIns="0" bIns="0" rtlCol="0" anchor="ctr"/>
          <a:lstStyle/>
          <a:p>
            <a:pPr indent="0" marL="0">
              <a:buNone/>
            </a:pPr>
            <a:r>
              <a:rPr lang="en-US" sz="1000" spc="200" kern="0" dirty="0">
                <a:solidFill>
                  <a:srgbClr val="9A938A"/>
                </a:solidFill>
                <a:latin typeface="Calibri" pitchFamily="34" charset="0"/>
                <a:ea typeface="Calibri" pitchFamily="34" charset="-122"/>
                <a:cs typeface="Calibri" pitchFamily="34" charset="-120"/>
              </a:rPr>
              <a:t>BEI MOQ 100 UND 4 ARTIKELN</a:t>
            </a:r>
            <a:endParaRPr lang="en-US" sz="1000" dirty="0"/>
          </a:p>
        </p:txBody>
      </p:sp>
      <p:sp>
        <p:nvSpPr>
          <p:cNvPr id="7" name="Text 5"/>
          <p:cNvSpPr/>
          <p:nvPr/>
        </p:nvSpPr>
        <p:spPr>
          <a:xfrm>
            <a:off x="914400" y="3136392"/>
            <a:ext cx="2971800" cy="548640"/>
          </a:xfrm>
          <a:prstGeom prst="rect">
            <a:avLst/>
          </a:prstGeom>
          <a:noFill/>
          <a:ln/>
        </p:spPr>
        <p:txBody>
          <a:bodyPr wrap="square" lIns="0" tIns="0" rIns="0" bIns="0" rtlCol="0" anchor="ctr"/>
          <a:lstStyle/>
          <a:p>
            <a:pPr indent="0" marL="0">
              <a:buNone/>
            </a:pPr>
            <a:r>
              <a:rPr lang="en-US" sz="3400" dirty="0">
                <a:solidFill>
                  <a:srgbClr val="A33D2E"/>
                </a:solidFill>
                <a:latin typeface="Cambria" pitchFamily="34" charset="0"/>
                <a:ea typeface="Cambria" pitchFamily="34" charset="-122"/>
                <a:cs typeface="Cambria" pitchFamily="34" charset="-120"/>
              </a:rPr>
              <a:t>CHF 4'800</a:t>
            </a:r>
            <a:endParaRPr lang="en-US" sz="3400" dirty="0"/>
          </a:p>
        </p:txBody>
      </p:sp>
      <p:sp>
        <p:nvSpPr>
          <p:cNvPr id="8" name="Text 6"/>
          <p:cNvSpPr/>
          <p:nvPr/>
        </p:nvSpPr>
        <p:spPr>
          <a:xfrm>
            <a:off x="914400" y="3703320"/>
            <a:ext cx="2971800" cy="548640"/>
          </a:xfrm>
          <a:prstGeom prst="rect">
            <a:avLst/>
          </a:prstGeom>
          <a:noFill/>
          <a:ln/>
        </p:spPr>
        <p:txBody>
          <a:bodyPr wrap="square" lIns="0" tIns="0" rIns="0" bIns="0" rtlCol="0" anchor="t"/>
          <a:lstStyle/>
          <a:p>
            <a:pPr indent="0" marL="0">
              <a:lnSpc>
                <a:spcPts val="1500"/>
              </a:lnSpc>
              <a:buNone/>
            </a:pPr>
            <a:r>
              <a:rPr lang="en-US" sz="1200" dirty="0">
                <a:solidFill>
                  <a:srgbClr val="6B655C"/>
                </a:solidFill>
                <a:latin typeface="Calibri" pitchFamily="34" charset="0"/>
                <a:ea typeface="Calibri" pitchFamily="34" charset="-122"/>
                <a:cs typeface="Calibri" pitchFamily="34" charset="-120"/>
              </a:rPr>
              <a:t>400 Stück Lager zu EK CHF 12</a:t>
            </a:r>
            <a:endParaRPr lang="en-US" sz="1200" dirty="0"/>
          </a:p>
        </p:txBody>
      </p:sp>
      <p:sp>
        <p:nvSpPr>
          <p:cNvPr id="9" name="Shape 7"/>
          <p:cNvSpPr/>
          <p:nvPr/>
        </p:nvSpPr>
        <p:spPr>
          <a:xfrm>
            <a:off x="4315968" y="2606040"/>
            <a:ext cx="3520440" cy="1828800"/>
          </a:xfrm>
          <a:prstGeom prst="rect">
            <a:avLst/>
          </a:prstGeom>
          <a:solidFill>
            <a:srgbClr val="FFFFFF"/>
          </a:solidFill>
          <a:ln w="9525">
            <a:solidFill>
              <a:srgbClr val="E4DED3"/>
            </a:solidFill>
            <a:prstDash val="solid"/>
          </a:ln>
        </p:spPr>
      </p:sp>
      <p:sp>
        <p:nvSpPr>
          <p:cNvPr id="10" name="Text 8"/>
          <p:cNvSpPr/>
          <p:nvPr/>
        </p:nvSpPr>
        <p:spPr>
          <a:xfrm>
            <a:off x="4590288" y="2862072"/>
            <a:ext cx="2971800" cy="237744"/>
          </a:xfrm>
          <a:prstGeom prst="rect">
            <a:avLst/>
          </a:prstGeom>
          <a:noFill/>
          <a:ln/>
        </p:spPr>
        <p:txBody>
          <a:bodyPr wrap="square" lIns="0" tIns="0" rIns="0" bIns="0" rtlCol="0" anchor="ctr"/>
          <a:lstStyle/>
          <a:p>
            <a:pPr indent="0" marL="0">
              <a:buNone/>
            </a:pPr>
            <a:r>
              <a:rPr lang="en-US" sz="1000" spc="200" kern="0" dirty="0">
                <a:solidFill>
                  <a:srgbClr val="9A938A"/>
                </a:solidFill>
                <a:latin typeface="Calibri" pitchFamily="34" charset="0"/>
                <a:ea typeface="Calibri" pitchFamily="34" charset="-122"/>
                <a:cs typeface="Calibri" pitchFamily="34" charset="-120"/>
              </a:rPr>
              <a:t>ZUM VERGLEICH: KLEIDER-CHARGE</a:t>
            </a:r>
            <a:endParaRPr lang="en-US" sz="1000" dirty="0"/>
          </a:p>
        </p:txBody>
      </p:sp>
      <p:sp>
        <p:nvSpPr>
          <p:cNvPr id="11" name="Text 9"/>
          <p:cNvSpPr/>
          <p:nvPr/>
        </p:nvSpPr>
        <p:spPr>
          <a:xfrm>
            <a:off x="4590288" y="3136392"/>
            <a:ext cx="2971800" cy="548640"/>
          </a:xfrm>
          <a:prstGeom prst="rect">
            <a:avLst/>
          </a:prstGeom>
          <a:noFill/>
          <a:ln/>
        </p:spPr>
        <p:txBody>
          <a:bodyPr wrap="square" lIns="0" tIns="0" rIns="0" bIns="0" rtlCol="0" anchor="ctr"/>
          <a:lstStyle/>
          <a:p>
            <a:pPr indent="0" marL="0">
              <a:buNone/>
            </a:pPr>
            <a:r>
              <a:rPr lang="en-US" sz="3400" dirty="0">
                <a:solidFill>
                  <a:srgbClr val="1A1917"/>
                </a:solidFill>
                <a:latin typeface="Cambria" pitchFamily="34" charset="0"/>
                <a:ea typeface="Cambria" pitchFamily="34" charset="-122"/>
                <a:cs typeface="Cambria" pitchFamily="34" charset="-120"/>
              </a:rPr>
              <a:t>CHF 2'700</a:t>
            </a:r>
            <a:endParaRPr lang="en-US" sz="3400" dirty="0"/>
          </a:p>
        </p:txBody>
      </p:sp>
      <p:sp>
        <p:nvSpPr>
          <p:cNvPr id="12" name="Text 10"/>
          <p:cNvSpPr/>
          <p:nvPr/>
        </p:nvSpPr>
        <p:spPr>
          <a:xfrm>
            <a:off x="4590288" y="3703320"/>
            <a:ext cx="2971800" cy="548640"/>
          </a:xfrm>
          <a:prstGeom prst="rect">
            <a:avLst/>
          </a:prstGeom>
          <a:noFill/>
          <a:ln/>
        </p:spPr>
        <p:txBody>
          <a:bodyPr wrap="square" lIns="0" tIns="0" rIns="0" bIns="0" rtlCol="0" anchor="t"/>
          <a:lstStyle/>
          <a:p>
            <a:pPr indent="0" marL="0">
              <a:lnSpc>
                <a:spcPts val="1500"/>
              </a:lnSpc>
              <a:buNone/>
            </a:pPr>
            <a:r>
              <a:rPr lang="en-US" sz="1200" dirty="0">
                <a:solidFill>
                  <a:srgbClr val="6B655C"/>
                </a:solidFill>
                <a:latin typeface="Calibri" pitchFamily="34" charset="0"/>
                <a:ea typeface="Calibri" pitchFamily="34" charset="-122"/>
                <a:cs typeface="Calibri" pitchFamily="34" charset="-120"/>
              </a:rPr>
              <a:t>unser gesamtes Startkapital</a:t>
            </a:r>
            <a:endParaRPr lang="en-US" sz="1200" dirty="0"/>
          </a:p>
        </p:txBody>
      </p:sp>
      <p:sp>
        <p:nvSpPr>
          <p:cNvPr id="13" name="Shape 11"/>
          <p:cNvSpPr/>
          <p:nvPr/>
        </p:nvSpPr>
        <p:spPr>
          <a:xfrm>
            <a:off x="8001000" y="2606040"/>
            <a:ext cx="3520440" cy="1828800"/>
          </a:xfrm>
          <a:prstGeom prst="rect">
            <a:avLst/>
          </a:prstGeom>
          <a:solidFill>
            <a:srgbClr val="FFFFFF"/>
          </a:solidFill>
          <a:ln w="9525">
            <a:solidFill>
              <a:srgbClr val="E4DED3"/>
            </a:solidFill>
            <a:prstDash val="solid"/>
          </a:ln>
        </p:spPr>
      </p:sp>
      <p:sp>
        <p:nvSpPr>
          <p:cNvPr id="14" name="Text 12"/>
          <p:cNvSpPr/>
          <p:nvPr/>
        </p:nvSpPr>
        <p:spPr>
          <a:xfrm>
            <a:off x="8275320" y="2862072"/>
            <a:ext cx="2971800" cy="237744"/>
          </a:xfrm>
          <a:prstGeom prst="rect">
            <a:avLst/>
          </a:prstGeom>
          <a:noFill/>
          <a:ln/>
        </p:spPr>
        <p:txBody>
          <a:bodyPr wrap="square" lIns="0" tIns="0" rIns="0" bIns="0" rtlCol="0" anchor="ctr"/>
          <a:lstStyle/>
          <a:p>
            <a:pPr indent="0" marL="0">
              <a:buNone/>
            </a:pPr>
            <a:r>
              <a:rPr lang="en-US" sz="1000" spc="200" kern="0" dirty="0">
                <a:solidFill>
                  <a:srgbClr val="9A938A"/>
                </a:solidFill>
                <a:latin typeface="Calibri" pitchFamily="34" charset="0"/>
                <a:ea typeface="Calibri" pitchFamily="34" charset="-122"/>
                <a:cs typeface="Calibri" pitchFamily="34" charset="-120"/>
              </a:rPr>
              <a:t>VORLAUF BIS ZUR WARE</a:t>
            </a:r>
            <a:endParaRPr lang="en-US" sz="1000" dirty="0"/>
          </a:p>
        </p:txBody>
      </p:sp>
      <p:sp>
        <p:nvSpPr>
          <p:cNvPr id="15" name="Text 13"/>
          <p:cNvSpPr/>
          <p:nvPr/>
        </p:nvSpPr>
        <p:spPr>
          <a:xfrm>
            <a:off x="8275320" y="3136392"/>
            <a:ext cx="2971800" cy="548640"/>
          </a:xfrm>
          <a:prstGeom prst="rect">
            <a:avLst/>
          </a:prstGeom>
          <a:noFill/>
          <a:ln/>
        </p:spPr>
        <p:txBody>
          <a:bodyPr wrap="square" lIns="0" tIns="0" rIns="0" bIns="0" rtlCol="0" anchor="ctr"/>
          <a:lstStyle/>
          <a:p>
            <a:pPr indent="0" marL="0">
              <a:buNone/>
            </a:pPr>
            <a:r>
              <a:rPr lang="en-US" sz="3400" dirty="0">
                <a:solidFill>
                  <a:srgbClr val="1A1917"/>
                </a:solidFill>
                <a:latin typeface="Cambria" pitchFamily="34" charset="0"/>
                <a:ea typeface="Cambria" pitchFamily="34" charset="-122"/>
                <a:cs typeface="Cambria" pitchFamily="34" charset="-120"/>
              </a:rPr>
              <a:t>4 – 6 Monate</a:t>
            </a:r>
            <a:endParaRPr lang="en-US" sz="3400" dirty="0"/>
          </a:p>
        </p:txBody>
      </p:sp>
      <p:sp>
        <p:nvSpPr>
          <p:cNvPr id="16" name="Text 14"/>
          <p:cNvSpPr/>
          <p:nvPr/>
        </p:nvSpPr>
        <p:spPr>
          <a:xfrm>
            <a:off x="8275320" y="3703320"/>
            <a:ext cx="2971800" cy="548640"/>
          </a:xfrm>
          <a:prstGeom prst="rect">
            <a:avLst/>
          </a:prstGeom>
          <a:noFill/>
          <a:ln/>
        </p:spPr>
        <p:txBody>
          <a:bodyPr wrap="square" lIns="0" tIns="0" rIns="0" bIns="0" rtlCol="0" anchor="t"/>
          <a:lstStyle/>
          <a:p>
            <a:pPr indent="0" marL="0">
              <a:lnSpc>
                <a:spcPts val="1500"/>
              </a:lnSpc>
              <a:buNone/>
            </a:pPr>
            <a:r>
              <a:rPr lang="en-US" sz="1200" dirty="0">
                <a:solidFill>
                  <a:srgbClr val="6B655C"/>
                </a:solidFill>
                <a:latin typeface="Calibri" pitchFamily="34" charset="0"/>
                <a:ea typeface="Calibri" pitchFamily="34" charset="-122"/>
                <a:cs typeface="Calibri" pitchFamily="34" charset="-120"/>
              </a:rPr>
              <a:t>Recherche ab November, Ware im Frühjahr</a:t>
            </a:r>
            <a:endParaRPr lang="en-US" sz="1200" dirty="0"/>
          </a:p>
        </p:txBody>
      </p:sp>
      <p:sp>
        <p:nvSpPr>
          <p:cNvPr id="17" name="Shape 15"/>
          <p:cNvSpPr/>
          <p:nvPr/>
        </p:nvSpPr>
        <p:spPr>
          <a:xfrm>
            <a:off x="640080" y="4709160"/>
            <a:ext cx="5349240" cy="1600200"/>
          </a:xfrm>
          <a:prstGeom prst="rect">
            <a:avLst/>
          </a:prstGeom>
          <a:solidFill>
            <a:srgbClr val="FFFFFF"/>
          </a:solidFill>
          <a:ln w="9525">
            <a:solidFill>
              <a:srgbClr val="E4DED3"/>
            </a:solidFill>
            <a:prstDash val="solid"/>
          </a:ln>
        </p:spPr>
      </p:sp>
      <p:sp>
        <p:nvSpPr>
          <p:cNvPr id="18" name="Text 16"/>
          <p:cNvSpPr/>
          <p:nvPr/>
        </p:nvSpPr>
        <p:spPr>
          <a:xfrm>
            <a:off x="932688" y="4946904"/>
            <a:ext cx="4764024" cy="384048"/>
          </a:xfrm>
          <a:prstGeom prst="rect">
            <a:avLst/>
          </a:prstGeom>
          <a:noFill/>
          <a:ln/>
        </p:spPr>
        <p:txBody>
          <a:bodyPr wrap="square" lIns="0" tIns="0" rIns="0" bIns="0" rtlCol="0" anchor="ctr"/>
          <a:lstStyle/>
          <a:p>
            <a:pPr indent="0" marL="0">
              <a:buNone/>
            </a:pPr>
            <a:r>
              <a:rPr lang="en-US" sz="2100" dirty="0">
                <a:solidFill>
                  <a:srgbClr val="1A1917"/>
                </a:solidFill>
                <a:latin typeface="Cambria" pitchFamily="34" charset="0"/>
                <a:ea typeface="Cambria" pitchFamily="34" charset="-122"/>
                <a:cs typeface="Cambria" pitchFamily="34" charset="-120"/>
              </a:rPr>
              <a:t>Markenschutz beim IGE</a:t>
            </a:r>
            <a:endParaRPr lang="en-US" sz="2100" dirty="0"/>
          </a:p>
        </p:txBody>
      </p:sp>
      <p:sp>
        <p:nvSpPr>
          <p:cNvPr id="19" name="Text 17"/>
          <p:cNvSpPr/>
          <p:nvPr/>
        </p:nvSpPr>
        <p:spPr>
          <a:xfrm>
            <a:off x="932688" y="5422392"/>
            <a:ext cx="4764024" cy="667512"/>
          </a:xfrm>
          <a:prstGeom prst="rect">
            <a:avLst/>
          </a:prstGeom>
          <a:noFill/>
          <a:ln/>
        </p:spPr>
        <p:txBody>
          <a:bodyPr wrap="square" lIns="0" tIns="0" rIns="0" bIns="0" rtlCol="0" anchor="t"/>
          <a:lstStyle/>
          <a:p>
            <a:pPr indent="0" marL="0">
              <a:lnSpc>
                <a:spcPts val="1900"/>
              </a:lnSpc>
              <a:buNone/>
            </a:pPr>
            <a:r>
              <a:rPr lang="en-US" sz="1350" dirty="0">
                <a:solidFill>
                  <a:srgbClr val="6B655C"/>
                </a:solidFill>
                <a:latin typeface="Calibri" pitchFamily="34" charset="0"/>
                <a:ea typeface="Calibri" pitchFamily="34" charset="-122"/>
                <a:cs typeface="Calibri" pitchFamily="34" charset="-120"/>
              </a:rPr>
              <a:t>CHF 450 für 10 Jahre und drei Klassen, minus CHF 100 bei elektronischer Anmeldung — also CHF 350. Vorabrecherche kostenlos über swissreg.ch.</a:t>
            </a:r>
            <a:endParaRPr lang="en-US" sz="1350" dirty="0"/>
          </a:p>
        </p:txBody>
      </p:sp>
      <p:sp>
        <p:nvSpPr>
          <p:cNvPr id="20" name="Shape 18"/>
          <p:cNvSpPr/>
          <p:nvPr/>
        </p:nvSpPr>
        <p:spPr>
          <a:xfrm>
            <a:off x="6172200" y="4709160"/>
            <a:ext cx="5349240" cy="1600200"/>
          </a:xfrm>
          <a:prstGeom prst="rect">
            <a:avLst/>
          </a:prstGeom>
          <a:solidFill>
            <a:srgbClr val="FFFFFF"/>
          </a:solidFill>
          <a:ln w="9525">
            <a:solidFill>
              <a:srgbClr val="E4DED3"/>
            </a:solidFill>
            <a:prstDash val="solid"/>
          </a:ln>
        </p:spPr>
      </p:sp>
      <p:sp>
        <p:nvSpPr>
          <p:cNvPr id="21" name="Text 19"/>
          <p:cNvSpPr/>
          <p:nvPr/>
        </p:nvSpPr>
        <p:spPr>
          <a:xfrm>
            <a:off x="6464808" y="4946904"/>
            <a:ext cx="4764024" cy="384048"/>
          </a:xfrm>
          <a:prstGeom prst="rect">
            <a:avLst/>
          </a:prstGeom>
          <a:noFill/>
          <a:ln/>
        </p:spPr>
        <p:txBody>
          <a:bodyPr wrap="square" lIns="0" tIns="0" rIns="0" bIns="0" rtlCol="0" anchor="ctr"/>
          <a:lstStyle/>
          <a:p>
            <a:pPr indent="0" marL="0">
              <a:buNone/>
            </a:pPr>
            <a:r>
              <a:rPr lang="en-US" sz="2100" dirty="0">
                <a:solidFill>
                  <a:srgbClr val="1A1917"/>
                </a:solidFill>
                <a:latin typeface="Cambria" pitchFamily="34" charset="0"/>
                <a:ea typeface="Cambria" pitchFamily="34" charset="-122"/>
                <a:cs typeface="Cambria" pitchFamily="34" charset="-120"/>
              </a:rPr>
              <a:t>Die Regel</a:t>
            </a:r>
            <a:endParaRPr lang="en-US" sz="2100" dirty="0"/>
          </a:p>
        </p:txBody>
      </p:sp>
      <p:sp>
        <p:nvSpPr>
          <p:cNvPr id="22" name="Text 20"/>
          <p:cNvSpPr/>
          <p:nvPr/>
        </p:nvSpPr>
        <p:spPr>
          <a:xfrm>
            <a:off x="6464808" y="5422392"/>
            <a:ext cx="4764024" cy="667512"/>
          </a:xfrm>
          <a:prstGeom prst="rect">
            <a:avLst/>
          </a:prstGeom>
          <a:noFill/>
          <a:ln/>
        </p:spPr>
        <p:txBody>
          <a:bodyPr wrap="square" lIns="0" tIns="0" rIns="0" bIns="0" rtlCol="0" anchor="t"/>
          <a:lstStyle/>
          <a:p>
            <a:pPr indent="0" marL="0">
              <a:lnSpc>
                <a:spcPts val="1900"/>
              </a:lnSpc>
              <a:buNone/>
            </a:pPr>
            <a:r>
              <a:rPr lang="en-US" sz="1350" dirty="0">
                <a:solidFill>
                  <a:srgbClr val="6B655C"/>
                </a:solidFill>
                <a:latin typeface="Calibri" pitchFamily="34" charset="0"/>
                <a:ea typeface="Calibri" pitchFamily="34" charset="-122"/>
                <a:cs typeface="Calibri" pitchFamily="34" charset="-120"/>
              </a:rPr>
              <a:t>Bänder erst, wenn die Kleider-Charge Geld zurückgespült hat — oder mit einem Hersteller, dessen Mindestmenge bei 30 liegt.</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640080" y="475488"/>
            <a:ext cx="10881360" cy="274320"/>
          </a:xfrm>
          <a:prstGeom prst="rect">
            <a:avLst/>
          </a:prstGeom>
          <a:noFill/>
          <a:ln/>
        </p:spPr>
        <p:txBody>
          <a:bodyPr wrap="square" lIns="0" tIns="0" rIns="0" bIns="0" rtlCol="0" anchor="ctr"/>
          <a:lstStyle/>
          <a:p>
            <a:pPr indent="0" marL="0">
              <a:buNone/>
            </a:pPr>
            <a:r>
              <a:rPr lang="en-US" sz="1100" spc="300" kern="0" dirty="0">
                <a:solidFill>
                  <a:srgbClr val="9A938A"/>
                </a:solidFill>
                <a:latin typeface="Calibri" pitchFamily="34" charset="0"/>
                <a:ea typeface="Calibri" pitchFamily="34" charset="-122"/>
                <a:cs typeface="Calibri" pitchFamily="34" charset="-120"/>
              </a:rPr>
              <a:t>DAS WERKZEUG</a:t>
            </a:r>
            <a:endParaRPr lang="en-US" sz="1100" dirty="0"/>
          </a:p>
        </p:txBody>
      </p:sp>
      <p:sp>
        <p:nvSpPr>
          <p:cNvPr id="3" name="Text 1"/>
          <p:cNvSpPr/>
          <p:nvPr/>
        </p:nvSpPr>
        <p:spPr>
          <a:xfrm>
            <a:off x="640080" y="777240"/>
            <a:ext cx="10881360" cy="868680"/>
          </a:xfrm>
          <a:prstGeom prst="rect">
            <a:avLst/>
          </a:prstGeom>
          <a:noFill/>
          <a:ln/>
        </p:spPr>
        <p:txBody>
          <a:bodyPr wrap="square" lIns="0" tIns="0" rIns="0" bIns="0" rtlCol="0" anchor="t"/>
          <a:lstStyle/>
          <a:p>
            <a:pPr indent="0" marL="0">
              <a:buNone/>
            </a:pPr>
            <a:r>
              <a:rPr lang="en-US" sz="3800" dirty="0">
                <a:solidFill>
                  <a:srgbClr val="1A1917"/>
                </a:solidFill>
                <a:latin typeface="Cambria" pitchFamily="34" charset="0"/>
                <a:ea typeface="Cambria" pitchFamily="34" charset="-122"/>
                <a:cs typeface="Cambria" pitchFamily="34" charset="-120"/>
              </a:rPr>
              <a:t>Wir arbeiten alle im gleichen Stand</a:t>
            </a:r>
            <a:endParaRPr lang="en-US" sz="3800" dirty="0"/>
          </a:p>
        </p:txBody>
      </p:sp>
      <p:sp>
        <p:nvSpPr>
          <p:cNvPr id="4" name="Text 2"/>
          <p:cNvSpPr/>
          <p:nvPr/>
        </p:nvSpPr>
        <p:spPr>
          <a:xfrm>
            <a:off x="640080" y="1664208"/>
            <a:ext cx="10058400" cy="640080"/>
          </a:xfrm>
          <a:prstGeom prst="rect">
            <a:avLst/>
          </a:prstGeom>
          <a:noFill/>
          <a:ln/>
        </p:spPr>
        <p:txBody>
          <a:bodyPr wrap="square" lIns="0" tIns="0" rIns="0" bIns="0" rtlCol="0" anchor="ctr"/>
          <a:lstStyle/>
          <a:p>
            <a:pPr indent="0" marL="0">
              <a:lnSpc>
                <a:spcPts val="2200"/>
              </a:lnSpc>
              <a:buNone/>
            </a:pPr>
            <a:r>
              <a:rPr lang="en-US" sz="1600" dirty="0">
                <a:solidFill>
                  <a:srgbClr val="6B655C"/>
                </a:solidFill>
                <a:latin typeface="Calibri" pitchFamily="34" charset="0"/>
                <a:ea typeface="Calibri" pitchFamily="34" charset="-122"/>
                <a:cs typeface="Calibri" pitchFamily="34" charset="-120"/>
              </a:rPr>
              <a:t>Fahrplan, Aufgaben, Artikel-Log, Zahlen und der Kaufentscheid fürs Ladengeschäft. Läuft am Rechner und als App auf dem Homescreen, auch offline.</a:t>
            </a:r>
            <a:endParaRPr lang="en-US" sz="1600" dirty="0"/>
          </a:p>
        </p:txBody>
      </p:sp>
      <p:pic>
        <p:nvPicPr>
          <p:cNvPr id="5" name="Image 0" descr="/tmp/claude-0/-home-user-pizza-mission/b2022934-dc57-5fca-a773-e1f886ac905c/scratchpad/deck/app-cockpit-desktop.png">    </p:cNvPr>
          <p:cNvPicPr>
            <a:picLocks noChangeAspect="1"/>
          </p:cNvPicPr>
          <p:nvPr/>
        </p:nvPicPr>
        <p:blipFill>
          <a:blip r:embed="rId1"/>
          <a:stretch>
            <a:fillRect/>
          </a:stretch>
        </p:blipFill>
        <p:spPr>
          <a:xfrm>
            <a:off x="640080" y="2468880"/>
            <a:ext cx="5669280" cy="3813048"/>
          </a:xfrm>
          <a:prstGeom prst="rect">
            <a:avLst/>
          </a:prstGeom>
        </p:spPr>
      </p:pic>
      <p:pic>
        <p:nvPicPr>
          <p:cNvPr id="6" name="Image 1" descr="/tmp/claude-0/-home-user-pizza-mission/b2022934-dc57-5fca-a773-e1f886ac905c/scratchpad/deck/app-buy-mobile.png">    </p:cNvPr>
          <p:cNvPicPr>
            <a:picLocks noChangeAspect="1"/>
          </p:cNvPicPr>
          <p:nvPr/>
        </p:nvPicPr>
        <p:blipFill>
          <a:blip r:embed="rId2"/>
          <a:stretch>
            <a:fillRect/>
          </a:stretch>
        </p:blipFill>
        <p:spPr>
          <a:xfrm>
            <a:off x="6492240" y="2468880"/>
            <a:ext cx="1298448" cy="2596896"/>
          </a:xfrm>
          <a:prstGeom prst="rect">
            <a:avLst/>
          </a:prstGeom>
        </p:spPr>
      </p:pic>
      <p:sp>
        <p:nvSpPr>
          <p:cNvPr id="7" name="Text 3"/>
          <p:cNvSpPr/>
          <p:nvPr/>
        </p:nvSpPr>
        <p:spPr>
          <a:xfrm>
            <a:off x="8092440" y="2468880"/>
            <a:ext cx="3429000" cy="320040"/>
          </a:xfrm>
          <a:prstGeom prst="rect">
            <a:avLst/>
          </a:prstGeom>
          <a:noFill/>
          <a:ln/>
        </p:spPr>
        <p:txBody>
          <a:bodyPr wrap="square" lIns="0" tIns="0" rIns="0" bIns="0" rtlCol="0" anchor="ctr"/>
          <a:lstStyle/>
          <a:p>
            <a:pPr indent="0" marL="0">
              <a:buNone/>
            </a:pPr>
            <a:r>
              <a:rPr lang="en-US" sz="1500" b="1" dirty="0">
                <a:solidFill>
                  <a:srgbClr val="1A1917"/>
                </a:solidFill>
                <a:latin typeface="Calibri" pitchFamily="34" charset="0"/>
                <a:ea typeface="Calibri" pitchFamily="34" charset="-122"/>
                <a:cs typeface="Calibri" pitchFamily="34" charset="-120"/>
              </a:rPr>
              <a:t>Kaufentscheid</a:t>
            </a:r>
            <a:endParaRPr lang="en-US" sz="1500" dirty="0"/>
          </a:p>
        </p:txBody>
      </p:sp>
      <p:sp>
        <p:nvSpPr>
          <p:cNvPr id="8" name="Text 4"/>
          <p:cNvSpPr/>
          <p:nvPr/>
        </p:nvSpPr>
        <p:spPr>
          <a:xfrm>
            <a:off x="8092440" y="2807208"/>
            <a:ext cx="3429000" cy="1005840"/>
          </a:xfrm>
          <a:prstGeom prst="rect">
            <a:avLst/>
          </a:prstGeom>
          <a:noFill/>
          <a:ln/>
        </p:spPr>
        <p:txBody>
          <a:bodyPr wrap="square" lIns="0" tIns="0" rIns="0" bIns="0" rtlCol="0" anchor="ctr"/>
          <a:lstStyle/>
          <a:p>
            <a:pPr indent="0" marL="0">
              <a:lnSpc>
                <a:spcPts val="1700"/>
              </a:lnSpc>
              <a:buNone/>
            </a:pPr>
            <a:r>
              <a:rPr lang="en-US" sz="1250" dirty="0">
                <a:solidFill>
                  <a:srgbClr val="6B655C"/>
                </a:solidFill>
                <a:latin typeface="Calibri" pitchFamily="34" charset="0"/>
                <a:ea typeface="Calibri" pitchFamily="34" charset="-122"/>
                <a:cs typeface="Calibri" pitchFamily="34" charset="-120"/>
              </a:rPr>
              <a:t>Elf harte Kriterien plus Preisprüfung. Im Laden auszufüllen, bevor Geld fliesst — die Ampel sagt kaufen oder liegen lassen.</a:t>
            </a:r>
            <a:endParaRPr lang="en-US" sz="1250" dirty="0"/>
          </a:p>
        </p:txBody>
      </p:sp>
      <p:sp>
        <p:nvSpPr>
          <p:cNvPr id="9" name="Text 5"/>
          <p:cNvSpPr/>
          <p:nvPr/>
        </p:nvSpPr>
        <p:spPr>
          <a:xfrm>
            <a:off x="8092440" y="3886200"/>
            <a:ext cx="3429000" cy="320040"/>
          </a:xfrm>
          <a:prstGeom prst="rect">
            <a:avLst/>
          </a:prstGeom>
          <a:noFill/>
          <a:ln/>
        </p:spPr>
        <p:txBody>
          <a:bodyPr wrap="square" lIns="0" tIns="0" rIns="0" bIns="0" rtlCol="0" anchor="ctr"/>
          <a:lstStyle/>
          <a:p>
            <a:pPr indent="0" marL="0">
              <a:buNone/>
            </a:pPr>
            <a:r>
              <a:rPr lang="en-US" sz="1500" b="1" dirty="0">
                <a:solidFill>
                  <a:srgbClr val="1A1917"/>
                </a:solidFill>
                <a:latin typeface="Calibri" pitchFamily="34" charset="0"/>
                <a:ea typeface="Calibri" pitchFamily="34" charset="-122"/>
                <a:cs typeface="Calibri" pitchFamily="34" charset="-120"/>
              </a:rPr>
              <a:t>Artikel-Log</a:t>
            </a:r>
            <a:endParaRPr lang="en-US" sz="1500" dirty="0"/>
          </a:p>
        </p:txBody>
      </p:sp>
      <p:sp>
        <p:nvSpPr>
          <p:cNvPr id="10" name="Text 6"/>
          <p:cNvSpPr/>
          <p:nvPr/>
        </p:nvSpPr>
        <p:spPr>
          <a:xfrm>
            <a:off x="8092440" y="4224528"/>
            <a:ext cx="3429000" cy="1005840"/>
          </a:xfrm>
          <a:prstGeom prst="rect">
            <a:avLst/>
          </a:prstGeom>
          <a:noFill/>
          <a:ln/>
        </p:spPr>
        <p:txBody>
          <a:bodyPr wrap="square" lIns="0" tIns="0" rIns="0" bIns="0" rtlCol="0" anchor="ctr"/>
          <a:lstStyle/>
          <a:p>
            <a:pPr indent="0" marL="0">
              <a:lnSpc>
                <a:spcPts val="1700"/>
              </a:lnSpc>
              <a:buNone/>
            </a:pPr>
            <a:r>
              <a:rPr lang="en-US" sz="1250" dirty="0">
                <a:solidFill>
                  <a:srgbClr val="6B655C"/>
                </a:solidFill>
                <a:latin typeface="Calibri" pitchFamily="34" charset="0"/>
                <a:ea typeface="Calibri" pitchFamily="34" charset="-122"/>
                <a:cs typeface="Calibri" pitchFamily="34" charset="-120"/>
              </a:rPr>
              <a:t>Einkaufspreis, Bearbeitungsminuten, Einstelldatum, Verkauf. Daraus entsteht die einzige Zahl, die im Januar zählt.</a:t>
            </a:r>
            <a:endParaRPr lang="en-US" sz="1250" dirty="0"/>
          </a:p>
        </p:txBody>
      </p:sp>
      <p:sp>
        <p:nvSpPr>
          <p:cNvPr id="11" name="Text 7"/>
          <p:cNvSpPr/>
          <p:nvPr/>
        </p:nvSpPr>
        <p:spPr>
          <a:xfrm>
            <a:off x="8092440" y="5303520"/>
            <a:ext cx="3429000" cy="320040"/>
          </a:xfrm>
          <a:prstGeom prst="rect">
            <a:avLst/>
          </a:prstGeom>
          <a:noFill/>
          <a:ln/>
        </p:spPr>
        <p:txBody>
          <a:bodyPr wrap="square" lIns="0" tIns="0" rIns="0" bIns="0" rtlCol="0" anchor="ctr"/>
          <a:lstStyle/>
          <a:p>
            <a:pPr indent="0" marL="0">
              <a:buNone/>
            </a:pPr>
            <a:r>
              <a:rPr lang="en-US" sz="1500" b="1" dirty="0">
                <a:solidFill>
                  <a:srgbClr val="1A1917"/>
                </a:solidFill>
                <a:latin typeface="Calibri" pitchFamily="34" charset="0"/>
                <a:ea typeface="Calibri" pitchFamily="34" charset="-122"/>
                <a:cs typeface="Calibri" pitchFamily="34" charset="-120"/>
              </a:rPr>
              <a:t>Stundenkonto</a:t>
            </a:r>
            <a:endParaRPr lang="en-US" sz="1500" dirty="0"/>
          </a:p>
        </p:txBody>
      </p:sp>
      <p:sp>
        <p:nvSpPr>
          <p:cNvPr id="12" name="Text 8"/>
          <p:cNvSpPr/>
          <p:nvPr/>
        </p:nvSpPr>
        <p:spPr>
          <a:xfrm>
            <a:off x="8092440" y="5641848"/>
            <a:ext cx="3429000" cy="640080"/>
          </a:xfrm>
          <a:prstGeom prst="rect">
            <a:avLst/>
          </a:prstGeom>
          <a:noFill/>
          <a:ln/>
        </p:spPr>
        <p:txBody>
          <a:bodyPr wrap="square" lIns="0" tIns="0" rIns="0" bIns="0" rtlCol="0" anchor="ctr"/>
          <a:lstStyle/>
          <a:p>
            <a:pPr indent="0" marL="0">
              <a:lnSpc>
                <a:spcPts val="1700"/>
              </a:lnSpc>
              <a:buNone/>
            </a:pPr>
            <a:r>
              <a:rPr lang="en-US" sz="1250" dirty="0">
                <a:solidFill>
                  <a:srgbClr val="6B655C"/>
                </a:solidFill>
                <a:latin typeface="Calibri" pitchFamily="34" charset="0"/>
                <a:ea typeface="Calibri" pitchFamily="34" charset="-122"/>
                <a:cs typeface="Calibri" pitchFamily="34" charset="-120"/>
              </a:rPr>
              <a:t>Damit «gerecht verteilt» eine Zahl ist und kein Gefühl.</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917"/>
        </a:solidFill>
      </p:bgPr>
    </p:bg>
    <p:spTree>
      <p:nvGrpSpPr>
        <p:cNvPr id="1" name=""/>
        <p:cNvGrpSpPr/>
        <p:nvPr/>
      </p:nvGrpSpPr>
      <p:grpSpPr>
        <a:xfrm>
          <a:off x="0" y="0"/>
          <a:ext cx="0" cy="0"/>
          <a:chOff x="0" y="0"/>
          <a:chExt cx="0" cy="0"/>
        </a:xfrm>
      </p:grpSpPr>
      <p:sp>
        <p:nvSpPr>
          <p:cNvPr id="2" name="Text 0"/>
          <p:cNvSpPr/>
          <p:nvPr/>
        </p:nvSpPr>
        <p:spPr>
          <a:xfrm>
            <a:off x="640080" y="475488"/>
            <a:ext cx="10881360" cy="274320"/>
          </a:xfrm>
          <a:prstGeom prst="rect">
            <a:avLst/>
          </a:prstGeom>
          <a:noFill/>
          <a:ln/>
        </p:spPr>
        <p:txBody>
          <a:bodyPr wrap="square" lIns="0" tIns="0" rIns="0" bIns="0" rtlCol="0" anchor="ctr"/>
          <a:lstStyle/>
          <a:p>
            <a:pPr indent="0" marL="0">
              <a:buNone/>
            </a:pPr>
            <a:r>
              <a:rPr lang="en-US" sz="1100" spc="300" kern="0" dirty="0">
                <a:solidFill>
                  <a:srgbClr val="A9A196"/>
                </a:solidFill>
                <a:latin typeface="Calibri" pitchFamily="34" charset="0"/>
                <a:ea typeface="Calibri" pitchFamily="34" charset="-122"/>
                <a:cs typeface="Calibri" pitchFamily="34" charset="-120"/>
              </a:rPr>
              <a:t>DER ABSCHLUSS</a:t>
            </a:r>
            <a:endParaRPr lang="en-US" sz="1100" dirty="0"/>
          </a:p>
        </p:txBody>
      </p:sp>
      <p:sp>
        <p:nvSpPr>
          <p:cNvPr id="3" name="Text 1"/>
          <p:cNvSpPr/>
          <p:nvPr/>
        </p:nvSpPr>
        <p:spPr>
          <a:xfrm>
            <a:off x="640080" y="777240"/>
            <a:ext cx="10881360" cy="868680"/>
          </a:xfrm>
          <a:prstGeom prst="rect">
            <a:avLst/>
          </a:prstGeom>
          <a:noFill/>
          <a:ln/>
        </p:spPr>
        <p:txBody>
          <a:bodyPr wrap="square" lIns="0" tIns="0" rIns="0" bIns="0" rtlCol="0" anchor="t"/>
          <a:lstStyle/>
          <a:p>
            <a:pPr indent="0" marL="0">
              <a:buNone/>
            </a:pPr>
            <a:r>
              <a:rPr lang="en-US" sz="3800" dirty="0">
                <a:solidFill>
                  <a:srgbClr val="F0EBE2"/>
                </a:solidFill>
                <a:latin typeface="Cambria" pitchFamily="34" charset="0"/>
                <a:ea typeface="Cambria" pitchFamily="34" charset="-122"/>
                <a:cs typeface="Cambria" pitchFamily="34" charset="-120"/>
              </a:rPr>
              <a:t>Drei Zusagen, dann fangen wir an</a:t>
            </a:r>
            <a:endParaRPr lang="en-US" sz="3800" dirty="0"/>
          </a:p>
        </p:txBody>
      </p:sp>
      <p:sp>
        <p:nvSpPr>
          <p:cNvPr id="4" name="Shape 2"/>
          <p:cNvSpPr/>
          <p:nvPr/>
        </p:nvSpPr>
        <p:spPr>
          <a:xfrm>
            <a:off x="640080" y="2148840"/>
            <a:ext cx="10881360" cy="1115568"/>
          </a:xfrm>
          <a:prstGeom prst="rect">
            <a:avLst/>
          </a:prstGeom>
          <a:solidFill>
            <a:srgbClr val="241F1B"/>
          </a:solidFill>
          <a:ln w="9525">
            <a:solidFill>
              <a:srgbClr val="3A342C"/>
            </a:solidFill>
            <a:prstDash val="solid"/>
          </a:ln>
        </p:spPr>
      </p:sp>
      <p:sp>
        <p:nvSpPr>
          <p:cNvPr id="5" name="Text 3"/>
          <p:cNvSpPr/>
          <p:nvPr/>
        </p:nvSpPr>
        <p:spPr>
          <a:xfrm>
            <a:off x="960120" y="2350008"/>
            <a:ext cx="1188720" cy="256032"/>
          </a:xfrm>
          <a:prstGeom prst="rect">
            <a:avLst/>
          </a:prstGeom>
          <a:noFill/>
          <a:ln/>
        </p:spPr>
        <p:txBody>
          <a:bodyPr wrap="square" lIns="0" tIns="0" rIns="0" bIns="0" rtlCol="0" anchor="ctr"/>
          <a:lstStyle/>
          <a:p>
            <a:pPr indent="0" marL="0">
              <a:buNone/>
            </a:pPr>
            <a:r>
              <a:rPr lang="en-US" sz="1000" spc="200" kern="0" dirty="0">
                <a:solidFill>
                  <a:srgbClr val="C2AD8C"/>
                </a:solidFill>
                <a:latin typeface="Calibri" pitchFamily="34" charset="0"/>
                <a:ea typeface="Calibri" pitchFamily="34" charset="-122"/>
                <a:cs typeface="Calibri" pitchFamily="34" charset="-120"/>
              </a:rPr>
              <a:t>BEIDE</a:t>
            </a:r>
            <a:endParaRPr lang="en-US" sz="1000" dirty="0"/>
          </a:p>
        </p:txBody>
      </p:sp>
      <p:sp>
        <p:nvSpPr>
          <p:cNvPr id="6" name="Text 4"/>
          <p:cNvSpPr/>
          <p:nvPr/>
        </p:nvSpPr>
        <p:spPr>
          <a:xfrm>
            <a:off x="960120" y="2606040"/>
            <a:ext cx="6583680" cy="384048"/>
          </a:xfrm>
          <a:prstGeom prst="rect">
            <a:avLst/>
          </a:prstGeom>
          <a:noFill/>
          <a:ln/>
        </p:spPr>
        <p:txBody>
          <a:bodyPr wrap="square" lIns="0" tIns="0" rIns="0" bIns="0" rtlCol="0" anchor="ctr"/>
          <a:lstStyle/>
          <a:p>
            <a:pPr indent="0" marL="0">
              <a:buNone/>
            </a:pPr>
            <a:r>
              <a:rPr lang="en-US" sz="2000" dirty="0">
                <a:solidFill>
                  <a:srgbClr val="F0EBE2"/>
                </a:solidFill>
                <a:latin typeface="Cambria" pitchFamily="34" charset="0"/>
                <a:ea typeface="Cambria" pitchFamily="34" charset="-122"/>
                <a:cs typeface="Cambria" pitchFamily="34" charset="-120"/>
              </a:rPr>
              <a:t>Einlage von CHF 900</a:t>
            </a:r>
            <a:endParaRPr lang="en-US" sz="2000" dirty="0"/>
          </a:p>
        </p:txBody>
      </p:sp>
      <p:sp>
        <p:nvSpPr>
          <p:cNvPr id="7" name="Text 5"/>
          <p:cNvSpPr/>
          <p:nvPr/>
        </p:nvSpPr>
        <p:spPr>
          <a:xfrm>
            <a:off x="960120" y="2990088"/>
            <a:ext cx="7863840" cy="256032"/>
          </a:xfrm>
          <a:prstGeom prst="rect">
            <a:avLst/>
          </a:prstGeom>
          <a:noFill/>
          <a:ln/>
        </p:spPr>
        <p:txBody>
          <a:bodyPr wrap="square" lIns="0" tIns="0" rIns="0" bIns="0" rtlCol="0" anchor="ctr"/>
          <a:lstStyle/>
          <a:p>
            <a:pPr indent="0" marL="0">
              <a:buNone/>
            </a:pPr>
            <a:r>
              <a:rPr lang="en-US" sz="1200" dirty="0">
                <a:solidFill>
                  <a:srgbClr val="A9A196"/>
                </a:solidFill>
                <a:latin typeface="Calibri" pitchFamily="34" charset="0"/>
                <a:ea typeface="Calibri" pitchFamily="34" charset="-122"/>
                <a:cs typeface="Calibri" pitchFamily="34" charset="-120"/>
              </a:rPr>
              <a:t>Auf ein gemeinsames Konto, nicht auf ein Privatkonto. Jede Einzahlung mit Datum im Vertrag.</a:t>
            </a:r>
            <a:endParaRPr lang="en-US" sz="1200" dirty="0"/>
          </a:p>
        </p:txBody>
      </p:sp>
      <p:sp>
        <p:nvSpPr>
          <p:cNvPr id="8" name="Text 6"/>
          <p:cNvSpPr/>
          <p:nvPr/>
        </p:nvSpPr>
        <p:spPr>
          <a:xfrm>
            <a:off x="8595360" y="2587752"/>
            <a:ext cx="2606040" cy="365760"/>
          </a:xfrm>
          <a:prstGeom prst="rect">
            <a:avLst/>
          </a:prstGeom>
          <a:noFill/>
          <a:ln/>
        </p:spPr>
        <p:txBody>
          <a:bodyPr wrap="square" lIns="0" tIns="0" rIns="0" bIns="0" rtlCol="0" anchor="ctr"/>
          <a:lstStyle/>
          <a:p>
            <a:pPr algn="r" indent="0" marL="0">
              <a:buNone/>
            </a:pPr>
            <a:r>
              <a:rPr lang="en-US" sz="1400" b="1" dirty="0">
                <a:solidFill>
                  <a:srgbClr val="F0EBE2"/>
                </a:solidFill>
                <a:latin typeface="Calibri" pitchFamily="34" charset="0"/>
                <a:ea typeface="Calibri" pitchFamily="34" charset="-122"/>
                <a:cs typeface="Calibri" pitchFamily="34" charset="-120"/>
              </a:rPr>
              <a:t>bis Sonntag, 16. August</a:t>
            </a:r>
            <a:endParaRPr lang="en-US" sz="1400" dirty="0"/>
          </a:p>
        </p:txBody>
      </p:sp>
      <p:sp>
        <p:nvSpPr>
          <p:cNvPr id="9" name="Shape 7"/>
          <p:cNvSpPr/>
          <p:nvPr/>
        </p:nvSpPr>
        <p:spPr>
          <a:xfrm>
            <a:off x="640080" y="3447288"/>
            <a:ext cx="10881360" cy="1115568"/>
          </a:xfrm>
          <a:prstGeom prst="rect">
            <a:avLst/>
          </a:prstGeom>
          <a:solidFill>
            <a:srgbClr val="241F1B"/>
          </a:solidFill>
          <a:ln w="9525">
            <a:solidFill>
              <a:srgbClr val="3A342C"/>
            </a:solidFill>
            <a:prstDash val="solid"/>
          </a:ln>
        </p:spPr>
      </p:sp>
      <p:sp>
        <p:nvSpPr>
          <p:cNvPr id="10" name="Text 8"/>
          <p:cNvSpPr/>
          <p:nvPr/>
        </p:nvSpPr>
        <p:spPr>
          <a:xfrm>
            <a:off x="960120" y="3648456"/>
            <a:ext cx="1188720" cy="256032"/>
          </a:xfrm>
          <a:prstGeom prst="rect">
            <a:avLst/>
          </a:prstGeom>
          <a:noFill/>
          <a:ln/>
        </p:spPr>
        <p:txBody>
          <a:bodyPr wrap="square" lIns="0" tIns="0" rIns="0" bIns="0" rtlCol="0" anchor="ctr"/>
          <a:lstStyle/>
          <a:p>
            <a:pPr indent="0" marL="0">
              <a:buNone/>
            </a:pPr>
            <a:r>
              <a:rPr lang="en-US" sz="1000" spc="200" kern="0" dirty="0">
                <a:solidFill>
                  <a:srgbClr val="C2AD8C"/>
                </a:solidFill>
                <a:latin typeface="Calibri" pitchFamily="34" charset="0"/>
                <a:ea typeface="Calibri" pitchFamily="34" charset="-122"/>
                <a:cs typeface="Calibri" pitchFamily="34" charset="-120"/>
              </a:rPr>
              <a:t>BEIDE</a:t>
            </a:r>
            <a:endParaRPr lang="en-US" sz="1000" dirty="0"/>
          </a:p>
        </p:txBody>
      </p:sp>
      <p:sp>
        <p:nvSpPr>
          <p:cNvPr id="11" name="Text 9"/>
          <p:cNvSpPr/>
          <p:nvPr/>
        </p:nvSpPr>
        <p:spPr>
          <a:xfrm>
            <a:off x="960120" y="3904488"/>
            <a:ext cx="6583680" cy="384048"/>
          </a:xfrm>
          <a:prstGeom prst="rect">
            <a:avLst/>
          </a:prstGeom>
          <a:noFill/>
          <a:ln/>
        </p:spPr>
        <p:txBody>
          <a:bodyPr wrap="square" lIns="0" tIns="0" rIns="0" bIns="0" rtlCol="0" anchor="ctr"/>
          <a:lstStyle/>
          <a:p>
            <a:pPr indent="0" marL="0">
              <a:buNone/>
            </a:pPr>
            <a:r>
              <a:rPr lang="en-US" sz="2000" dirty="0">
                <a:solidFill>
                  <a:srgbClr val="F0EBE2"/>
                </a:solidFill>
                <a:latin typeface="Cambria" pitchFamily="34" charset="0"/>
                <a:ea typeface="Cambria" pitchFamily="34" charset="-122"/>
                <a:cs typeface="Cambria" pitchFamily="34" charset="-120"/>
              </a:rPr>
              <a:t>Gesellschaftsvertrag unterschreiben</a:t>
            </a:r>
            <a:endParaRPr lang="en-US" sz="2000" dirty="0"/>
          </a:p>
        </p:txBody>
      </p:sp>
      <p:sp>
        <p:nvSpPr>
          <p:cNvPr id="12" name="Text 10"/>
          <p:cNvSpPr/>
          <p:nvPr/>
        </p:nvSpPr>
        <p:spPr>
          <a:xfrm>
            <a:off x="960120" y="4288536"/>
            <a:ext cx="7863840" cy="256032"/>
          </a:xfrm>
          <a:prstGeom prst="rect">
            <a:avLst/>
          </a:prstGeom>
          <a:noFill/>
          <a:ln/>
        </p:spPr>
        <p:txBody>
          <a:bodyPr wrap="square" lIns="0" tIns="0" rIns="0" bIns="0" rtlCol="0" anchor="ctr"/>
          <a:lstStyle/>
          <a:p>
            <a:pPr indent="0" marL="0">
              <a:buNone/>
            </a:pPr>
            <a:r>
              <a:rPr lang="en-US" sz="1200" dirty="0">
                <a:solidFill>
                  <a:srgbClr val="A9A196"/>
                </a:solidFill>
                <a:latin typeface="Calibri" pitchFamily="34" charset="0"/>
                <a:ea typeface="Calibri" pitchFamily="34" charset="-122"/>
                <a:cs typeface="Calibri" pitchFamily="34" charset="-120"/>
              </a:rPr>
              <a:t>Entwurf kommt bis 21. August. Wir gehen ihn zu dritt Punkt für Punkt durch.</a:t>
            </a:r>
            <a:endParaRPr lang="en-US" sz="1200" dirty="0"/>
          </a:p>
        </p:txBody>
      </p:sp>
      <p:sp>
        <p:nvSpPr>
          <p:cNvPr id="13" name="Text 11"/>
          <p:cNvSpPr/>
          <p:nvPr/>
        </p:nvSpPr>
        <p:spPr>
          <a:xfrm>
            <a:off x="8595360" y="3886200"/>
            <a:ext cx="2606040" cy="365760"/>
          </a:xfrm>
          <a:prstGeom prst="rect">
            <a:avLst/>
          </a:prstGeom>
          <a:noFill/>
          <a:ln/>
        </p:spPr>
        <p:txBody>
          <a:bodyPr wrap="square" lIns="0" tIns="0" rIns="0" bIns="0" rtlCol="0" anchor="ctr"/>
          <a:lstStyle/>
          <a:p>
            <a:pPr algn="r" indent="0" marL="0">
              <a:buNone/>
            </a:pPr>
            <a:r>
              <a:rPr lang="en-US" sz="1400" b="1" dirty="0">
                <a:solidFill>
                  <a:srgbClr val="F0EBE2"/>
                </a:solidFill>
                <a:latin typeface="Calibri" pitchFamily="34" charset="0"/>
                <a:ea typeface="Calibri" pitchFamily="34" charset="-122"/>
                <a:cs typeface="Calibri" pitchFamily="34" charset="-120"/>
              </a:rPr>
              <a:t>bis Freitag, 28. August</a:t>
            </a:r>
            <a:endParaRPr lang="en-US" sz="1400" dirty="0"/>
          </a:p>
        </p:txBody>
      </p:sp>
      <p:sp>
        <p:nvSpPr>
          <p:cNvPr id="14" name="Shape 12"/>
          <p:cNvSpPr/>
          <p:nvPr/>
        </p:nvSpPr>
        <p:spPr>
          <a:xfrm>
            <a:off x="640080" y="4745736"/>
            <a:ext cx="10881360" cy="1115568"/>
          </a:xfrm>
          <a:prstGeom prst="rect">
            <a:avLst/>
          </a:prstGeom>
          <a:solidFill>
            <a:srgbClr val="241F1B"/>
          </a:solidFill>
          <a:ln w="9525">
            <a:solidFill>
              <a:srgbClr val="3A342C"/>
            </a:solidFill>
            <a:prstDash val="solid"/>
          </a:ln>
        </p:spPr>
      </p:sp>
      <p:sp>
        <p:nvSpPr>
          <p:cNvPr id="15" name="Text 13"/>
          <p:cNvSpPr/>
          <p:nvPr/>
        </p:nvSpPr>
        <p:spPr>
          <a:xfrm>
            <a:off x="960120" y="4946904"/>
            <a:ext cx="1188720" cy="256032"/>
          </a:xfrm>
          <a:prstGeom prst="rect">
            <a:avLst/>
          </a:prstGeom>
          <a:noFill/>
          <a:ln/>
        </p:spPr>
        <p:txBody>
          <a:bodyPr wrap="square" lIns="0" tIns="0" rIns="0" bIns="0" rtlCol="0" anchor="ctr"/>
          <a:lstStyle/>
          <a:p>
            <a:pPr indent="0" marL="0">
              <a:buNone/>
            </a:pPr>
            <a:r>
              <a:rPr lang="en-US" sz="1000" spc="200" kern="0" dirty="0">
                <a:solidFill>
                  <a:srgbClr val="C2AD8C"/>
                </a:solidFill>
                <a:latin typeface="Calibri" pitchFamily="34" charset="0"/>
                <a:ea typeface="Calibri" pitchFamily="34" charset="-122"/>
                <a:cs typeface="Calibri" pitchFamily="34" charset="-120"/>
              </a:rPr>
              <a:t>LUAN</a:t>
            </a:r>
            <a:endParaRPr lang="en-US" sz="1000" dirty="0"/>
          </a:p>
        </p:txBody>
      </p:sp>
      <p:sp>
        <p:nvSpPr>
          <p:cNvPr id="16" name="Text 14"/>
          <p:cNvSpPr/>
          <p:nvPr/>
        </p:nvSpPr>
        <p:spPr>
          <a:xfrm>
            <a:off x="960120" y="5202936"/>
            <a:ext cx="6583680" cy="384048"/>
          </a:xfrm>
          <a:prstGeom prst="rect">
            <a:avLst/>
          </a:prstGeom>
          <a:noFill/>
          <a:ln/>
        </p:spPr>
        <p:txBody>
          <a:bodyPr wrap="square" lIns="0" tIns="0" rIns="0" bIns="0" rtlCol="0" anchor="ctr"/>
          <a:lstStyle/>
          <a:p>
            <a:pPr indent="0" marL="0">
              <a:buNone/>
            </a:pPr>
            <a:r>
              <a:rPr lang="en-US" sz="2000" dirty="0">
                <a:solidFill>
                  <a:srgbClr val="F0EBE2"/>
                </a:solidFill>
                <a:latin typeface="Cambria" pitchFamily="34" charset="0"/>
                <a:ea typeface="Cambria" pitchFamily="34" charset="-122"/>
                <a:cs typeface="Cambria" pitchFamily="34" charset="-120"/>
              </a:rPr>
              <a:t>Gespräch mit dem Uhrenhändler</a:t>
            </a:r>
            <a:endParaRPr lang="en-US" sz="2000" dirty="0"/>
          </a:p>
        </p:txBody>
      </p:sp>
      <p:sp>
        <p:nvSpPr>
          <p:cNvPr id="17" name="Text 15"/>
          <p:cNvSpPr/>
          <p:nvPr/>
        </p:nvSpPr>
        <p:spPr>
          <a:xfrm>
            <a:off x="960120" y="5586984"/>
            <a:ext cx="7863840" cy="256032"/>
          </a:xfrm>
          <a:prstGeom prst="rect">
            <a:avLst/>
          </a:prstGeom>
          <a:noFill/>
          <a:ln/>
        </p:spPr>
        <p:txBody>
          <a:bodyPr wrap="square" lIns="0" tIns="0" rIns="0" bIns="0" rtlCol="0" anchor="ctr"/>
          <a:lstStyle/>
          <a:p>
            <a:pPr indent="0" marL="0">
              <a:buNone/>
            </a:pPr>
            <a:r>
              <a:rPr lang="en-US" sz="1200" dirty="0">
                <a:solidFill>
                  <a:srgbClr val="A9A196"/>
                </a:solidFill>
                <a:latin typeface="Calibri" pitchFamily="34" charset="0"/>
                <a:ea typeface="Calibri" pitchFamily="34" charset="-122"/>
                <a:cs typeface="Calibri" pitchFamily="34" charset="-120"/>
              </a:rPr>
              <a:t>Eine Frage mitnehmen: Wer stellt die Rechnung an den Kunden?</a:t>
            </a:r>
            <a:endParaRPr lang="en-US" sz="1200" dirty="0"/>
          </a:p>
        </p:txBody>
      </p:sp>
      <p:sp>
        <p:nvSpPr>
          <p:cNvPr id="18" name="Text 16"/>
          <p:cNvSpPr/>
          <p:nvPr/>
        </p:nvSpPr>
        <p:spPr>
          <a:xfrm>
            <a:off x="8595360" y="5184648"/>
            <a:ext cx="2606040" cy="365760"/>
          </a:xfrm>
          <a:prstGeom prst="rect">
            <a:avLst/>
          </a:prstGeom>
          <a:noFill/>
          <a:ln/>
        </p:spPr>
        <p:txBody>
          <a:bodyPr wrap="square" lIns="0" tIns="0" rIns="0" bIns="0" rtlCol="0" anchor="ctr"/>
          <a:lstStyle/>
          <a:p>
            <a:pPr algn="r" indent="0" marL="0">
              <a:buNone/>
            </a:pPr>
            <a:r>
              <a:rPr lang="en-US" sz="1400" b="1" dirty="0">
                <a:solidFill>
                  <a:srgbClr val="F0EBE2"/>
                </a:solidFill>
                <a:latin typeface="Calibri" pitchFamily="34" charset="0"/>
                <a:ea typeface="Calibri" pitchFamily="34" charset="-122"/>
                <a:cs typeface="Calibri" pitchFamily="34" charset="-120"/>
              </a:rPr>
              <a:t>bis Montag, 24. August</a:t>
            </a:r>
            <a:endParaRPr lang="en-US" sz="1400" dirty="0"/>
          </a:p>
        </p:txBody>
      </p:sp>
      <p:sp>
        <p:nvSpPr>
          <p:cNvPr id="19" name="Text 17"/>
          <p:cNvSpPr/>
          <p:nvPr/>
        </p:nvSpPr>
        <p:spPr>
          <a:xfrm>
            <a:off x="640080" y="6172200"/>
            <a:ext cx="10881360" cy="365760"/>
          </a:xfrm>
          <a:prstGeom prst="rect">
            <a:avLst/>
          </a:prstGeom>
          <a:noFill/>
          <a:ln/>
        </p:spPr>
        <p:txBody>
          <a:bodyPr wrap="square" lIns="0" tIns="0" rIns="0" bIns="0" rtlCol="0" anchor="ctr"/>
          <a:lstStyle/>
          <a:p>
            <a:pPr indent="0" marL="0">
              <a:buNone/>
            </a:pPr>
            <a:r>
              <a:rPr lang="en-US" sz="1350" i="1" dirty="0">
                <a:solidFill>
                  <a:srgbClr val="A9A196"/>
                </a:solidFill>
                <a:latin typeface="Calibri" pitchFamily="34" charset="0"/>
                <a:ea typeface="Calibri" pitchFamily="34" charset="-122"/>
                <a:cs typeface="Calibri" pitchFamily="34" charset="-120"/>
              </a:rPr>
              <a:t>Und für mich: das RAV-Gespräch. Das steht ganz oben, weil davon abhängt, wie viel Zeit ich überhaupt einbringen kann.</a:t>
            </a:r>
            <a:endParaRPr lang="en-US" sz="1350" dirty="0"/>
          </a:p>
        </p:txBody>
      </p:sp>
      <p:sp>
        <p:nvSpPr>
          <p:cNvPr id="20" name="Shape 18"/>
          <p:cNvSpPr/>
          <p:nvPr/>
        </p:nvSpPr>
        <p:spPr>
          <a:xfrm>
            <a:off x="10972800" y="758952"/>
            <a:ext cx="384048" cy="364846"/>
          </a:xfrm>
          <a:prstGeom prst="rect">
            <a:avLst/>
          </a:prstGeom>
          <a:solidFill>
            <a:srgbClr val="C2AD8C"/>
          </a:solidFill>
          <a:ln/>
        </p:spPr>
      </p:sp>
      <p:sp>
        <p:nvSpPr>
          <p:cNvPr id="21" name="Shape 19"/>
          <p:cNvSpPr/>
          <p:nvPr/>
        </p:nvSpPr>
        <p:spPr>
          <a:xfrm>
            <a:off x="10972800" y="566928"/>
            <a:ext cx="384048" cy="384048"/>
          </a:xfrm>
          <a:prstGeom prst="ellipse">
            <a:avLst/>
          </a:prstGeom>
          <a:solidFill>
            <a:srgbClr val="C2AD8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Vintage Mission</dc:title>
  <dc:subject>PptxGenJS Presentation</dc:subject>
  <dc:creator>Jan Wälchli</dc:creator>
  <cp:lastModifiedBy>Jan Wälchli</cp:lastModifiedBy>
  <cp:revision>1</cp:revision>
  <dcterms:created xsi:type="dcterms:W3CDTF">2026-08-10T11:27:40Z</dcterms:created>
  <dcterms:modified xsi:type="dcterms:W3CDTF">2026-08-10T11:27:40Z</dcterms:modified>
</cp:coreProperties>
</file>